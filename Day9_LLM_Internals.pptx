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1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280160"/>
            <a:ext cx="4663440" cy="4663440"/>
          </a:xfrm>
          <a:prstGeom prst="ellipse">
            <a:avLst/>
          </a:prstGeom>
          <a:solidFill>
            <a:srgbClr val="A21CAF">
              <a:alpha val="22000"/>
            </a:srgbClr>
          </a:solidFill>
          <a:ln w="12700">
            <a:solidFill>
              <a:srgbClr val="A21CA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383280" cy="3383280"/>
          </a:xfrm>
          <a:prstGeom prst="ellipse">
            <a:avLst/>
          </a:prstGeom>
          <a:solidFill>
            <a:srgbClr val="4338CA">
              <a:alpha val="18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77240"/>
            <a:ext cx="73152" cy="3611880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77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9D5FF"/>
                </a:solidFill>
              </a:rPr>
              <a:t>EXL · AI &amp; DATA ENGINEERING · WEEK 3 BEGINS — GENERATIVE AI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0698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Day 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LLM Internals &amp; Embeddings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Tokens · Temperature · Context Window · Embedding Geometry · Cosine Similarity · OpenAI API · Lab 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962656"/>
            <a:ext cx="8046720" cy="512064"/>
          </a:xfrm>
          <a:prstGeom prst="roundRect">
            <a:avLst>
              <a:gd name="adj" fmla="val 8929"/>
            </a:avLst>
          </a:prstGeom>
          <a:solidFill>
            <a:srgbClr val="1A0E2E"/>
          </a:solidFill>
          <a:ln w="8890">
            <a:solidFill>
              <a:srgbClr val="A21C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00837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ON: Day 1 Python + API calls  •  Day 4 FastAPI  •  Day 8 TF-IDF embeddings → today neural embeddings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3858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D5FF"/>
                </a:solidFill>
              </a:rPr>
              <a:t>6–7 hrs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" y="4187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Full Day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13432" y="3858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D5FF"/>
                </a:solidFill>
              </a:rPr>
              <a:t>70%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313432" y="4187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Theory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13632" y="3858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D5FF"/>
                </a:solidFill>
              </a:rPr>
              <a:t>30%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913632" y="4187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Practice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13832" y="3858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D5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13832" y="4187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Core Concepts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14032" y="3858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D5FF"/>
                </a:solidFill>
              </a:rPr>
              <a:t>1 Lab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14032" y="4187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Embeddings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AGENDA — WEEK 3 BEGINS  |  70% THEORY · 30% PRACTICE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23444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2296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9:00–9:25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581912" y="749808"/>
            <a:ext cx="960120" cy="310896"/>
          </a:xfrm>
          <a:prstGeom prst="rect">
            <a:avLst/>
          </a:prstGeom>
          <a:solidFill>
            <a:srgbClr val="7C3AED">
              <a:alpha val="8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81912" y="8229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BRIDGE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651760" y="749808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795528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recap: TF-IDF engineered embeddings → neural embeddings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256032" y="1129284"/>
            <a:ext cx="123444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2024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9:25–10:15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581912" y="1129284"/>
            <a:ext cx="960120" cy="310896"/>
          </a:xfrm>
          <a:prstGeom prst="rect">
            <a:avLst/>
          </a:prstGeom>
          <a:solidFill>
            <a:srgbClr val="0D1B3E">
              <a:alpha val="82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81912" y="120243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THEORY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651760" y="1129284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1175004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LLM? Next-token prediction + transformer overview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256032" y="1508760"/>
            <a:ext cx="1234440" cy="31089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5819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10:15–11:00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581912" y="1508760"/>
            <a:ext cx="960120" cy="310896"/>
          </a:xfrm>
          <a:prstGeom prst="rect">
            <a:avLst/>
          </a:prstGeom>
          <a:solidFill>
            <a:srgbClr val="5B21B6">
              <a:alpha val="82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81912" y="158191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THEORY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651760" y="1508760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1554480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deep dive: BPE, tokens vs words, vocabulary size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256032" y="1888236"/>
            <a:ext cx="1234440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196138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11:00–11:15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581912" y="1888236"/>
            <a:ext cx="960120" cy="310896"/>
          </a:xfrm>
          <a:prstGeom prst="rect">
            <a:avLst/>
          </a:prstGeom>
          <a:solidFill>
            <a:srgbClr val="64748B">
              <a:alpha val="8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81912" y="196138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BREAK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651760" y="1888236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E2E8F0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1933956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Short break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256032" y="2267712"/>
            <a:ext cx="1234440" cy="310896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3408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11:15–12:00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581912" y="2267712"/>
            <a:ext cx="960120" cy="310896"/>
          </a:xfrm>
          <a:prstGeom prst="rect">
            <a:avLst/>
          </a:prstGeom>
          <a:solidFill>
            <a:srgbClr val="A21CAF">
              <a:alpha val="82000"/>
            </a:srgbClr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81912" y="234086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THEORY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651760" y="2267712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2313432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top-p, top-k with probability distributions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256032" y="2647188"/>
            <a:ext cx="1234440" cy="31089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7203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12:00–12:45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581912" y="2647188"/>
            <a:ext cx="960120" cy="310896"/>
          </a:xfrm>
          <a:prstGeom prst="rect">
            <a:avLst/>
          </a:prstGeom>
          <a:solidFill>
            <a:srgbClr val="4338CA">
              <a:alpha val="82000"/>
            </a:srgbClr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81912" y="272034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THEORY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651760" y="2647188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2692908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window, attention intuition, cost implications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256032" y="3026664"/>
            <a:ext cx="1234440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30998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12:45–1:30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581912" y="3026664"/>
            <a:ext cx="960120" cy="310896"/>
          </a:xfrm>
          <a:prstGeom prst="rect">
            <a:avLst/>
          </a:prstGeom>
          <a:solidFill>
            <a:srgbClr val="64748B">
              <a:alpha val="8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81912" y="309981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LUNCH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651760" y="3026664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E2E8F0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24912" y="3072384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🍱 Lunch break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256032" y="3406140"/>
            <a:ext cx="123444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347929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1:30–2:15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581912" y="3406140"/>
            <a:ext cx="960120" cy="310896"/>
          </a:xfrm>
          <a:prstGeom prst="rect">
            <a:avLst/>
          </a:prstGeom>
          <a:solidFill>
            <a:srgbClr val="0891B2">
              <a:alpha val="8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81912" y="347929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THEORY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651760" y="3406140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24912" y="3451860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geometry, dimensionality, cosine similarity math</a:t>
            </a:r>
            <a:endParaRPr lang="en-US" sz="910" dirty="0"/>
          </a:p>
        </p:txBody>
      </p:sp>
      <p:sp>
        <p:nvSpPr>
          <p:cNvPr id="52" name="Shape 50"/>
          <p:cNvSpPr/>
          <p:nvPr/>
        </p:nvSpPr>
        <p:spPr>
          <a:xfrm>
            <a:off x="256032" y="3785616"/>
            <a:ext cx="123444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385876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2:15–2:45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581912" y="3785616"/>
            <a:ext cx="960120" cy="310896"/>
          </a:xfrm>
          <a:prstGeom prst="rect">
            <a:avLst/>
          </a:prstGeom>
          <a:solidFill>
            <a:srgbClr val="0D1B3E">
              <a:alpha val="82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81912" y="385876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THEORY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651760" y="3785616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24912" y="3831336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OpenAI/Vertex AI architecture, limits, cost, retries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256032" y="4165092"/>
            <a:ext cx="12344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42382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2:45–3:45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581912" y="4165092"/>
            <a:ext cx="960120" cy="310896"/>
          </a:xfrm>
          <a:prstGeom prst="rect">
            <a:avLst/>
          </a:prstGeom>
          <a:solidFill>
            <a:srgbClr val="059669">
              <a:alpha val="8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81912" y="423824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LAB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651760" y="4165092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24912" y="4210812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Lab 9: API call, token count, temperature, embeddings heatmap</a:t>
            </a:r>
            <a:endParaRPr lang="en-US" sz="910" dirty="0"/>
          </a:p>
        </p:txBody>
      </p:sp>
      <p:sp>
        <p:nvSpPr>
          <p:cNvPr id="64" name="Shape 62"/>
          <p:cNvSpPr/>
          <p:nvPr/>
        </p:nvSpPr>
        <p:spPr>
          <a:xfrm>
            <a:off x="256032" y="4544568"/>
            <a:ext cx="123444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" y="461772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3:45–4:00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581912" y="4544568"/>
            <a:ext cx="960120" cy="310896"/>
          </a:xfrm>
          <a:prstGeom prst="rect">
            <a:avLst/>
          </a:prstGeom>
          <a:solidFill>
            <a:srgbClr val="D97706">
              <a:alpha val="8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81912" y="461772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RECAP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651760" y="4544568"/>
            <a:ext cx="6172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24912" y="4590288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GitHub commit · Day 10 preview: Prompt Engineering</a:t>
            </a:r>
            <a:endParaRPr lang="en-US" sz="9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 TODAY — 8 LEARNING GOALS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4:00 PM every participant has called a real LLM API and understands what happens inside it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050792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38912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789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10698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D1B3E"/>
                </a:solidFill>
              </a:rPr>
              <a:t>Next-token prediction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86968" y="13350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Autocomplete on steroids · autoregressive loop · real example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050792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87552"/>
            <a:ext cx="438912" cy="8046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789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0368" y="10698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B21B6"/>
                </a:solidFill>
              </a:rPr>
              <a:t>Tokenisation deeply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230368" y="13350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BPE intuition · token-to-word ratio · cost implications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929384"/>
            <a:ext cx="4050792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29384"/>
            <a:ext cx="438912" cy="804672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0208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" y="2011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A21CAF"/>
                </a:solidFill>
              </a:rPr>
              <a:t>Sampling params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86968" y="22768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Temperature · top-p · top-k · clinical vs creative tasks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929384"/>
            <a:ext cx="4050792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929384"/>
            <a:ext cx="438912" cy="8046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0208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0368" y="20116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338CA"/>
                </a:solidFill>
              </a:rPr>
              <a:t>Context window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5230368" y="22768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Why models forget · attention intuition · cost scales with context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871216"/>
            <a:ext cx="4050792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71216"/>
            <a:ext cx="43891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9626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295351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891B2"/>
                </a:solidFill>
              </a:rPr>
              <a:t>Embeddings as geometry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86968" y="32186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Vector as a point · semantic similarity = distance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871216"/>
            <a:ext cx="4050792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871216"/>
            <a:ext cx="438912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9626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0368" y="295351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A56DB"/>
                </a:solidFill>
              </a:rPr>
              <a:t>Cosine similarity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5230368" y="32186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Dot product formula · interpret similarity scores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813048"/>
            <a:ext cx="4050792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813048"/>
            <a:ext cx="43891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9044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6968" y="389534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C3AED"/>
                </a:solidFill>
              </a:rPr>
              <a:t>OpenAI/Vertex API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886968" y="41605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Auth, limits, retries, production error handling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813048"/>
            <a:ext cx="4050792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813048"/>
            <a:ext cx="438912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9044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30368" y="389534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59669"/>
                </a:solidFill>
              </a:rPr>
              <a:t>Complete Lab 9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5230368" y="41605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Call API, count tokens, plot similarity heatmap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73659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day is the conceptual foundation for RAG, agents, and all GenAI systems in Weeks 3–4.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LLM, REALLY?  — THEORY  (25 MIN)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658368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995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THEORY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huge function that predicts the next token probability distribution.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502920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8890">
            <a:solidFill>
              <a:srgbClr val="5B21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05840"/>
            <a:ext cx="8357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JOB OF AN LLM: Given tokens, predict probabilities for the next token. Chat, code, reasoning and summaries emerge by repeating that one task again and again.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Smartphone keyboard analogy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4069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965960"/>
            <a:ext cx="3922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suggests the next word. An LLM does the same, but with a huge context window, billions/trillions of learned weights, and training over massive text/code data. It predicts one token, appends it, and repeats: autoregressive generation.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461772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Transformer pieces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920240"/>
            <a:ext cx="4160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965960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layer: token IDs → dense vectors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17720" y="2304288"/>
            <a:ext cx="4160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2350008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each token attends to other tokens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617720" y="2688336"/>
            <a:ext cx="4160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2734056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layers: learned transformations over meaning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617720" y="3072384"/>
            <a:ext cx="4160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3118104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layer: vocabulary-sized probability vector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02920" y="3913632"/>
            <a:ext cx="8138160" cy="320040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context → tokenizer → embeddings → attention blocks → probability distribution → sampled token → append → repeat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73659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MENTAL MODEL: LLM “reasoning” is statistical pattern continuation learned from examples of humans reasoning in text.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— DEEP DIVE  (THEORY  25 MIN)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658368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995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THEORY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see words or letters — they see tokens.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5B21B6"/>
          </a:solidFill>
          <a:ln w="8890">
            <a:solidFill>
              <a:srgbClr val="5B21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0584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9601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005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has type 2 diabetes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5B21B6"/>
          </a:solidFill>
          <a:ln w="889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00584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9601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005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| has | type | 2 | diab | etes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5B21B6"/>
          </a:solidFill>
          <a:ln w="889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005840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9601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1005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34012 | 706 | 955 | 220 | 65578 | 4212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20040" y="1572768"/>
            <a:ext cx="416052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618488"/>
            <a:ext cx="4014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tokens? Character-level is too granular. Word-level creates huge vocabulary and fails on new words. Subword BPE is the sweet spot: common words stay whole, rare words split into useful pieces. BPE starts with characters and repeatedly merges the most frequent adjacent pair until the vocabulary target is reached.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663440" y="1572768"/>
            <a:ext cx="41605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618488"/>
            <a:ext cx="4014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chars/token: Rough English rule: 1000 words ≈ 1333 tokens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663440" y="2066544"/>
            <a:ext cx="41605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112264"/>
            <a:ext cx="4014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per-token: Input + output tokens drive your API bill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663440" y="2560320"/>
            <a:ext cx="41605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606040"/>
            <a:ext cx="4014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split oddly: This partly explains weak arithmetic behaviour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663440" y="3054096"/>
            <a:ext cx="41605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099816"/>
            <a:ext cx="4014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vary: Hindi/Chinese may use more tokens for same idea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4663440" y="3547872"/>
            <a:ext cx="41605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593592"/>
            <a:ext cx="4014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tokens: 128K means tokens, not words or characters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320040" y="473659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LATER: tiktoken encodes 'Patient has diabetes' into real token IDs and counts.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TEMPERATURE, TOP-P, TOP-K  (THEORY  25 MIN)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658368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995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THEORY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probabilities; sampling chooses the actual token.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pain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34440" y="1060704"/>
            <a:ext cx="3200400" cy="128016"/>
          </a:xfrm>
          <a:prstGeom prst="rect">
            <a:avLst/>
          </a:prstGeom>
          <a:solidFill>
            <a:srgbClr val="A21C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0515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42%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fever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34440" y="1261872"/>
            <a:ext cx="1828800" cy="128016"/>
          </a:xfrm>
          <a:prstGeom prst="rect">
            <a:avLst/>
          </a:prstGeom>
          <a:solidFill>
            <a:srgbClr val="A21C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272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24%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14630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cough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234440" y="1463040"/>
            <a:ext cx="1066800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6960" y="145389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14%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16642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fatigue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234440" y="1664208"/>
            <a:ext cx="685800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65506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9%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" y="1865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rash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234440" y="1865376"/>
            <a:ext cx="457200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85623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6%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2920" y="206654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other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234440" y="2066544"/>
            <a:ext cx="381000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61160" y="205740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0040" y="2331720"/>
            <a:ext cx="2770632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889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377440"/>
            <a:ext cx="26243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 sharpens probabilities: deterministic, factual, repetitive. High T flattens probabilities: more creative, diverse, sometimes incoherent. Clinical/extraction tasks: 0.0–0.3. Creative writing: 0.7–1.0.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64408" y="2331720"/>
            <a:ext cx="2770632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8890">
            <a:solidFill>
              <a:srgbClr val="A21C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377440"/>
            <a:ext cx="26243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sampling keeps the smallest set of tokens whose cumulative probability reaches p, then samples from that set. It adapts to confidence better than top-k.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08776" y="2331720"/>
            <a:ext cx="2770632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8890">
            <a:solidFill>
              <a:srgbClr val="4338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2377440"/>
            <a:ext cx="26243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exactly the K highest-probability tokens, regardless of cumulative mass. Simpler, less adaptive; top-p is usually preferred.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73659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FAE8F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extraction/classification → temperature=0. Chatbot → 0.7. Creative → 0.9–1.0.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&amp; ATTENTION  (THEORY  25 MIN)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658368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995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THEORY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LLM can't remember a whole conversation forever.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502920"/>
          </a:xfrm>
          <a:prstGeom prst="roundRect">
            <a:avLst>
              <a:gd name="adj" fmla="val 9091"/>
            </a:avLst>
          </a:prstGeom>
          <a:solidFill>
            <a:srgbClr val="E0E7FF"/>
          </a:solidFill>
          <a:ln w="889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05840"/>
            <a:ext cx="8357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Context window = maximum input + output tokens in one request. Beyond the limit, text is truncated or rejected. It is an architectural limit, not a prompt setting.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1605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783080"/>
            <a:ext cx="40142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compares every token with every other token. For N tokens, cost is roughly N² comparisons.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tokens → 1M comparisons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tokens → 100M comparisons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tokens → 10B comparisons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context roughly quadruples compute, so long prompts cost more and run slower.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783080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middle: Models often attend better to beginning/end than middle.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63440" y="2313432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359152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scales: Sending a long document every call gets expensive quickly.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63440" y="2889504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935224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grows: Each chat turn adds to context until older messages are dropped/summarised.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663440" y="3465576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3511296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memory: Every API call must include the needed context.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20040" y="473659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E0E7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RAG solves this by retrieving only relevant chunks instead of stuffing the whole document into context.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THE GEOMETRY OF MEANING  (THEORY  25 MIN)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658368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995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THEORY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= fixed-length vector representing meaning as a point in space.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502920"/>
          </a:xfrm>
          <a:prstGeom prst="roundRect">
            <a:avLst>
              <a:gd name="adj" fmla="val 9091"/>
            </a:avLst>
          </a:prstGeom>
          <a:solidFill>
            <a:srgbClr val="ECFEFF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05840"/>
            <a:ext cx="8357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converts text into a vector. Similar meanings land near each other: “diabetic patient” and “person with high blood sugar” can be close even with different words.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34440" y="192024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diabetes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0" y="214884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21305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glucose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0" y="182880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810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insulin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2331720"/>
            <a:ext cx="146304" cy="14630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3134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hypertension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20440" y="356616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35478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pizza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86200" y="388620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38679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football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89120" y="342900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410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movie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" y="4315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2D sketch of semantic space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(actual vectors are 1536+ dimensions)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737360"/>
            <a:ext cx="4160520" cy="1417320"/>
          </a:xfrm>
          <a:prstGeom prst="roundRect">
            <a:avLst>
              <a:gd name="adj" fmla="val 1935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1819656"/>
            <a:ext cx="39410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cosine_similarity(A, B) = (A · B) / (||A|| × ||B||)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Range: -1 to +1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embeddings usually: 0 to 1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0.90–1.00 = nearly same meaning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0.70–0.90 = related topic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&lt;0.20 = unrelated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663440" y="3337560"/>
            <a:ext cx="4160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383280"/>
            <a:ext cx="4014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cosine? It measures vector angle, not length. A short and long document about the same topic should be similar because their direction matters more than magnitude.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73659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embeds documents and the user question, then retrieves chunks with highest cosine similarity.</a:t>
            </a:r>
            <a:endParaRPr lang="en-US" sz="8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VERTEX AI API — ARCHITECTURE  (THEORY  20 MIN)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658368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995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THEORY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use means understanding model choice, cost, rate limits and failures.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123444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914400"/>
                <a:gridCol w="914400"/>
                <a:gridCol w="37490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 Tier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Flagship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128K–200K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Slower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Complex reasoning, critical accuracy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Mid-tier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128K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Fast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Most production tasks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Fast/small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16K–32K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Very fast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Simple high-volume classification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Embedding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8K input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Very fast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Very low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</a:rPr>
                        <a:t>Search, RAG, similarity</a:t>
                      </a:r>
                      <a:endParaRPr lang="en-US" sz="82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2633472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267919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RPM: requests per minute; exceeding gives 429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320040" y="3072384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3118104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TPM: tokens per minute; long prompts consume budget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320040" y="3511296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" y="355701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input_tokens × price_in + output_tokens × price_out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320040" y="3950208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" y="399592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Retries: use exponential backoff with jitter on 429/500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4663440" y="2514600"/>
            <a:ext cx="4160520" cy="1874520"/>
          </a:xfrm>
          <a:prstGeom prst="roundRect">
            <a:avLst>
              <a:gd name="adj" fmla="val 1463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73168" y="2596896"/>
            <a:ext cx="394106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RateLimitError, APIError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call_llm_safe(prompt, max_retries=5):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attempt in range(max_retries):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client.chat.completions.create(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model="gpt-4o-mini",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messages=[{"role":"user","content":prompt}],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temperature=0.2, max_tokens=500, timeout=30)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RateLimitError: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time.sleep((2 ** attempt) + random.random())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APIError: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Exception("Max retries exceeded")</a:t>
            </a:r>
            <a:endParaRPr lang="en-US" sz="740" dirty="0"/>
          </a:p>
        </p:txBody>
      </p:sp>
      <p:sp>
        <p:nvSpPr>
          <p:cNvPr id="18" name="Shape 15"/>
          <p:cNvSpPr/>
          <p:nvPr/>
        </p:nvSpPr>
        <p:spPr>
          <a:xfrm>
            <a:off x="320040" y="473659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API keys. Use environment variables and .env + .gitignore.</a:t>
            </a:r>
            <a:endParaRPr lang="en-US" sz="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— TOKENS, TEMPERATURE, EMBEDDINGS  (30 MIN)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10144" y="658368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10144" y="6995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PRACTICE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line. Observe token counts and similarity scores.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60520" cy="3886200"/>
          </a:xfrm>
          <a:prstGeom prst="roundRect">
            <a:avLst>
              <a:gd name="adj" fmla="val 706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042416"/>
            <a:ext cx="394106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tiktoken, os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OpenAI(api_key=os.getenv("OPENAI_API_KEY"))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 = tiktoken.encoding_for_model("gpt-4")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"Patient presents with type 2 diabetes mellitus"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enc.encode(text)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print(len(tokens), tokens)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print([enc.decode([t]) for t in tokens])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"The patient's main symptom was"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temp in [0.0, 0.7, 1.5]: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client.chat.completions.create(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messages=[{"role":"user","content":prompt}],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temperature=temp, max_tokens=20)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print(temp, resp.choices[0].message.content)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estimate_cost(input_tok, output_tok, price_in=0.15, price_out=0.6):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(input_tok/1e6)*price_in + (output_tok/1e6)*price_out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706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1042416"/>
            <a:ext cx="394106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get_embedding(text, model="text-embedding-3-small"):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client.embeddings.create(input=text, model=model)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np.array(resp.data[0].embedding)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cosine_similarity(a, b):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np.dot(a, b) / (np.linalg.norm(a)*np.linalg.norm(b))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terms = ["diabetes", "glucose", "insulin",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"pizza", "football", "hypertension"]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 = {t: get_embedding(t) for t in terms}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np.array([[cosine_similarity(emb[a], emb[b]) for b in terms] for a in terms])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print(sim)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plt.figure(figsize=(7,6))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plt.imshow(sim, vmin=0, vmax=1)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plt.colorbar(label="Cosine Similarity")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plt.xticks(range(len(terms)), terms, rotation=45)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plt.yticks(range(len(terms)), terms)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plt.title("Clinical Term Embedding Similarity")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plt.savefig("embedding_similarity.png", dpi=150)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LAB 9 — LLM API EXPLORER — 60 MINUTES — SOLO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02920"/>
          </a:xfrm>
          <a:prstGeom prst="roundRect">
            <a:avLst>
              <a:gd name="adj" fmla="val 9091"/>
            </a:avLst>
          </a:prstGeom>
          <a:solidFill>
            <a:srgbClr val="160028"/>
          </a:solidFill>
          <a:ln w="889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822960"/>
            <a:ext cx="8357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Build a hands-on exploration tool for OpenAI/Vertex AI API. Count tokens, test temperature, generate embeddings, and visualise relationships with a similarity heatmap.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69080" cy="621792"/>
          </a:xfrm>
          <a:prstGeom prst="roundRect">
            <a:avLst>
              <a:gd name="adj" fmla="val 7353"/>
            </a:avLst>
          </a:prstGeom>
          <a:solidFill>
            <a:srgbClr val="160028"/>
          </a:solidFill>
          <a:ln w="889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463040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SETUP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client and test connection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69080" cy="621792"/>
          </a:xfrm>
          <a:prstGeom prst="roundRect">
            <a:avLst>
              <a:gd name="adj" fmla="val 7353"/>
            </a:avLst>
          </a:prstGeom>
          <a:solidFill>
            <a:srgbClr val="160028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463040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TOKEN COUNT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 for 5 clinical sentences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4069080" cy="621792"/>
          </a:xfrm>
          <a:prstGeom prst="roundRect">
            <a:avLst>
              <a:gd name="adj" fmla="val 7353"/>
            </a:avLst>
          </a:prstGeom>
          <a:solidFill>
            <a:srgbClr val="160028"/>
          </a:solidFill>
          <a:ln w="8890">
            <a:solidFill>
              <a:srgbClr val="A21C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212848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TEMPERATURE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same prompt at 0.0, 0.3, 0.8, 1.5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663440" y="2167128"/>
            <a:ext cx="4069080" cy="621792"/>
          </a:xfrm>
          <a:prstGeom prst="roundRect">
            <a:avLst>
              <a:gd name="adj" fmla="val 7353"/>
            </a:avLst>
          </a:prstGeom>
          <a:solidFill>
            <a:srgbClr val="160028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212848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COST CALC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cost for 1000 patient notes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0040" y="2916936"/>
            <a:ext cx="4069080" cy="621792"/>
          </a:xfrm>
          <a:prstGeom prst="roundRect">
            <a:avLst>
              <a:gd name="adj" fmla="val 7353"/>
            </a:avLst>
          </a:prstGeom>
          <a:solidFill>
            <a:srgbClr val="160028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962656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EMBEDDINGS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 for 8 terms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663440" y="2916936"/>
            <a:ext cx="4069080" cy="621792"/>
          </a:xfrm>
          <a:prstGeom prst="roundRect">
            <a:avLst>
              <a:gd name="adj" fmla="val 7353"/>
            </a:avLst>
          </a:prstGeom>
          <a:solidFill>
            <a:srgbClr val="160028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962656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SIMILARITY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cosine matrix and find pairs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20040" y="3666744"/>
            <a:ext cx="4069080" cy="621792"/>
          </a:xfrm>
          <a:prstGeom prst="roundRect">
            <a:avLst>
              <a:gd name="adj" fmla="val 7353"/>
            </a:avLst>
          </a:prstGeom>
          <a:solidFill>
            <a:srgbClr val="160028"/>
          </a:solidFill>
          <a:ln w="889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712464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HEATMAP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embedding_similarity.png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663440" y="3666744"/>
            <a:ext cx="4069080" cy="621792"/>
          </a:xfrm>
          <a:prstGeom prst="roundRect">
            <a:avLst>
              <a:gd name="adj" fmla="val 7353"/>
            </a:avLst>
          </a:prstGeom>
          <a:solidFill>
            <a:srgbClr val="160028"/>
          </a:solidFill>
          <a:ln w="889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712464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REFLECTION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observation sentences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8503920" cy="292608"/>
          </a:xfrm>
          <a:prstGeom prst="roundRect">
            <a:avLst>
              <a:gd name="adj" fmla="val 15625"/>
            </a:avLst>
          </a:prstGeom>
          <a:solidFill>
            <a:srgbClr val="160028"/>
          </a:solidFill>
          <a:ln w="8890">
            <a:solidFill>
              <a:srgbClr val="5B21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4663440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lab9_llm_explorer.py + embedding_similarity.png + reflection.txt → GitHub commit 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 — STARTER CODE (Distribute via GitHub)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API key is available, trainer demos live on screen — participants still write the code.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4114800"/>
          </a:xfrm>
          <a:prstGeom prst="roundRect">
            <a:avLst>
              <a:gd name="adj" fmla="val 667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905256"/>
            <a:ext cx="8284464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"""Lab 9: LLM API Explorer | File: lab9_llm_explorer.py"""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tiktoken, numpy as np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matplotlib.use("Agg")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OpenAI(api_key=os.getenv("OPENAI_API_KEY"))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setup test completion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simple API call and print response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token counting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sentences = [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"Patient presents with type 2 diabetes mellitus",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"Severe chest pain and shortness of breath reported",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"History of hypertension, currently on medication",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"Blood glucose levels elevated, HbA1c at 8.2",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"Recommend follow-up in two weeks for reassessment",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 = tiktoken.encoding_for_model("gpt-4")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print token count and token IDs for each sentence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temperature experiment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"Summarize the key risk factors for diabetic patients:"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call API with temperature=[0.0, 0.3, 0.8, 1.5]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4: cost estimation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estimate_cost(input_tokens, output_tokens, price_in=0.15, price_out=0.60):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5: embeddings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terms = ["diabetes","glucose","insulin","hba1c","pizza","football","movie","hypertension"]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get_embedding(text, model="text-embedding-3-small"):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6: cosine similarity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cosine_similarity(a, b):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7: heatmap visualisation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imshow, labels, annotations, save PNG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8: reflection.txt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3 sentences about observations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CHEAT SHEET (Keep open while coding)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70048" cy="320040"/>
          </a:xfrm>
          <a:prstGeom prst="roundRect">
            <a:avLst>
              <a:gd name="adj" fmla="val 14286"/>
            </a:avLst>
          </a:prstGeom>
          <a:solidFill>
            <a:srgbClr val="5B21B6"/>
          </a:solidFill>
          <a:ln w="889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85039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52144"/>
            <a:ext cx="2670048" cy="1481328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34440"/>
            <a:ext cx="24505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tiktoken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enc=tiktoken.encoding_for_model("gpt-4")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tokens=enc.encode("your text")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print(len(tokens))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print(enc.decode(tokens))</a:t>
            </a:r>
            <a:endParaRPr lang="en-US" sz="670" dirty="0"/>
          </a:p>
        </p:txBody>
      </p:sp>
      <p:sp>
        <p:nvSpPr>
          <p:cNvPr id="8" name="Shape 6"/>
          <p:cNvSpPr/>
          <p:nvPr/>
        </p:nvSpPr>
        <p:spPr>
          <a:xfrm>
            <a:off x="3172968" y="804672"/>
            <a:ext cx="2670048" cy="320040"/>
          </a:xfrm>
          <a:prstGeom prst="roundRect">
            <a:avLst>
              <a:gd name="adj" fmla="val 14286"/>
            </a:avLst>
          </a:prstGeom>
          <a:solidFill>
            <a:srgbClr val="0D1B3E"/>
          </a:solidFill>
          <a:ln w="889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85039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152144"/>
            <a:ext cx="2670048" cy="1481328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82696" y="1234440"/>
            <a:ext cx="24505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client.chat.completions.create(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model="gpt-4o-mini",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messages=[{"role":"user","content":prompt}],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temperature=0.2, max_tokens=500)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6025896" y="804672"/>
            <a:ext cx="2670048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9048" y="85039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152144"/>
            <a:ext cx="2670048" cy="1481328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35624" y="1234440"/>
            <a:ext cx="24505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r=client.embeddings.create(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input=text, model="text-embedding-3-small")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vec=np.array(r.data[0].embedding)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320040" y="2862072"/>
            <a:ext cx="2670048" cy="320040"/>
          </a:xfrm>
          <a:prstGeom prst="roundRect">
            <a:avLst>
              <a:gd name="adj" fmla="val 14286"/>
            </a:avLst>
          </a:prstGeom>
          <a:solidFill>
            <a:srgbClr val="A21CAF"/>
          </a:solidFill>
          <a:ln w="8890">
            <a:solidFill>
              <a:srgbClr val="A21C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90779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09544"/>
            <a:ext cx="2670048" cy="1481328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3291840"/>
            <a:ext cx="24505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Extraction: temperature=0.0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 chat: temperature=0.7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Creative: temperature=0.9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temp OR top_p, not both aggressively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3172968" y="2862072"/>
            <a:ext cx="2670048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90779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209544"/>
            <a:ext cx="2670048" cy="1481328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82696" y="3291840"/>
            <a:ext cx="24505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 return call_api()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 RateLimitError: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time.sleep(2**i)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6025896" y="2862072"/>
            <a:ext cx="2670048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290779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25896" y="3209544"/>
            <a:ext cx="2670048" cy="1481328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651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35624" y="3291840"/>
            <a:ext cx="24505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cost(in_tok,out_tok):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(in_tok/1e6)*0.15 + (out_tok/1e6)*0.60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print(cost(200_000,50_000))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B21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18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COMPLETE — RECAP + DAY 10 PREVIEW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92240" y="-1097280"/>
            <a:ext cx="4114800" cy="4114800"/>
          </a:xfrm>
          <a:prstGeom prst="ellipse">
            <a:avLst/>
          </a:prstGeom>
          <a:solidFill>
            <a:srgbClr val="A21CAF">
              <a:alpha val="22000"/>
            </a:srgbClr>
          </a:solidFill>
          <a:ln w="12700">
            <a:solidFill>
              <a:srgbClr val="A21CA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you mastered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LLMs predict next-token probability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179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Transformer: embeddings → attention → FFN → output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653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Tokenisation: BPE, subword splitting, cost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128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Temperature, top-p and top-k sampling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60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Context window and quadratic attention cost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077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Embeddings: meaning as geometry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552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OpenAI API: model tiers, limits, retries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027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Cost estimation with input/output tokens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57200" y="3986784"/>
            <a:ext cx="146304" cy="146304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502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Lab 9: embedding similarity heatmap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669280" y="822960"/>
            <a:ext cx="3154680" cy="3886200"/>
          </a:xfrm>
          <a:prstGeom prst="roundRect">
            <a:avLst>
              <a:gd name="adj" fmla="val 1449"/>
            </a:avLst>
          </a:prstGeom>
          <a:solidFill>
            <a:srgbClr val="160028"/>
          </a:solidFill>
          <a:ln w="8890">
            <a:solidFill>
              <a:srgbClr val="E9D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868680"/>
            <a:ext cx="30083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10: Prompt Engineering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Zero-shot vs few-shot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Chain-of-thought reasoning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System prompts and roles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JSON output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Hallucination mitigation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Lab 10: prompt template library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617720"/>
            <a:ext cx="8321040" cy="292608"/>
          </a:xfrm>
          <a:prstGeom prst="roundRect">
            <a:avLst>
              <a:gd name="adj" fmla="val 15625"/>
            </a:avLst>
          </a:prstGeom>
          <a:solidFill>
            <a:srgbClr val="160028"/>
          </a:solidFill>
          <a:ln w="8890">
            <a:solidFill>
              <a:srgbClr val="A21C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4663440"/>
            <a:ext cx="8174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CONTINUITY: Today you learned what an LLM does internally. Tomorrow you learn how to talk to it effectively.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— LLM Internals &amp; Embeddings</dc:title>
  <dc:subject>Day 9 LLM Internals &amp; OpenAI API</dc:subject>
  <dc:creator>OpenAI</dc:creator>
  <cp:lastModifiedBy>OpenAI</cp:lastModifiedBy>
  <cp:revision>1</cp:revision>
  <dcterms:created xsi:type="dcterms:W3CDTF">2026-06-19T03:14:30Z</dcterms:created>
  <dcterms:modified xsi:type="dcterms:W3CDTF">2026-06-19T03:14:30Z</dcterms:modified>
</cp:coreProperties>
</file>