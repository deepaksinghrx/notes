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embeddedFontLst>
    <p:embeddedFont>
      <p:font typeface="Quattrocento Sans" charset="-122" pitchFamily="34"/>
      <p:regular r:id="rId24"/>
    </p:embeddedFont>
    <p:embeddedFont>
      <p:font typeface="Liter" charset="-122" pitchFamily="34"/>
      <p:regular r:id="rId25"/>
    </p:embeddedFont>
    <p:embeddedFont>
      <p:font typeface="Oranienbaum" charset="-122" pitchFamily="34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s.moonshot.cn/kimi-ppt/html-gen/static/image-error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85000"/>
                </a:srgbClr>
              </a:gs>
              <a:gs pos="100000">
                <a:srgbClr val="4A5568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557213"/>
            <a:ext cx="2647950" cy="390525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 w="12700">
            <a:solidFill>
              <a:srgbClr val="E9D8FD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666750"/>
            <a:ext cx="2406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MCA PROJECT REPORT 2025-26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181100"/>
            <a:ext cx="88773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Mental Health Monitoring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048000"/>
            <a:ext cx="876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E9D8F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using Social Media Data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810000"/>
            <a:ext cx="1219200" cy="381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E9D8F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381000" y="4152900"/>
            <a:ext cx="64960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end-to-end intelligent system leveraging Machine Learning, NLP, and Cloud Deployment for early detection of mental health disorders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5176838"/>
            <a:ext cx="11430000" cy="9525"/>
          </a:xfrm>
          <a:prstGeom prst="roundRect">
            <a:avLst>
              <a:gd name="adj" fmla="val 0"/>
            </a:avLst>
          </a:prstGeom>
          <a:solidFill>
            <a:srgbClr val="4A5568">
              <a:alpha val="50196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81000" y="5410200"/>
            <a:ext cx="3676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Submitted By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1000" y="5676900"/>
            <a:ext cx="3695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Deepak Singh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81000" y="5943600"/>
            <a:ext cx="3695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Mohd. Zishan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81000" y="6210300"/>
            <a:ext cx="3695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Saif Hussain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292501" y="5410200"/>
            <a:ext cx="3676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292501" y="5676900"/>
            <a:ext cx="3695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Mr. Anshuman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292501" y="5943600"/>
            <a:ext cx="3686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Assistant Professor II (SCAT)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04150" y="5410200"/>
            <a:ext cx="3676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04150" y="5676900"/>
            <a:ext cx="3695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Galgotias University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204150" y="5943600"/>
            <a:ext cx="3686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Greater Noida, India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Outline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914400" cy="38100"/>
          </a:xfrm>
          <a:prstGeom prst="roundRect">
            <a:avLst>
              <a:gd name="adj" fmla="val 0"/>
            </a:avLst>
          </a:prstGeom>
          <a:solidFill>
            <a:srgbClr val="E9D8FD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643063"/>
            <a:ext cx="5591175" cy="1447800"/>
          </a:xfrm>
          <a:prstGeom prst="roundRect">
            <a:avLst>
              <a:gd name="adj" fmla="val 5263"/>
            </a:avLst>
          </a:prstGeom>
          <a:solidFill>
            <a:srgbClr val="4A5568">
              <a:alpha val="30196"/>
            </a:srgbClr>
          </a:solidFill>
          <a:ln w="12700">
            <a:solidFill>
              <a:srgbClr val="A0AEC0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125" y="187642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7443" y="1971675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9D8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04925" y="1876425"/>
            <a:ext cx="4552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Problem Statement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04925" y="2257425"/>
            <a:ext cx="4514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Mental health crisis in digital spaces, motivation, and project objectives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5063" y="1643063"/>
            <a:ext cx="5591175" cy="1447800"/>
          </a:xfrm>
          <a:prstGeom prst="roundRect">
            <a:avLst>
              <a:gd name="adj" fmla="val 5263"/>
            </a:avLst>
          </a:prstGeom>
          <a:solidFill>
            <a:srgbClr val="4A5568">
              <a:alpha val="30196"/>
            </a:srgbClr>
          </a:solidFill>
          <a:ln w="12700">
            <a:solidFill>
              <a:srgbClr val="A0AEC0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8425" y="187642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540847" y="1971675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9D8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4225" y="1876425"/>
            <a:ext cx="4552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 &amp; Design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4225" y="2257425"/>
            <a:ext cx="4514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Multi-layered scalable architecture from data processing to mobile deployment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3332113"/>
            <a:ext cx="5591175" cy="1447800"/>
          </a:xfrm>
          <a:prstGeom prst="roundRect">
            <a:avLst>
              <a:gd name="adj" fmla="val 5263"/>
            </a:avLst>
          </a:prstGeom>
          <a:solidFill>
            <a:srgbClr val="4A5568">
              <a:alpha val="30196"/>
            </a:srgbClr>
          </a:solidFill>
          <a:ln w="12700">
            <a:solidFill>
              <a:srgbClr val="A0AEC0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125" y="356547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10357" y="3660725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9D8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04925" y="3565475"/>
            <a:ext cx="403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Development &amp; Training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04925" y="3946475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Multi-algorithm ML pipeline with comprehensive evaluation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5063" y="3332113"/>
            <a:ext cx="5591175" cy="1447800"/>
          </a:xfrm>
          <a:prstGeom prst="roundRect">
            <a:avLst>
              <a:gd name="adj" fmla="val 5263"/>
            </a:avLst>
          </a:prstGeom>
          <a:solidFill>
            <a:srgbClr val="4A5568">
              <a:alpha val="30196"/>
            </a:srgbClr>
          </a:solidFill>
          <a:ln w="12700">
            <a:solidFill>
              <a:srgbClr val="A0AEC0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8425" y="356547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539805" y="3660725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9D8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4225" y="3565475"/>
            <a:ext cx="4552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 &amp; Performance Evaluation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4225" y="3946475"/>
            <a:ext cx="4514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Achieving &gt;95% accuracy with ensemble models and optimized deployment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5763" y="5021163"/>
            <a:ext cx="5591175" cy="1447800"/>
          </a:xfrm>
          <a:prstGeom prst="roundRect">
            <a:avLst>
              <a:gd name="adj" fmla="val 5263"/>
            </a:avLst>
          </a:prstGeom>
          <a:solidFill>
            <a:srgbClr val="4A5568">
              <a:alpha val="30196"/>
            </a:srgbClr>
          </a:solidFill>
          <a:ln w="12700">
            <a:solidFill>
              <a:srgbClr val="A0AEC0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125" y="5254526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12291" y="5349776"/>
            <a:ext cx="485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9D8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04925" y="5254526"/>
            <a:ext cx="4552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&amp; Mobile Application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04925" y="5635526"/>
            <a:ext cx="4514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ONNX conversion, Hugging Face deployment, and Android integration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5063" y="5021163"/>
            <a:ext cx="5591175" cy="1447800"/>
          </a:xfrm>
          <a:prstGeom prst="roundRect">
            <a:avLst>
              <a:gd name="adj" fmla="val 5263"/>
            </a:avLst>
          </a:prstGeom>
          <a:solidFill>
            <a:srgbClr val="4A5568">
              <a:alpha val="30196"/>
            </a:srgbClr>
          </a:solidFill>
          <a:ln w="12700">
            <a:solidFill>
              <a:srgbClr val="A0AEC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8425" y="5254526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538466" y="5349776"/>
            <a:ext cx="49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9D8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34225" y="5254526"/>
            <a:ext cx="4552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Future Work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34225" y="5635526"/>
            <a:ext cx="4514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 of achievements, comparison with state-of-the-art, and future directions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s.moonshot.cn/kimi-ppt/html-gen/static/image-error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1A202C">
                  <a:alpha val="98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4A5568">
                  <a:alpha val="6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378744"/>
            <a:ext cx="1323975" cy="428625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 w="12700">
            <a:solidFill>
              <a:srgbClr val="E9D8FD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1497806"/>
            <a:ext cx="10935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69331"/>
            <a:ext cx="88773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212431"/>
            <a:ext cx="1524000" cy="381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E9D8F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381000" y="4555331"/>
            <a:ext cx="74580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A0AEC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Understanding the mental health crisis in digital spaces and the need for AI-driven monitoring solutions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Introduction &amp; Motivation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prstGeom prst="roundRect">
            <a:avLst>
              <a:gd name="adj" fmla="val 0"/>
            </a:avLst>
          </a:prstGeom>
          <a:solidFill>
            <a:srgbClr val="E9D8FD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47800"/>
            <a:ext cx="5581650" cy="2057400"/>
          </a:xfrm>
          <a:custGeom>
            <a:avLst/>
            <a:gdLst/>
            <a:ahLst/>
            <a:cxnLst/>
            <a:rect l="l" t="t" r="r" b="b"/>
            <a:pathLst>
              <a:path w="5581650" h="2057400">
                <a:moveTo>
                  <a:pt x="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981200"/>
                </a:lnTo>
                <a:cubicBezTo>
                  <a:pt x="5581650" y="2023256"/>
                  <a:pt x="5547506" y="2057400"/>
                  <a:pt x="5505450" y="2057400"/>
                </a:cubicBez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47800"/>
            <a:ext cx="38100" cy="2057400"/>
          </a:xfrm>
          <a:prstGeom prst="roundRect">
            <a:avLst>
              <a:gd name="adj" fmla="val 0"/>
            </a:avLst>
          </a:prstGeom>
          <a:solidFill>
            <a:srgbClr val="E9D8FD"/>
          </a:solidFill>
          <a:ln/>
        </p:spPr>
      </p:sp>
      <p:sp>
        <p:nvSpPr>
          <p:cNvPr id="7" name="Shape 5"/>
          <p:cNvSpPr/>
          <p:nvPr/>
        </p:nvSpPr>
        <p:spPr>
          <a:xfrm>
            <a:off x="638175" y="1657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8" name="Text 6"/>
          <p:cNvSpPr/>
          <p:nvPr/>
        </p:nvSpPr>
        <p:spPr>
          <a:xfrm>
            <a:off x="1009650" y="163830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Growing Crisis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019300"/>
            <a:ext cx="5257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Mental health disorders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(depression, anxiety, stress, bipolar disorder, suicidal ideation) are increasing at an alarming rate globally, with social media platforms becoming digital environments where users openly share their mental states.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8650" y="3143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3124200"/>
            <a:ext cx="328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Rapid growth in reported cases across all demographics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695700"/>
            <a:ext cx="5581650" cy="1905000"/>
          </a:xfrm>
          <a:custGeom>
            <a:avLst/>
            <a:gdLst/>
            <a:ahLst/>
            <a:cxnLst/>
            <a:rect l="l" t="t" r="r" b="b"/>
            <a:pathLst>
              <a:path w="5581650" h="1905000">
                <a:moveTo>
                  <a:pt x="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828800"/>
                </a:lnTo>
                <a:cubicBezTo>
                  <a:pt x="5581650" y="1870856"/>
                  <a:pt x="5547506" y="1905000"/>
                  <a:pt x="5505450" y="1905000"/>
                </a:cubicBez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00050" y="3695700"/>
            <a:ext cx="38100" cy="1905000"/>
          </a:xfrm>
          <a:prstGeom prst="roundRect">
            <a:avLst>
              <a:gd name="adj" fmla="val 0"/>
            </a:avLst>
          </a:prstGeom>
          <a:solidFill>
            <a:srgbClr val="A0AEC0"/>
          </a:solidFill>
          <a:ln/>
        </p:spPr>
      </p:sp>
      <p:sp>
        <p:nvSpPr>
          <p:cNvPr id="14" name="Shape 12"/>
          <p:cNvSpPr/>
          <p:nvPr/>
        </p:nvSpPr>
        <p:spPr>
          <a:xfrm>
            <a:off x="638175" y="3905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4563" y="74563"/>
                </a:moveTo>
                <a:cubicBezTo>
                  <a:pt x="78760" y="70366"/>
                  <a:pt x="85546" y="70366"/>
                  <a:pt x="89699" y="74563"/>
                </a:cubicBezTo>
                <a:lnTo>
                  <a:pt x="114255" y="99120"/>
                </a:lnTo>
                <a:lnTo>
                  <a:pt x="138812" y="74563"/>
                </a:lnTo>
                <a:cubicBezTo>
                  <a:pt x="143009" y="70366"/>
                  <a:pt x="149796" y="70366"/>
                  <a:pt x="153948" y="74563"/>
                </a:cubicBezTo>
                <a:cubicBezTo>
                  <a:pt x="158100" y="78760"/>
                  <a:pt x="158145" y="85546"/>
                  <a:pt x="153948" y="89699"/>
                </a:cubicBezTo>
                <a:lnTo>
                  <a:pt x="129391" y="114255"/>
                </a:lnTo>
                <a:lnTo>
                  <a:pt x="153948" y="138812"/>
                </a:lnTo>
                <a:cubicBezTo>
                  <a:pt x="158145" y="143009"/>
                  <a:pt x="158145" y="149796"/>
                  <a:pt x="153948" y="153948"/>
                </a:cubicBezTo>
                <a:cubicBezTo>
                  <a:pt x="149751" y="158100"/>
                  <a:pt x="142964" y="158145"/>
                  <a:pt x="138812" y="153948"/>
                </a:cubicBezTo>
                <a:lnTo>
                  <a:pt x="114255" y="129391"/>
                </a:lnTo>
                <a:lnTo>
                  <a:pt x="89699" y="153948"/>
                </a:lnTo>
                <a:cubicBezTo>
                  <a:pt x="85502" y="158145"/>
                  <a:pt x="78715" y="158145"/>
                  <a:pt x="74563" y="153948"/>
                </a:cubicBezTo>
                <a:cubicBezTo>
                  <a:pt x="70411" y="149751"/>
                  <a:pt x="70366" y="142964"/>
                  <a:pt x="74563" y="138812"/>
                </a:cubicBezTo>
                <a:lnTo>
                  <a:pt x="99120" y="114255"/>
                </a:lnTo>
                <a:lnTo>
                  <a:pt x="74563" y="89699"/>
                </a:lnTo>
                <a:cubicBezTo>
                  <a:pt x="70366" y="85502"/>
                  <a:pt x="70366" y="78715"/>
                  <a:pt x="74563" y="74563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15" name="Text 13"/>
          <p:cNvSpPr/>
          <p:nvPr/>
        </p:nvSpPr>
        <p:spPr>
          <a:xfrm>
            <a:off x="1009650" y="3886200"/>
            <a:ext cx="2962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 of Traditional Methods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4305300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5806" y="4267200"/>
            <a:ext cx="5133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Clinical observations and self-reporting fail to capture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emotional changes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838700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5806" y="4800600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Delayed diagnosis often misses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warning signals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600" y="5181600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5806" y="5143500"/>
            <a:ext cx="340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accessibility to mental health professionals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5063" y="1452563"/>
            <a:ext cx="5591175" cy="2657475"/>
          </a:xfrm>
          <a:prstGeom prst="roundRect">
            <a:avLst>
              <a:gd name="adj" fmla="val 2867"/>
            </a:avLst>
          </a:prstGeom>
          <a:gradFill rotWithShape="1" flip="none">
            <a:gsLst>
              <a:gs pos="0">
                <a:srgbClr val="E9D8FD">
                  <a:alpha val="2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2700">
            <a:solidFill>
              <a:srgbClr val="E9D8FD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67475" y="16668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24" name="Text 22"/>
          <p:cNvSpPr/>
          <p:nvPr/>
        </p:nvSpPr>
        <p:spPr>
          <a:xfrm>
            <a:off x="6810375" y="1647825"/>
            <a:ext cx="134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Motivation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10325" y="2028825"/>
            <a:ext cx="5276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People express emotions (sadness, stress, loneliness, anxiety) through posts, comments, and interactions. These expressions, when analyzed correctly, provide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meaningful insights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into their mental health condition.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10325" y="2886075"/>
            <a:ext cx="5200650" cy="1028700"/>
          </a:xfrm>
          <a:prstGeom prst="roundRect">
            <a:avLst>
              <a:gd name="adj" fmla="val 7407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562725" y="3038475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62725" y="3305175"/>
            <a:ext cx="497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gap between having a trained model and creating a usable system that interacts with users and provides real-time insights.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5063" y="4310063"/>
            <a:ext cx="5591175" cy="1762125"/>
          </a:xfrm>
          <a:prstGeom prst="roundRect">
            <a:avLst>
              <a:gd name="adj" fmla="val 4324"/>
            </a:avLst>
          </a:prstGeom>
          <a:solidFill>
            <a:srgbClr val="4A5568">
              <a:alpha val="30196"/>
            </a:srgbClr>
          </a:solidFill>
          <a:ln w="12700">
            <a:solidFill>
              <a:srgbClr val="A0AEC0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38900" y="4524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31" name="Text 29"/>
          <p:cNvSpPr/>
          <p:nvPr/>
        </p:nvSpPr>
        <p:spPr>
          <a:xfrm>
            <a:off x="6810375" y="4505325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 Address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10325" y="4886325"/>
            <a:ext cx="52768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leverage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and NLP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analyze social media-like data and predict the most dominant mental health disorder affecting a user, transforming from a data-driven pipeline into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fully functional application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capable of delivering real-time predictions.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 &amp; Scope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prstGeom prst="roundRect">
            <a:avLst>
              <a:gd name="adj" fmla="val 0"/>
            </a:avLst>
          </a:prstGeom>
          <a:solidFill>
            <a:srgbClr val="E9D8FD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414463"/>
            <a:ext cx="3695700" cy="1552575"/>
          </a:xfrm>
          <a:prstGeom prst="roundRect">
            <a:avLst>
              <a:gd name="adj" fmla="val 4908"/>
            </a:avLst>
          </a:prstGeom>
          <a:solidFill>
            <a:srgbClr val="4A5568">
              <a:alpha val="30196"/>
            </a:srgbClr>
          </a:solidFill>
          <a:ln w="12700">
            <a:solidFill>
              <a:srgbClr val="A0AEC0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5716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95325" y="1628775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9D8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8225" y="1628775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Pipeline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2925" y="2066925"/>
            <a:ext cx="34575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a robust ML pipeline for processing textual and structured data to predict multiple mental health disorders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46513" y="1414463"/>
            <a:ext cx="3695700" cy="1552575"/>
          </a:xfrm>
          <a:prstGeom prst="roundRect">
            <a:avLst>
              <a:gd name="adj" fmla="val 4908"/>
            </a:avLst>
          </a:prstGeom>
          <a:solidFill>
            <a:srgbClr val="4A5568">
              <a:alpha val="30196"/>
            </a:srgbClr>
          </a:solidFill>
          <a:ln w="12700">
            <a:solidFill>
              <a:srgbClr val="A0AEC0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3675" y="15716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38811" y="162877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9D8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8975" y="1628775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03675" y="2066925"/>
            <a:ext cx="34575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 and evaluate multiple models: Logistic Regression, Random Forest, XGBoost, LightGBM, CatBoost, and Neural Networks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07263" y="1414463"/>
            <a:ext cx="3695700" cy="1552575"/>
          </a:xfrm>
          <a:prstGeom prst="roundRect">
            <a:avLst>
              <a:gd name="adj" fmla="val 4908"/>
            </a:avLst>
          </a:prstGeom>
          <a:solidFill>
            <a:srgbClr val="4A5568">
              <a:alpha val="30196"/>
            </a:srgbClr>
          </a:solidFill>
          <a:ln w="12700">
            <a:solidFill>
              <a:srgbClr val="A0AEC0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4426" y="15716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398669" y="162877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9D8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59726" y="1628775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ONNX Conversion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64426" y="2066925"/>
            <a:ext cx="34575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 trained models from PKL to ONNX format for platform independence, faster inference, and better deployment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763" y="3128963"/>
            <a:ext cx="3695700" cy="1552575"/>
          </a:xfrm>
          <a:prstGeom prst="roundRect">
            <a:avLst>
              <a:gd name="adj" fmla="val 4908"/>
            </a:avLst>
          </a:prstGeom>
          <a:solidFill>
            <a:srgbClr val="4A5568">
              <a:alpha val="30196"/>
            </a:srgbClr>
          </a:solidFill>
          <a:ln w="12700">
            <a:solidFill>
              <a:srgbClr val="A0AEC0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2925" y="32861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77317" y="334327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9D8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38225" y="3343275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Deployment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2925" y="3781425"/>
            <a:ext cx="3457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ONNX models on Hugging Face with scalable cloud infrastructure and API-based access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46513" y="3128963"/>
            <a:ext cx="3695700" cy="1552575"/>
          </a:xfrm>
          <a:prstGeom prst="roundRect">
            <a:avLst>
              <a:gd name="adj" fmla="val 4908"/>
            </a:avLst>
          </a:prstGeom>
          <a:solidFill>
            <a:srgbClr val="4A5568">
              <a:alpha val="30196"/>
            </a:srgbClr>
          </a:solidFill>
          <a:ln w="12700">
            <a:solidFill>
              <a:srgbClr val="A0AEC0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03675" y="32861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39258" y="334327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9D8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98975" y="3343275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Android App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03675" y="3781425"/>
            <a:ext cx="3457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and develop an Android application using Android Studio that interacts with deployed API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07263" y="3128963"/>
            <a:ext cx="3695700" cy="1552575"/>
          </a:xfrm>
          <a:prstGeom prst="roundRect">
            <a:avLst>
              <a:gd name="adj" fmla="val 4908"/>
            </a:avLst>
          </a:prstGeom>
          <a:solidFill>
            <a:srgbClr val="4A5568">
              <a:alpha val="30196"/>
            </a:srgbClr>
          </a:solidFill>
          <a:ln w="12700">
            <a:solidFill>
              <a:srgbClr val="A0AEC0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64426" y="32861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397925" y="3343275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9D8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759726" y="3343275"/>
            <a:ext cx="173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Workflow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64426" y="3781425"/>
            <a:ext cx="34575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 complete workflow where mobile app sends user data to API and receives predictions in real-time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5763" y="4881563"/>
            <a:ext cx="11420475" cy="1514475"/>
          </a:xfrm>
          <a:prstGeom prst="roundRect">
            <a:avLst>
              <a:gd name="adj" fmla="val 5031"/>
            </a:avLst>
          </a:prstGeom>
          <a:gradFill rotWithShape="1" flip="none">
            <a:gsLst>
              <a:gs pos="0">
                <a:srgbClr val="E9D8FD">
                  <a:alpha val="20000"/>
                </a:srgbClr>
              </a:gs>
              <a:gs pos="100000">
                <a:srgbClr val="4A5568">
                  <a:alpha val="20000"/>
                </a:srgbClr>
              </a:gs>
            </a:gsLst>
            <a:lin ang="0" scaled="1"/>
          </a:gradFill>
          <a:ln w="12700">
            <a:solidFill>
              <a:srgbClr val="E9D8FD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3888" y="50958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5009" y="14288"/>
                </a:moveTo>
                <a:lnTo>
                  <a:pt x="10716" y="14288"/>
                </a:lnTo>
                <a:cubicBezTo>
                  <a:pt x="4777" y="14288"/>
                  <a:pt x="0" y="19065"/>
                  <a:pt x="0" y="25003"/>
                </a:cubicBezTo>
                <a:lnTo>
                  <a:pt x="0" y="89297"/>
                </a:lnTo>
                <a:cubicBezTo>
                  <a:pt x="0" y="93628"/>
                  <a:pt x="2590" y="97557"/>
                  <a:pt x="6608" y="99209"/>
                </a:cubicBezTo>
                <a:cubicBezTo>
                  <a:pt x="10626" y="100861"/>
                  <a:pt x="15225" y="99923"/>
                  <a:pt x="18306" y="96887"/>
                </a:cubicBezTo>
                <a:lnTo>
                  <a:pt x="36165" y="79028"/>
                </a:lnTo>
                <a:lnTo>
                  <a:pt x="71438" y="114300"/>
                </a:lnTo>
                <a:lnTo>
                  <a:pt x="36165" y="149572"/>
                </a:lnTo>
                <a:lnTo>
                  <a:pt x="18306" y="131713"/>
                </a:lnTo>
                <a:cubicBezTo>
                  <a:pt x="15225" y="128632"/>
                  <a:pt x="10626" y="127739"/>
                  <a:pt x="6608" y="129391"/>
                </a:cubicBezTo>
                <a:cubicBezTo>
                  <a:pt x="2590" y="131043"/>
                  <a:pt x="0" y="134972"/>
                  <a:pt x="0" y="139303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lnTo>
                  <a:pt x="75009" y="214313"/>
                </a:lnTo>
                <a:cubicBezTo>
                  <a:pt x="79340" y="214313"/>
                  <a:pt x="83269" y="211723"/>
                  <a:pt x="84921" y="207705"/>
                </a:cubicBezTo>
                <a:cubicBezTo>
                  <a:pt x="86573" y="203686"/>
                  <a:pt x="85680" y="199087"/>
                  <a:pt x="82600" y="196007"/>
                </a:cubicBezTo>
                <a:lnTo>
                  <a:pt x="64740" y="178147"/>
                </a:lnTo>
                <a:lnTo>
                  <a:pt x="100013" y="142875"/>
                </a:lnTo>
                <a:lnTo>
                  <a:pt x="135285" y="178147"/>
                </a:lnTo>
                <a:lnTo>
                  <a:pt x="117425" y="196007"/>
                </a:lnTo>
                <a:cubicBezTo>
                  <a:pt x="114345" y="199087"/>
                  <a:pt x="113452" y="203686"/>
                  <a:pt x="115104" y="207705"/>
                </a:cubicBezTo>
                <a:cubicBezTo>
                  <a:pt x="116756" y="211723"/>
                  <a:pt x="120685" y="214313"/>
                  <a:pt x="125016" y="214313"/>
                </a:cubicBezTo>
                <a:lnTo>
                  <a:pt x="189309" y="214313"/>
                </a:lnTo>
                <a:cubicBezTo>
                  <a:pt x="195248" y="214313"/>
                  <a:pt x="200025" y="209535"/>
                  <a:pt x="200025" y="203597"/>
                </a:cubicBezTo>
                <a:lnTo>
                  <a:pt x="200025" y="139303"/>
                </a:lnTo>
                <a:cubicBezTo>
                  <a:pt x="200025" y="134972"/>
                  <a:pt x="197435" y="131043"/>
                  <a:pt x="193417" y="129391"/>
                </a:cubicBezTo>
                <a:cubicBezTo>
                  <a:pt x="189399" y="127739"/>
                  <a:pt x="184800" y="128632"/>
                  <a:pt x="181719" y="131713"/>
                </a:cubicBezTo>
                <a:lnTo>
                  <a:pt x="163860" y="149572"/>
                </a:lnTo>
                <a:lnTo>
                  <a:pt x="128588" y="114300"/>
                </a:lnTo>
                <a:lnTo>
                  <a:pt x="163860" y="79028"/>
                </a:lnTo>
                <a:lnTo>
                  <a:pt x="181719" y="96887"/>
                </a:lnTo>
                <a:cubicBezTo>
                  <a:pt x="184800" y="99968"/>
                  <a:pt x="189399" y="100861"/>
                  <a:pt x="193417" y="99209"/>
                </a:cubicBezTo>
                <a:cubicBezTo>
                  <a:pt x="197435" y="97557"/>
                  <a:pt x="200025" y="93628"/>
                  <a:pt x="200025" y="89297"/>
                </a:cubicBezTo>
                <a:lnTo>
                  <a:pt x="200025" y="25003"/>
                </a:lnTo>
                <a:cubicBezTo>
                  <a:pt x="200025" y="19065"/>
                  <a:pt x="195248" y="14288"/>
                  <a:pt x="189309" y="14288"/>
                </a:cubicBezTo>
                <a:lnTo>
                  <a:pt x="125016" y="14288"/>
                </a:lnTo>
                <a:cubicBezTo>
                  <a:pt x="120685" y="14288"/>
                  <a:pt x="116756" y="16877"/>
                  <a:pt x="115104" y="20895"/>
                </a:cubicBezTo>
                <a:cubicBezTo>
                  <a:pt x="113452" y="24914"/>
                  <a:pt x="114389" y="29513"/>
                  <a:pt x="117425" y="32593"/>
                </a:cubicBezTo>
                <a:lnTo>
                  <a:pt x="135285" y="50453"/>
                </a:lnTo>
                <a:lnTo>
                  <a:pt x="100013" y="85725"/>
                </a:lnTo>
                <a:lnTo>
                  <a:pt x="64740" y="50453"/>
                </a:lnTo>
                <a:lnTo>
                  <a:pt x="82600" y="32593"/>
                </a:lnTo>
                <a:cubicBezTo>
                  <a:pt x="85680" y="29513"/>
                  <a:pt x="86573" y="24914"/>
                  <a:pt x="84921" y="20895"/>
                </a:cubicBezTo>
                <a:cubicBezTo>
                  <a:pt x="83269" y="16877"/>
                  <a:pt x="79340" y="14288"/>
                  <a:pt x="75009" y="14288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37" name="Text 35"/>
          <p:cNvSpPr/>
          <p:nvPr/>
        </p:nvSpPr>
        <p:spPr>
          <a:xfrm>
            <a:off x="981075" y="5076825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Scope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81025" y="5457825"/>
            <a:ext cx="111061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scope covers the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lifecycle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a ML-based application: from dataset handling, preprocessing, feature engineering, and model training to model conversion, deployment, and application integration. The system is designed to be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and adaptable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allowing future enhancements such as integration with live social media data, real-time monitoring, and advanced deep learning techniques.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s.moonshot.cn/kimi-ppt/html-gen/static/image-error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1A202C">
                  <a:alpha val="98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4A5568">
                  <a:alpha val="6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378744"/>
            <a:ext cx="1352550" cy="428625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 w="12700">
            <a:solidFill>
              <a:srgbClr val="E9D8FD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1497806"/>
            <a:ext cx="1126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69331"/>
            <a:ext cx="88773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Design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212431"/>
            <a:ext cx="1524000" cy="381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E9D8F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381000" y="4555331"/>
            <a:ext cx="74580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A0AEC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 multi-layered, scalable architecture from data processing to mobile deployment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Overall System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prstGeom prst="roundRect">
            <a:avLst>
              <a:gd name="adj" fmla="val 0"/>
            </a:avLst>
          </a:prstGeom>
          <a:solidFill>
            <a:srgbClr val="E9D8FD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09700"/>
            <a:ext cx="3686175" cy="1447800"/>
          </a:xfrm>
          <a:custGeom>
            <a:avLst/>
            <a:gdLst/>
            <a:ahLst/>
            <a:cxnLst/>
            <a:rect l="l" t="t" r="r" b="b"/>
            <a:pathLst>
              <a:path w="3686175" h="1447800">
                <a:moveTo>
                  <a:pt x="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1371600"/>
                </a:lnTo>
                <a:cubicBezTo>
                  <a:pt x="3686175" y="1413656"/>
                  <a:pt x="3652031" y="1447800"/>
                  <a:pt x="3609975" y="1447800"/>
                </a:cubicBez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09700"/>
            <a:ext cx="38100" cy="1447800"/>
          </a:xfrm>
          <a:prstGeom prst="roundRect">
            <a:avLst>
              <a:gd name="adj" fmla="val 0"/>
            </a:avLst>
          </a:prstGeom>
          <a:solidFill>
            <a:srgbClr val="E9D8FD"/>
          </a:solidFill>
          <a:ln/>
        </p:spPr>
      </p:sp>
      <p:sp>
        <p:nvSpPr>
          <p:cNvPr id="7" name="Shape 5"/>
          <p:cNvSpPr/>
          <p:nvPr/>
        </p:nvSpPr>
        <p:spPr>
          <a:xfrm>
            <a:off x="607219" y="16002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8" name="Text 6"/>
          <p:cNvSpPr/>
          <p:nvPr/>
        </p:nvSpPr>
        <p:spPr>
          <a:xfrm>
            <a:off x="923925" y="1562100"/>
            <a:ext cx="895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943100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Raw datasets (CSV files)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209800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Cleaned and processed datasets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476500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User input from Android app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60800" y="1409700"/>
            <a:ext cx="3686175" cy="1447800"/>
          </a:xfrm>
          <a:custGeom>
            <a:avLst/>
            <a:gdLst/>
            <a:ahLst/>
            <a:cxnLst/>
            <a:rect l="l" t="t" r="r" b="b"/>
            <a:pathLst>
              <a:path w="3686175" h="1447800">
                <a:moveTo>
                  <a:pt x="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1371600"/>
                </a:lnTo>
                <a:cubicBezTo>
                  <a:pt x="3686175" y="1413656"/>
                  <a:pt x="3652031" y="1447800"/>
                  <a:pt x="3609975" y="1447800"/>
                </a:cubicBez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260800" y="1409700"/>
            <a:ext cx="38100" cy="1447800"/>
          </a:xfrm>
          <a:prstGeom prst="roundRect">
            <a:avLst>
              <a:gd name="adj" fmla="val 0"/>
            </a:avLst>
          </a:prstGeom>
          <a:solidFill>
            <a:srgbClr val="A0AEC0"/>
          </a:solidFill>
          <a:ln/>
        </p:spPr>
      </p:sp>
      <p:sp>
        <p:nvSpPr>
          <p:cNvPr id="14" name="Shape 12"/>
          <p:cNvSpPr/>
          <p:nvPr/>
        </p:nvSpPr>
        <p:spPr>
          <a:xfrm>
            <a:off x="4432250" y="16002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15" name="Text 13"/>
          <p:cNvSpPr/>
          <p:nvPr/>
        </p:nvSpPr>
        <p:spPr>
          <a:xfrm>
            <a:off x="4784675" y="1562100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Layer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32250" y="1943100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Data preprocessing &amp; NLP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32250" y="2209800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Feature extraction (TF-IDF)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32250" y="2476500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Model training &amp; evaluation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21551" y="1409700"/>
            <a:ext cx="3686175" cy="1447800"/>
          </a:xfrm>
          <a:custGeom>
            <a:avLst/>
            <a:gdLst/>
            <a:ahLst/>
            <a:cxnLst/>
            <a:rect l="l" t="t" r="r" b="b"/>
            <a:pathLst>
              <a:path w="3686175" h="1447800">
                <a:moveTo>
                  <a:pt x="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1371600"/>
                </a:lnTo>
                <a:cubicBezTo>
                  <a:pt x="3686175" y="1413656"/>
                  <a:pt x="3652031" y="1447800"/>
                  <a:pt x="3609975" y="1447800"/>
                </a:cubicBez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121551" y="1409700"/>
            <a:ext cx="38100" cy="1447800"/>
          </a:xfrm>
          <a:prstGeom prst="roundRect">
            <a:avLst>
              <a:gd name="adj" fmla="val 0"/>
            </a:avLst>
          </a:prstGeom>
          <a:solidFill>
            <a:srgbClr val="E9D8FD"/>
          </a:solidFill>
          <a:ln/>
        </p:spPr>
      </p:sp>
      <p:sp>
        <p:nvSpPr>
          <p:cNvPr id="21" name="Shape 19"/>
          <p:cNvSpPr/>
          <p:nvPr/>
        </p:nvSpPr>
        <p:spPr>
          <a:xfrm>
            <a:off x="8316813" y="1600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22" name="Text 20"/>
          <p:cNvSpPr/>
          <p:nvPr/>
        </p:nvSpPr>
        <p:spPr>
          <a:xfrm>
            <a:off x="8645426" y="1562100"/>
            <a:ext cx="101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Layer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93001" y="1943100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Trained ML models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93001" y="2209800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PKL format storage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93001" y="2476500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ONNX format conversion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0050" y="3009900"/>
            <a:ext cx="3686175" cy="1447800"/>
          </a:xfrm>
          <a:custGeom>
            <a:avLst/>
            <a:gdLst/>
            <a:ahLst/>
            <a:cxnLst/>
            <a:rect l="l" t="t" r="r" b="b"/>
            <a:pathLst>
              <a:path w="3686175" h="1447800">
                <a:moveTo>
                  <a:pt x="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1371600"/>
                </a:lnTo>
                <a:cubicBezTo>
                  <a:pt x="3686175" y="1413656"/>
                  <a:pt x="3652031" y="1447800"/>
                  <a:pt x="3609975" y="1447800"/>
                </a:cubicBez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00050" y="3009900"/>
            <a:ext cx="38100" cy="1447800"/>
          </a:xfrm>
          <a:prstGeom prst="roundRect">
            <a:avLst>
              <a:gd name="adj" fmla="val 0"/>
            </a:avLst>
          </a:prstGeom>
          <a:solidFill>
            <a:srgbClr val="A0AEC0"/>
          </a:solidFill>
          <a:ln/>
        </p:spPr>
      </p:sp>
      <p:sp>
        <p:nvSpPr>
          <p:cNvPr id="28" name="Shape 26"/>
          <p:cNvSpPr/>
          <p:nvPr/>
        </p:nvSpPr>
        <p:spPr>
          <a:xfrm>
            <a:off x="583406" y="32004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29" name="Text 27"/>
          <p:cNvSpPr/>
          <p:nvPr/>
        </p:nvSpPr>
        <p:spPr>
          <a:xfrm>
            <a:off x="923925" y="3162300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Layer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1500" y="3543300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Hugging Face hosting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71500" y="3810000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API endpoints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71500" y="4076700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Cloud scalability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60800" y="3009900"/>
            <a:ext cx="3686175" cy="1447800"/>
          </a:xfrm>
          <a:custGeom>
            <a:avLst/>
            <a:gdLst/>
            <a:ahLst/>
            <a:cxnLst/>
            <a:rect l="l" t="t" r="r" b="b"/>
            <a:pathLst>
              <a:path w="3686175" h="1447800">
                <a:moveTo>
                  <a:pt x="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1371600"/>
                </a:lnTo>
                <a:cubicBezTo>
                  <a:pt x="3686175" y="1413656"/>
                  <a:pt x="3652031" y="1447800"/>
                  <a:pt x="3609975" y="1447800"/>
                </a:cubicBez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60800" y="3009900"/>
            <a:ext cx="38100" cy="1447800"/>
          </a:xfrm>
          <a:prstGeom prst="roundRect">
            <a:avLst>
              <a:gd name="adj" fmla="val 0"/>
            </a:avLst>
          </a:prstGeom>
          <a:solidFill>
            <a:srgbClr val="E9D8FD"/>
          </a:solidFill>
          <a:ln/>
        </p:spPr>
      </p:sp>
      <p:sp>
        <p:nvSpPr>
          <p:cNvPr id="35" name="Shape 33"/>
          <p:cNvSpPr/>
          <p:nvPr/>
        </p:nvSpPr>
        <p:spPr>
          <a:xfrm>
            <a:off x="4479875" y="32004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36" name="Text 34"/>
          <p:cNvSpPr/>
          <p:nvPr/>
        </p:nvSpPr>
        <p:spPr>
          <a:xfrm>
            <a:off x="4784675" y="3162300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32250" y="3543300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Android application UI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32250" y="3810000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User input handling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32250" y="4076700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Prediction display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21551" y="3009900"/>
            <a:ext cx="3686175" cy="1447800"/>
          </a:xfrm>
          <a:custGeom>
            <a:avLst/>
            <a:gdLst/>
            <a:ahLst/>
            <a:cxnLst/>
            <a:rect l="l" t="t" r="r" b="b"/>
            <a:pathLst>
              <a:path w="3686175" h="1447800">
                <a:moveTo>
                  <a:pt x="0" y="0"/>
                </a:moveTo>
                <a:lnTo>
                  <a:pt x="3609975" y="0"/>
                </a:lnTo>
                <a:cubicBezTo>
                  <a:pt x="3652031" y="0"/>
                  <a:pt x="3686175" y="34144"/>
                  <a:pt x="3686175" y="76200"/>
                </a:cubicBezTo>
                <a:lnTo>
                  <a:pt x="3686175" y="1371600"/>
                </a:lnTo>
                <a:cubicBezTo>
                  <a:pt x="3686175" y="1413656"/>
                  <a:pt x="3652031" y="1447800"/>
                  <a:pt x="3609975" y="1447800"/>
                </a:cubicBez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121551" y="3009900"/>
            <a:ext cx="38100" cy="1447800"/>
          </a:xfrm>
          <a:prstGeom prst="roundRect">
            <a:avLst>
              <a:gd name="adj" fmla="val 0"/>
            </a:avLst>
          </a:prstGeom>
          <a:solidFill>
            <a:srgbClr val="A0AEC0"/>
          </a:solidFill>
          <a:ln/>
        </p:spPr>
      </p:sp>
      <p:sp>
        <p:nvSpPr>
          <p:cNvPr id="42" name="Shape 40"/>
          <p:cNvSpPr/>
          <p:nvPr/>
        </p:nvSpPr>
        <p:spPr>
          <a:xfrm>
            <a:off x="8316813" y="3200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43" name="Text 41"/>
          <p:cNvSpPr/>
          <p:nvPr/>
        </p:nvSpPr>
        <p:spPr>
          <a:xfrm>
            <a:off x="8645426" y="3162300"/>
            <a:ext cx="1743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Layer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293001" y="3543300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REST API communication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93001" y="3810000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Request-response cycle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293001" y="4076700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JSON data format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5763" y="4614863"/>
            <a:ext cx="11420475" cy="1724025"/>
          </a:xfrm>
          <a:prstGeom prst="roundRect">
            <a:avLst>
              <a:gd name="adj" fmla="val 4420"/>
            </a:avLst>
          </a:prstGeom>
          <a:gradFill rotWithShape="1" flip="none">
            <a:gsLst>
              <a:gs pos="0">
                <a:srgbClr val="E9D8FD">
                  <a:alpha val="20000"/>
                </a:srgbClr>
              </a:gs>
              <a:gs pos="100000">
                <a:srgbClr val="4A5568">
                  <a:alpha val="20000"/>
                </a:srgbClr>
              </a:gs>
            </a:gsLst>
            <a:lin ang="0" scaled="1"/>
          </a:gradFill>
          <a:ln w="12700">
            <a:solidFill>
              <a:srgbClr val="E9D8FD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9600" y="48291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49" name="Text 47"/>
          <p:cNvSpPr/>
          <p:nvPr/>
        </p:nvSpPr>
        <p:spPr>
          <a:xfrm>
            <a:off x="981075" y="481012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Design Principles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674019" y="51911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807369" y="5324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52" name="Text 50"/>
          <p:cNvSpPr/>
          <p:nvPr/>
        </p:nvSpPr>
        <p:spPr>
          <a:xfrm>
            <a:off x="542925" y="5724525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Modularity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47688" y="5953125"/>
            <a:ext cx="271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 components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469606" y="51911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614863" y="53244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1906" y="11906"/>
                </a:moveTo>
                <a:cubicBezTo>
                  <a:pt x="5321" y="11906"/>
                  <a:pt x="0" y="17227"/>
                  <a:pt x="0" y="23812"/>
                </a:cubicBezTo>
                <a:lnTo>
                  <a:pt x="0" y="59531"/>
                </a:lnTo>
                <a:cubicBezTo>
                  <a:pt x="0" y="66117"/>
                  <a:pt x="5321" y="71438"/>
                  <a:pt x="11906" y="71438"/>
                </a:cubicBezTo>
                <a:cubicBezTo>
                  <a:pt x="18492" y="71438"/>
                  <a:pt x="23812" y="66117"/>
                  <a:pt x="23812" y="59531"/>
                </a:cubicBezTo>
                <a:lnTo>
                  <a:pt x="23812" y="35719"/>
                </a:lnTo>
                <a:lnTo>
                  <a:pt x="47625" y="35719"/>
                </a:lnTo>
                <a:cubicBezTo>
                  <a:pt x="54211" y="35719"/>
                  <a:pt x="59531" y="30398"/>
                  <a:pt x="59531" y="23812"/>
                </a:cubicBezTo>
                <a:cubicBezTo>
                  <a:pt x="59531" y="17227"/>
                  <a:pt x="54211" y="11906"/>
                  <a:pt x="47625" y="11906"/>
                </a:cubicBezTo>
                <a:lnTo>
                  <a:pt x="11906" y="11906"/>
                </a:lnTo>
                <a:close/>
                <a:moveTo>
                  <a:pt x="23812" y="130969"/>
                </a:moveTo>
                <a:cubicBezTo>
                  <a:pt x="23812" y="124383"/>
                  <a:pt x="18492" y="119063"/>
                  <a:pt x="11906" y="119063"/>
                </a:cubicBezTo>
                <a:cubicBezTo>
                  <a:pt x="5321" y="119063"/>
                  <a:pt x="0" y="124383"/>
                  <a:pt x="0" y="130969"/>
                </a:cubicBezTo>
                <a:lnTo>
                  <a:pt x="0" y="166688"/>
                </a:lnTo>
                <a:cubicBezTo>
                  <a:pt x="0" y="173273"/>
                  <a:pt x="5321" y="178594"/>
                  <a:pt x="11906" y="178594"/>
                </a:cubicBezTo>
                <a:lnTo>
                  <a:pt x="47625" y="178594"/>
                </a:lnTo>
                <a:cubicBezTo>
                  <a:pt x="54211" y="178594"/>
                  <a:pt x="59531" y="173273"/>
                  <a:pt x="59531" y="166688"/>
                </a:cubicBezTo>
                <a:cubicBezTo>
                  <a:pt x="59531" y="160102"/>
                  <a:pt x="54211" y="154781"/>
                  <a:pt x="47625" y="154781"/>
                </a:cubicBezTo>
                <a:lnTo>
                  <a:pt x="23812" y="154781"/>
                </a:lnTo>
                <a:lnTo>
                  <a:pt x="23812" y="130969"/>
                </a:lnTo>
                <a:close/>
                <a:moveTo>
                  <a:pt x="119063" y="11906"/>
                </a:moveTo>
                <a:cubicBezTo>
                  <a:pt x="112477" y="11906"/>
                  <a:pt x="107156" y="17227"/>
                  <a:pt x="107156" y="23812"/>
                </a:cubicBezTo>
                <a:cubicBezTo>
                  <a:pt x="107156" y="30398"/>
                  <a:pt x="112477" y="35719"/>
                  <a:pt x="119063" y="35719"/>
                </a:cubicBezTo>
                <a:lnTo>
                  <a:pt x="142875" y="35719"/>
                </a:lnTo>
                <a:lnTo>
                  <a:pt x="142875" y="59531"/>
                </a:lnTo>
                <a:cubicBezTo>
                  <a:pt x="142875" y="66117"/>
                  <a:pt x="148196" y="71438"/>
                  <a:pt x="154781" y="71438"/>
                </a:cubicBezTo>
                <a:cubicBezTo>
                  <a:pt x="161367" y="71438"/>
                  <a:pt x="166688" y="66117"/>
                  <a:pt x="166688" y="59531"/>
                </a:cubicBezTo>
                <a:lnTo>
                  <a:pt x="166688" y="23812"/>
                </a:lnTo>
                <a:cubicBezTo>
                  <a:pt x="166688" y="17227"/>
                  <a:pt x="161367" y="11906"/>
                  <a:pt x="154781" y="11906"/>
                </a:cubicBezTo>
                <a:lnTo>
                  <a:pt x="119063" y="11906"/>
                </a:lnTo>
                <a:close/>
                <a:moveTo>
                  <a:pt x="166688" y="130969"/>
                </a:moveTo>
                <a:cubicBezTo>
                  <a:pt x="166688" y="124383"/>
                  <a:pt x="161367" y="119063"/>
                  <a:pt x="154781" y="119063"/>
                </a:cubicBezTo>
                <a:cubicBezTo>
                  <a:pt x="148196" y="119063"/>
                  <a:pt x="142875" y="124383"/>
                  <a:pt x="142875" y="130969"/>
                </a:cubicBezTo>
                <a:lnTo>
                  <a:pt x="142875" y="154781"/>
                </a:lnTo>
                <a:lnTo>
                  <a:pt x="119063" y="154781"/>
                </a:lnTo>
                <a:cubicBezTo>
                  <a:pt x="112477" y="154781"/>
                  <a:pt x="107156" y="160102"/>
                  <a:pt x="107156" y="166688"/>
                </a:cubicBezTo>
                <a:cubicBezTo>
                  <a:pt x="107156" y="173273"/>
                  <a:pt x="112477" y="178594"/>
                  <a:pt x="119063" y="178594"/>
                </a:cubicBezTo>
                <a:lnTo>
                  <a:pt x="154781" y="178594"/>
                </a:lnTo>
                <a:cubicBezTo>
                  <a:pt x="161367" y="178594"/>
                  <a:pt x="166688" y="173273"/>
                  <a:pt x="166688" y="166688"/>
                </a:cubicBezTo>
                <a:lnTo>
                  <a:pt x="166688" y="130969"/>
                </a:ln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56" name="Text 54"/>
          <p:cNvSpPr/>
          <p:nvPr/>
        </p:nvSpPr>
        <p:spPr>
          <a:xfrm>
            <a:off x="3338513" y="5724525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3343275" y="5953125"/>
            <a:ext cx="271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Cloud-based growth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265194" y="51911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386638" y="53244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89533" y="36686"/>
                </a:moveTo>
                <a:cubicBezTo>
                  <a:pt x="192360" y="33858"/>
                  <a:pt x="197086" y="34565"/>
                  <a:pt x="198500" y="38286"/>
                </a:cubicBezTo>
                <a:cubicBezTo>
                  <a:pt x="201030" y="44872"/>
                  <a:pt x="202406" y="52053"/>
                  <a:pt x="202406" y="59531"/>
                </a:cubicBezTo>
                <a:cubicBezTo>
                  <a:pt x="202406" y="92422"/>
                  <a:pt x="175766" y="119063"/>
                  <a:pt x="142875" y="119063"/>
                </a:cubicBezTo>
                <a:cubicBezTo>
                  <a:pt x="136364" y="119063"/>
                  <a:pt x="130076" y="118021"/>
                  <a:pt x="124197" y="116086"/>
                </a:cubicBezTo>
                <a:lnTo>
                  <a:pt x="54657" y="185626"/>
                </a:lnTo>
                <a:cubicBezTo>
                  <a:pt x="44202" y="196081"/>
                  <a:pt x="27236" y="196081"/>
                  <a:pt x="16780" y="185626"/>
                </a:cubicBezTo>
                <a:cubicBezTo>
                  <a:pt x="6325" y="175171"/>
                  <a:pt x="6325" y="158204"/>
                  <a:pt x="16780" y="147749"/>
                </a:cubicBezTo>
                <a:lnTo>
                  <a:pt x="86320" y="78209"/>
                </a:lnTo>
                <a:cubicBezTo>
                  <a:pt x="84386" y="72330"/>
                  <a:pt x="83344" y="66080"/>
                  <a:pt x="83344" y="59531"/>
                </a:cubicBezTo>
                <a:cubicBezTo>
                  <a:pt x="83344" y="26640"/>
                  <a:pt x="109984" y="0"/>
                  <a:pt x="142875" y="0"/>
                </a:cubicBezTo>
                <a:cubicBezTo>
                  <a:pt x="150354" y="0"/>
                  <a:pt x="157535" y="1377"/>
                  <a:pt x="164120" y="3907"/>
                </a:cubicBezTo>
                <a:cubicBezTo>
                  <a:pt x="167841" y="5321"/>
                  <a:pt x="168511" y="10046"/>
                  <a:pt x="165720" y="12874"/>
                </a:cubicBezTo>
                <a:lnTo>
                  <a:pt x="132717" y="45876"/>
                </a:lnTo>
                <a:cubicBezTo>
                  <a:pt x="131601" y="46992"/>
                  <a:pt x="130969" y="48518"/>
                  <a:pt x="130969" y="50081"/>
                </a:cubicBezTo>
                <a:lnTo>
                  <a:pt x="130969" y="65484"/>
                </a:lnTo>
                <a:cubicBezTo>
                  <a:pt x="130969" y="68759"/>
                  <a:pt x="133648" y="71438"/>
                  <a:pt x="136922" y="71438"/>
                </a:cubicBezTo>
                <a:lnTo>
                  <a:pt x="152326" y="71438"/>
                </a:lnTo>
                <a:cubicBezTo>
                  <a:pt x="153888" y="71438"/>
                  <a:pt x="155414" y="70805"/>
                  <a:pt x="156530" y="69689"/>
                </a:cubicBezTo>
                <a:lnTo>
                  <a:pt x="189533" y="36686"/>
                </a:ln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60" name="Text 58"/>
          <p:cNvSpPr/>
          <p:nvPr/>
        </p:nvSpPr>
        <p:spPr>
          <a:xfrm>
            <a:off x="6134100" y="5724525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Maintainability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138863" y="5953125"/>
            <a:ext cx="271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updates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0060781" y="51911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0206038" y="53244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64" name="Text 62"/>
          <p:cNvSpPr/>
          <p:nvPr/>
        </p:nvSpPr>
        <p:spPr>
          <a:xfrm>
            <a:off x="8929688" y="5724525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Efficiency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934450" y="5953125"/>
            <a:ext cx="271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 performance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3701" y="373701"/>
            <a:ext cx="11519338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spc="59" kern="0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3701" y="672662"/>
            <a:ext cx="11612763" cy="37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Flow &amp; Module Design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3701" y="1158474"/>
            <a:ext cx="896883" cy="37370"/>
          </a:xfrm>
          <a:prstGeom prst="roundRect">
            <a:avLst>
              <a:gd name="adj" fmla="val 0"/>
            </a:avLst>
          </a:prstGeom>
          <a:solidFill>
            <a:srgbClr val="E9D8FD"/>
          </a:solidFill>
          <a:ln/>
        </p:spPr>
      </p:sp>
      <p:sp>
        <p:nvSpPr>
          <p:cNvPr id="5" name="Shape 3"/>
          <p:cNvSpPr/>
          <p:nvPr/>
        </p:nvSpPr>
        <p:spPr>
          <a:xfrm>
            <a:off x="378372" y="1387366"/>
            <a:ext cx="5596175" cy="5465379"/>
          </a:xfrm>
          <a:prstGeom prst="roundRect">
            <a:avLst>
              <a:gd name="adj" fmla="val 1368"/>
            </a:avLst>
          </a:prstGeom>
          <a:solidFill>
            <a:srgbClr val="4A5568">
              <a:alpha val="30196"/>
            </a:srgbClr>
          </a:solidFill>
          <a:ln w="12700">
            <a:solidFill>
              <a:srgbClr val="A0AEC0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7922" y="1597572"/>
            <a:ext cx="224221" cy="224221"/>
          </a:xfrm>
          <a:custGeom>
            <a:avLst/>
            <a:gdLst/>
            <a:ahLst/>
            <a:cxnLst/>
            <a:rect l="l" t="t" r="r" b="b"/>
            <a:pathLst>
              <a:path w="224221" h="224221">
                <a:moveTo>
                  <a:pt x="0" y="35034"/>
                </a:moveTo>
                <a:cubicBezTo>
                  <a:pt x="0" y="23429"/>
                  <a:pt x="9416" y="14014"/>
                  <a:pt x="21021" y="14014"/>
                </a:cubicBezTo>
                <a:lnTo>
                  <a:pt x="63062" y="14014"/>
                </a:lnTo>
                <a:cubicBezTo>
                  <a:pt x="74667" y="14014"/>
                  <a:pt x="84083" y="23429"/>
                  <a:pt x="84083" y="35034"/>
                </a:cubicBezTo>
                <a:lnTo>
                  <a:pt x="84083" y="42041"/>
                </a:lnTo>
                <a:lnTo>
                  <a:pt x="140138" y="42041"/>
                </a:lnTo>
                <a:lnTo>
                  <a:pt x="140138" y="35034"/>
                </a:lnTo>
                <a:cubicBezTo>
                  <a:pt x="140138" y="23429"/>
                  <a:pt x="149553" y="14014"/>
                  <a:pt x="161159" y="14014"/>
                </a:cubicBezTo>
                <a:lnTo>
                  <a:pt x="203200" y="14014"/>
                </a:lnTo>
                <a:cubicBezTo>
                  <a:pt x="214805" y="14014"/>
                  <a:pt x="224221" y="23429"/>
                  <a:pt x="224221" y="35034"/>
                </a:cubicBezTo>
                <a:lnTo>
                  <a:pt x="224221" y="77076"/>
                </a:lnTo>
                <a:cubicBezTo>
                  <a:pt x="224221" y="88681"/>
                  <a:pt x="214805" y="98097"/>
                  <a:pt x="203200" y="98097"/>
                </a:cubicBezTo>
                <a:lnTo>
                  <a:pt x="161159" y="98097"/>
                </a:lnTo>
                <a:cubicBezTo>
                  <a:pt x="149553" y="98097"/>
                  <a:pt x="140138" y="88681"/>
                  <a:pt x="140138" y="77076"/>
                </a:cubicBezTo>
                <a:lnTo>
                  <a:pt x="140138" y="70069"/>
                </a:lnTo>
                <a:lnTo>
                  <a:pt x="84083" y="70069"/>
                </a:lnTo>
                <a:lnTo>
                  <a:pt x="84083" y="77076"/>
                </a:lnTo>
                <a:cubicBezTo>
                  <a:pt x="84083" y="80273"/>
                  <a:pt x="83338" y="83338"/>
                  <a:pt x="82068" y="86053"/>
                </a:cubicBezTo>
                <a:lnTo>
                  <a:pt x="112110" y="126124"/>
                </a:lnTo>
                <a:lnTo>
                  <a:pt x="147145" y="126124"/>
                </a:lnTo>
                <a:cubicBezTo>
                  <a:pt x="158750" y="126124"/>
                  <a:pt x="168166" y="135540"/>
                  <a:pt x="168166" y="147145"/>
                </a:cubicBezTo>
                <a:lnTo>
                  <a:pt x="168166" y="189186"/>
                </a:lnTo>
                <a:cubicBezTo>
                  <a:pt x="168166" y="200791"/>
                  <a:pt x="158750" y="210207"/>
                  <a:pt x="147145" y="210207"/>
                </a:cubicBezTo>
                <a:lnTo>
                  <a:pt x="105103" y="210207"/>
                </a:lnTo>
                <a:cubicBezTo>
                  <a:pt x="93498" y="210207"/>
                  <a:pt x="84083" y="200791"/>
                  <a:pt x="84083" y="189186"/>
                </a:cubicBezTo>
                <a:lnTo>
                  <a:pt x="84083" y="147145"/>
                </a:lnTo>
                <a:cubicBezTo>
                  <a:pt x="84083" y="143948"/>
                  <a:pt x="84827" y="140882"/>
                  <a:pt x="86097" y="138167"/>
                </a:cubicBezTo>
                <a:lnTo>
                  <a:pt x="56055" y="98097"/>
                </a:lnTo>
                <a:lnTo>
                  <a:pt x="21021" y="98097"/>
                </a:lnTo>
                <a:cubicBezTo>
                  <a:pt x="9416" y="98097"/>
                  <a:pt x="0" y="88681"/>
                  <a:pt x="0" y="77076"/>
                </a:cubicBezTo>
                <a:lnTo>
                  <a:pt x="0" y="35034"/>
                </a:ln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7" name="Text 5"/>
          <p:cNvSpPr/>
          <p:nvPr/>
        </p:nvSpPr>
        <p:spPr>
          <a:xfrm>
            <a:off x="962280" y="1578887"/>
            <a:ext cx="1606915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Flow Pipeline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9894" y="2120754"/>
            <a:ext cx="373701" cy="373701"/>
          </a:xfrm>
          <a:prstGeom prst="roundRect">
            <a:avLst>
              <a:gd name="adj" fmla="val 2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2951" y="2195494"/>
            <a:ext cx="121453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55706" y="1989959"/>
            <a:ext cx="4727320" cy="635292"/>
          </a:xfrm>
          <a:prstGeom prst="roundRect">
            <a:avLst>
              <a:gd name="adj" fmla="val 11765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67816" y="2102069"/>
            <a:ext cx="4577839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Data Input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67816" y="2326290"/>
            <a:ext cx="4568497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CSV datasets + User input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122448" y="2737361"/>
            <a:ext cx="112110" cy="149480"/>
          </a:xfrm>
          <a:custGeom>
            <a:avLst/>
            <a:gdLst/>
            <a:ahLst/>
            <a:cxnLst/>
            <a:rect l="l" t="t" r="r" b="b"/>
            <a:pathLst>
              <a:path w="112110" h="149480">
                <a:moveTo>
                  <a:pt x="49457" y="146736"/>
                </a:moveTo>
                <a:cubicBezTo>
                  <a:pt x="53106" y="150386"/>
                  <a:pt x="59033" y="150386"/>
                  <a:pt x="62683" y="146736"/>
                </a:cubicBezTo>
                <a:lnTo>
                  <a:pt x="109395" y="100023"/>
                </a:lnTo>
                <a:cubicBezTo>
                  <a:pt x="113045" y="96374"/>
                  <a:pt x="113045" y="90447"/>
                  <a:pt x="109395" y="86798"/>
                </a:cubicBezTo>
                <a:cubicBezTo>
                  <a:pt x="105746" y="83149"/>
                  <a:pt x="99819" y="83149"/>
                  <a:pt x="96170" y="86798"/>
                </a:cubicBezTo>
                <a:lnTo>
                  <a:pt x="65398" y="117570"/>
                </a:lnTo>
                <a:lnTo>
                  <a:pt x="65398" y="9343"/>
                </a:lnTo>
                <a:cubicBezTo>
                  <a:pt x="65398" y="4175"/>
                  <a:pt x="61223" y="0"/>
                  <a:pt x="56055" y="0"/>
                </a:cubicBezTo>
                <a:cubicBezTo>
                  <a:pt x="50888" y="0"/>
                  <a:pt x="46713" y="4175"/>
                  <a:pt x="46713" y="9343"/>
                </a:cubicBezTo>
                <a:lnTo>
                  <a:pt x="46713" y="117570"/>
                </a:lnTo>
                <a:lnTo>
                  <a:pt x="15941" y="86798"/>
                </a:lnTo>
                <a:cubicBezTo>
                  <a:pt x="12291" y="83149"/>
                  <a:pt x="6365" y="83149"/>
                  <a:pt x="2715" y="86798"/>
                </a:cubicBezTo>
                <a:cubicBezTo>
                  <a:pt x="-934" y="90447"/>
                  <a:pt x="-934" y="96374"/>
                  <a:pt x="2715" y="100023"/>
                </a:cubicBezTo>
                <a:lnTo>
                  <a:pt x="49428" y="146736"/>
                </a:ln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14" name="Shape 12"/>
          <p:cNvSpPr/>
          <p:nvPr/>
        </p:nvSpPr>
        <p:spPr>
          <a:xfrm>
            <a:off x="569894" y="3129747"/>
            <a:ext cx="373701" cy="373701"/>
          </a:xfrm>
          <a:prstGeom prst="roundRect">
            <a:avLst>
              <a:gd name="adj" fmla="val 2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18645" y="3204487"/>
            <a:ext cx="149480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55706" y="2998952"/>
            <a:ext cx="4727320" cy="635292"/>
          </a:xfrm>
          <a:prstGeom prst="roundRect">
            <a:avLst>
              <a:gd name="adj" fmla="val 11765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67816" y="3111062"/>
            <a:ext cx="4577839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67816" y="3335283"/>
            <a:ext cx="4568497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Cleaning, normalization, NLP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122448" y="3746354"/>
            <a:ext cx="112110" cy="149480"/>
          </a:xfrm>
          <a:custGeom>
            <a:avLst/>
            <a:gdLst/>
            <a:ahLst/>
            <a:cxnLst/>
            <a:rect l="l" t="t" r="r" b="b"/>
            <a:pathLst>
              <a:path w="112110" h="149480">
                <a:moveTo>
                  <a:pt x="49457" y="146736"/>
                </a:moveTo>
                <a:cubicBezTo>
                  <a:pt x="53106" y="150386"/>
                  <a:pt x="59033" y="150386"/>
                  <a:pt x="62683" y="146736"/>
                </a:cubicBezTo>
                <a:lnTo>
                  <a:pt x="109395" y="100023"/>
                </a:lnTo>
                <a:cubicBezTo>
                  <a:pt x="113045" y="96374"/>
                  <a:pt x="113045" y="90447"/>
                  <a:pt x="109395" y="86798"/>
                </a:cubicBezTo>
                <a:cubicBezTo>
                  <a:pt x="105746" y="83149"/>
                  <a:pt x="99819" y="83149"/>
                  <a:pt x="96170" y="86798"/>
                </a:cubicBezTo>
                <a:lnTo>
                  <a:pt x="65398" y="117570"/>
                </a:lnTo>
                <a:lnTo>
                  <a:pt x="65398" y="9343"/>
                </a:lnTo>
                <a:cubicBezTo>
                  <a:pt x="65398" y="4175"/>
                  <a:pt x="61223" y="0"/>
                  <a:pt x="56055" y="0"/>
                </a:cubicBezTo>
                <a:cubicBezTo>
                  <a:pt x="50888" y="0"/>
                  <a:pt x="46713" y="4175"/>
                  <a:pt x="46713" y="9343"/>
                </a:cubicBezTo>
                <a:lnTo>
                  <a:pt x="46713" y="117570"/>
                </a:lnTo>
                <a:lnTo>
                  <a:pt x="15941" y="86798"/>
                </a:lnTo>
                <a:cubicBezTo>
                  <a:pt x="12291" y="83149"/>
                  <a:pt x="6365" y="83149"/>
                  <a:pt x="2715" y="86798"/>
                </a:cubicBezTo>
                <a:cubicBezTo>
                  <a:pt x="-934" y="90447"/>
                  <a:pt x="-934" y="96374"/>
                  <a:pt x="2715" y="100023"/>
                </a:cubicBezTo>
                <a:lnTo>
                  <a:pt x="49428" y="146736"/>
                </a:ln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20" name="Shape 18"/>
          <p:cNvSpPr/>
          <p:nvPr/>
        </p:nvSpPr>
        <p:spPr>
          <a:xfrm>
            <a:off x="569894" y="4138740"/>
            <a:ext cx="373701" cy="373701"/>
          </a:xfrm>
          <a:prstGeom prst="roundRect">
            <a:avLst>
              <a:gd name="adj" fmla="val 2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16747" y="4213480"/>
            <a:ext cx="158823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55706" y="4007945"/>
            <a:ext cx="4727320" cy="635292"/>
          </a:xfrm>
          <a:prstGeom prst="roundRect">
            <a:avLst>
              <a:gd name="adj" fmla="val 11765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67816" y="4120055"/>
            <a:ext cx="4577839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67816" y="4344276"/>
            <a:ext cx="4568497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TF-IDF, sentiment scores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122448" y="4755347"/>
            <a:ext cx="112110" cy="149480"/>
          </a:xfrm>
          <a:custGeom>
            <a:avLst/>
            <a:gdLst/>
            <a:ahLst/>
            <a:cxnLst/>
            <a:rect l="l" t="t" r="r" b="b"/>
            <a:pathLst>
              <a:path w="112110" h="149480">
                <a:moveTo>
                  <a:pt x="49457" y="146736"/>
                </a:moveTo>
                <a:cubicBezTo>
                  <a:pt x="53106" y="150386"/>
                  <a:pt x="59033" y="150386"/>
                  <a:pt x="62683" y="146736"/>
                </a:cubicBezTo>
                <a:lnTo>
                  <a:pt x="109395" y="100023"/>
                </a:lnTo>
                <a:cubicBezTo>
                  <a:pt x="113045" y="96374"/>
                  <a:pt x="113045" y="90447"/>
                  <a:pt x="109395" y="86798"/>
                </a:cubicBezTo>
                <a:cubicBezTo>
                  <a:pt x="105746" y="83149"/>
                  <a:pt x="99819" y="83149"/>
                  <a:pt x="96170" y="86798"/>
                </a:cubicBezTo>
                <a:lnTo>
                  <a:pt x="65398" y="117570"/>
                </a:lnTo>
                <a:lnTo>
                  <a:pt x="65398" y="9343"/>
                </a:lnTo>
                <a:cubicBezTo>
                  <a:pt x="65398" y="4175"/>
                  <a:pt x="61223" y="0"/>
                  <a:pt x="56055" y="0"/>
                </a:cubicBezTo>
                <a:cubicBezTo>
                  <a:pt x="50888" y="0"/>
                  <a:pt x="46713" y="4175"/>
                  <a:pt x="46713" y="9343"/>
                </a:cubicBezTo>
                <a:lnTo>
                  <a:pt x="46713" y="117570"/>
                </a:lnTo>
                <a:lnTo>
                  <a:pt x="15941" y="86798"/>
                </a:lnTo>
                <a:cubicBezTo>
                  <a:pt x="12291" y="83149"/>
                  <a:pt x="6365" y="83149"/>
                  <a:pt x="2715" y="86798"/>
                </a:cubicBezTo>
                <a:cubicBezTo>
                  <a:pt x="-934" y="90447"/>
                  <a:pt x="-934" y="96374"/>
                  <a:pt x="2715" y="100023"/>
                </a:cubicBezTo>
                <a:lnTo>
                  <a:pt x="49428" y="146736"/>
                </a:ln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26" name="Shape 24"/>
          <p:cNvSpPr/>
          <p:nvPr/>
        </p:nvSpPr>
        <p:spPr>
          <a:xfrm>
            <a:off x="569894" y="5147733"/>
            <a:ext cx="373701" cy="373701"/>
          </a:xfrm>
          <a:prstGeom prst="roundRect">
            <a:avLst>
              <a:gd name="adj" fmla="val 2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18645" y="5222474"/>
            <a:ext cx="149480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55706" y="5016938"/>
            <a:ext cx="4727320" cy="635292"/>
          </a:xfrm>
          <a:prstGeom prst="roundRect">
            <a:avLst>
              <a:gd name="adj" fmla="val 11765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67816" y="5129048"/>
            <a:ext cx="4577839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Prediction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67816" y="5353269"/>
            <a:ext cx="4568497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ONNX inference via API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122448" y="5764340"/>
            <a:ext cx="112110" cy="149480"/>
          </a:xfrm>
          <a:custGeom>
            <a:avLst/>
            <a:gdLst/>
            <a:ahLst/>
            <a:cxnLst/>
            <a:rect l="l" t="t" r="r" b="b"/>
            <a:pathLst>
              <a:path w="112110" h="149480">
                <a:moveTo>
                  <a:pt x="49457" y="146736"/>
                </a:moveTo>
                <a:cubicBezTo>
                  <a:pt x="53106" y="150386"/>
                  <a:pt x="59033" y="150386"/>
                  <a:pt x="62683" y="146736"/>
                </a:cubicBezTo>
                <a:lnTo>
                  <a:pt x="109395" y="100023"/>
                </a:lnTo>
                <a:cubicBezTo>
                  <a:pt x="113045" y="96374"/>
                  <a:pt x="113045" y="90447"/>
                  <a:pt x="109395" y="86798"/>
                </a:cubicBezTo>
                <a:cubicBezTo>
                  <a:pt x="105746" y="83149"/>
                  <a:pt x="99819" y="83149"/>
                  <a:pt x="96170" y="86798"/>
                </a:cubicBezTo>
                <a:lnTo>
                  <a:pt x="65398" y="117570"/>
                </a:lnTo>
                <a:lnTo>
                  <a:pt x="65398" y="9343"/>
                </a:lnTo>
                <a:cubicBezTo>
                  <a:pt x="65398" y="4175"/>
                  <a:pt x="61223" y="0"/>
                  <a:pt x="56055" y="0"/>
                </a:cubicBezTo>
                <a:cubicBezTo>
                  <a:pt x="50888" y="0"/>
                  <a:pt x="46713" y="4175"/>
                  <a:pt x="46713" y="9343"/>
                </a:cubicBezTo>
                <a:lnTo>
                  <a:pt x="46713" y="117570"/>
                </a:lnTo>
                <a:lnTo>
                  <a:pt x="15941" y="86798"/>
                </a:lnTo>
                <a:cubicBezTo>
                  <a:pt x="12291" y="83149"/>
                  <a:pt x="6365" y="83149"/>
                  <a:pt x="2715" y="86798"/>
                </a:cubicBezTo>
                <a:cubicBezTo>
                  <a:pt x="-934" y="90447"/>
                  <a:pt x="-934" y="96374"/>
                  <a:pt x="2715" y="100023"/>
                </a:cubicBezTo>
                <a:lnTo>
                  <a:pt x="49428" y="146736"/>
                </a:ln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32" name="Shape 30"/>
          <p:cNvSpPr/>
          <p:nvPr/>
        </p:nvSpPr>
        <p:spPr>
          <a:xfrm>
            <a:off x="569894" y="6156726"/>
            <a:ext cx="373701" cy="373701"/>
          </a:xfrm>
          <a:prstGeom prst="roundRect">
            <a:avLst>
              <a:gd name="adj" fmla="val 2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16455" y="6231467"/>
            <a:ext cx="158823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55706" y="6025931"/>
            <a:ext cx="4727320" cy="635292"/>
          </a:xfrm>
          <a:prstGeom prst="roundRect">
            <a:avLst>
              <a:gd name="adj" fmla="val 11765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167816" y="6138041"/>
            <a:ext cx="4577839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 Output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67816" y="6362262"/>
            <a:ext cx="4568497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Disorder classification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12198" y="1387366"/>
            <a:ext cx="5596175" cy="5465379"/>
          </a:xfrm>
          <a:prstGeom prst="roundRect">
            <a:avLst>
              <a:gd name="adj" fmla="val 1368"/>
            </a:avLst>
          </a:prstGeom>
          <a:solidFill>
            <a:srgbClr val="4A5568">
              <a:alpha val="30196"/>
            </a:srgbClr>
          </a:solidFill>
          <a:ln w="12700">
            <a:solidFill>
              <a:srgbClr val="A0AEC0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31747" y="1597572"/>
            <a:ext cx="224221" cy="224221"/>
          </a:xfrm>
          <a:custGeom>
            <a:avLst/>
            <a:gdLst/>
            <a:ahLst/>
            <a:cxnLst/>
            <a:rect l="l" t="t" r="r" b="b"/>
            <a:pathLst>
              <a:path w="224221" h="224221">
                <a:moveTo>
                  <a:pt x="124372" y="-569"/>
                </a:moveTo>
                <a:cubicBezTo>
                  <a:pt x="116796" y="-4949"/>
                  <a:pt x="107424" y="-4949"/>
                  <a:pt x="99848" y="-569"/>
                </a:cubicBezTo>
                <a:lnTo>
                  <a:pt x="62974" y="20714"/>
                </a:lnTo>
                <a:cubicBezTo>
                  <a:pt x="55398" y="25093"/>
                  <a:pt x="50712" y="33195"/>
                  <a:pt x="50712" y="41954"/>
                </a:cubicBezTo>
                <a:lnTo>
                  <a:pt x="50712" y="86579"/>
                </a:lnTo>
                <a:lnTo>
                  <a:pt x="12043" y="108913"/>
                </a:lnTo>
                <a:cubicBezTo>
                  <a:pt x="4467" y="113293"/>
                  <a:pt x="-219" y="121394"/>
                  <a:pt x="-219" y="130153"/>
                </a:cubicBezTo>
                <a:lnTo>
                  <a:pt x="-219" y="172764"/>
                </a:lnTo>
                <a:cubicBezTo>
                  <a:pt x="-219" y="181522"/>
                  <a:pt x="4467" y="189624"/>
                  <a:pt x="12043" y="194003"/>
                </a:cubicBezTo>
                <a:lnTo>
                  <a:pt x="48961" y="215287"/>
                </a:lnTo>
                <a:cubicBezTo>
                  <a:pt x="56537" y="219666"/>
                  <a:pt x="65909" y="219666"/>
                  <a:pt x="73485" y="215287"/>
                </a:cubicBezTo>
                <a:lnTo>
                  <a:pt x="112154" y="192952"/>
                </a:lnTo>
                <a:lnTo>
                  <a:pt x="150823" y="215287"/>
                </a:lnTo>
                <a:cubicBezTo>
                  <a:pt x="158400" y="219666"/>
                  <a:pt x="167771" y="219666"/>
                  <a:pt x="175348" y="215287"/>
                </a:cubicBezTo>
                <a:lnTo>
                  <a:pt x="212178" y="194003"/>
                </a:lnTo>
                <a:cubicBezTo>
                  <a:pt x="219754" y="189624"/>
                  <a:pt x="224440" y="181522"/>
                  <a:pt x="224440" y="172764"/>
                </a:cubicBezTo>
                <a:lnTo>
                  <a:pt x="224440" y="130153"/>
                </a:lnTo>
                <a:cubicBezTo>
                  <a:pt x="224440" y="121394"/>
                  <a:pt x="219754" y="113293"/>
                  <a:pt x="212178" y="108913"/>
                </a:cubicBezTo>
                <a:lnTo>
                  <a:pt x="173508" y="86579"/>
                </a:lnTo>
                <a:lnTo>
                  <a:pt x="173508" y="41954"/>
                </a:lnTo>
                <a:cubicBezTo>
                  <a:pt x="173508" y="33195"/>
                  <a:pt x="168822" y="25093"/>
                  <a:pt x="161246" y="20714"/>
                </a:cubicBezTo>
                <a:lnTo>
                  <a:pt x="124372" y="-569"/>
                </a:lnTo>
                <a:close/>
                <a:moveTo>
                  <a:pt x="101600" y="128139"/>
                </a:moveTo>
                <a:lnTo>
                  <a:pt x="101600" y="174778"/>
                </a:lnTo>
                <a:lnTo>
                  <a:pt x="62931" y="197113"/>
                </a:lnTo>
                <a:cubicBezTo>
                  <a:pt x="62405" y="197419"/>
                  <a:pt x="61792" y="197594"/>
                  <a:pt x="61179" y="197594"/>
                </a:cubicBezTo>
                <a:lnTo>
                  <a:pt x="61179" y="151480"/>
                </a:lnTo>
                <a:lnTo>
                  <a:pt x="101600" y="128139"/>
                </a:lnTo>
                <a:close/>
                <a:moveTo>
                  <a:pt x="202937" y="128401"/>
                </a:moveTo>
                <a:cubicBezTo>
                  <a:pt x="203244" y="128927"/>
                  <a:pt x="203419" y="129540"/>
                  <a:pt x="203419" y="130153"/>
                </a:cubicBezTo>
                <a:lnTo>
                  <a:pt x="203419" y="172764"/>
                </a:lnTo>
                <a:cubicBezTo>
                  <a:pt x="203419" y="174034"/>
                  <a:pt x="202762" y="175172"/>
                  <a:pt x="201667" y="175786"/>
                </a:cubicBezTo>
                <a:lnTo>
                  <a:pt x="164750" y="197069"/>
                </a:lnTo>
                <a:cubicBezTo>
                  <a:pt x="164224" y="197376"/>
                  <a:pt x="163611" y="197551"/>
                  <a:pt x="162998" y="197551"/>
                </a:cubicBezTo>
                <a:lnTo>
                  <a:pt x="162998" y="151437"/>
                </a:lnTo>
                <a:lnTo>
                  <a:pt x="202937" y="128401"/>
                </a:lnTo>
                <a:close/>
                <a:moveTo>
                  <a:pt x="152531" y="41954"/>
                </a:moveTo>
                <a:lnTo>
                  <a:pt x="152531" y="86579"/>
                </a:lnTo>
                <a:lnTo>
                  <a:pt x="112110" y="109921"/>
                </a:lnTo>
                <a:lnTo>
                  <a:pt x="112110" y="63281"/>
                </a:lnTo>
                <a:lnTo>
                  <a:pt x="152050" y="40246"/>
                </a:lnTo>
                <a:cubicBezTo>
                  <a:pt x="152356" y="40771"/>
                  <a:pt x="152531" y="41384"/>
                  <a:pt x="152531" y="41998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39" name="Text 37"/>
          <p:cNvSpPr/>
          <p:nvPr/>
        </p:nvSpPr>
        <p:spPr>
          <a:xfrm>
            <a:off x="6796106" y="1578887"/>
            <a:ext cx="1550860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Major Modules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3720" y="1989959"/>
            <a:ext cx="2569195" cy="597922"/>
          </a:xfrm>
          <a:prstGeom prst="roundRect">
            <a:avLst>
              <a:gd name="adj" fmla="val 12500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50864" y="2130097"/>
            <a:ext cx="98097" cy="130795"/>
          </a:xfrm>
          <a:custGeom>
            <a:avLst/>
            <a:gdLst/>
            <a:ahLst/>
            <a:cxnLst/>
            <a:rect l="l" t="t" r="r" b="b"/>
            <a:pathLst>
              <a:path w="98097" h="130795">
                <a:moveTo>
                  <a:pt x="16349" y="0"/>
                </a:moveTo>
                <a:cubicBezTo>
                  <a:pt x="7332" y="0"/>
                  <a:pt x="0" y="7332"/>
                  <a:pt x="0" y="16349"/>
                </a:cubicBezTo>
                <a:lnTo>
                  <a:pt x="0" y="77660"/>
                </a:lnTo>
                <a:lnTo>
                  <a:pt x="46519" y="77660"/>
                </a:lnTo>
                <a:lnTo>
                  <a:pt x="38600" y="69741"/>
                </a:lnTo>
                <a:cubicBezTo>
                  <a:pt x="36199" y="67339"/>
                  <a:pt x="36199" y="63456"/>
                  <a:pt x="38600" y="61080"/>
                </a:cubicBezTo>
                <a:cubicBezTo>
                  <a:pt x="41001" y="58705"/>
                  <a:pt x="44884" y="58679"/>
                  <a:pt x="47260" y="61080"/>
                </a:cubicBezTo>
                <a:lnTo>
                  <a:pt x="65653" y="79474"/>
                </a:lnTo>
                <a:cubicBezTo>
                  <a:pt x="68054" y="81875"/>
                  <a:pt x="68054" y="85758"/>
                  <a:pt x="65653" y="88134"/>
                </a:cubicBezTo>
                <a:lnTo>
                  <a:pt x="47260" y="106527"/>
                </a:lnTo>
                <a:cubicBezTo>
                  <a:pt x="44859" y="108928"/>
                  <a:pt x="40976" y="108928"/>
                  <a:pt x="38600" y="106527"/>
                </a:cubicBezTo>
                <a:cubicBezTo>
                  <a:pt x="36224" y="104125"/>
                  <a:pt x="36199" y="100242"/>
                  <a:pt x="38600" y="97867"/>
                </a:cubicBezTo>
                <a:lnTo>
                  <a:pt x="46519" y="89947"/>
                </a:lnTo>
                <a:lnTo>
                  <a:pt x="0" y="89947"/>
                </a:lnTo>
                <a:lnTo>
                  <a:pt x="0" y="114472"/>
                </a:lnTo>
                <a:cubicBezTo>
                  <a:pt x="0" y="123489"/>
                  <a:pt x="7332" y="130821"/>
                  <a:pt x="16349" y="130821"/>
                </a:cubicBezTo>
                <a:lnTo>
                  <a:pt x="81747" y="130821"/>
                </a:lnTo>
                <a:cubicBezTo>
                  <a:pt x="90765" y="130821"/>
                  <a:pt x="98097" y="123489"/>
                  <a:pt x="98097" y="114472"/>
                </a:cubicBezTo>
                <a:lnTo>
                  <a:pt x="98097" y="43581"/>
                </a:lnTo>
                <a:cubicBezTo>
                  <a:pt x="98097" y="39239"/>
                  <a:pt x="96385" y="35075"/>
                  <a:pt x="93319" y="32009"/>
                </a:cubicBezTo>
                <a:lnTo>
                  <a:pt x="66087" y="4777"/>
                </a:lnTo>
                <a:cubicBezTo>
                  <a:pt x="63022" y="1712"/>
                  <a:pt x="58883" y="0"/>
                  <a:pt x="54541" y="0"/>
                </a:cubicBezTo>
                <a:lnTo>
                  <a:pt x="16349" y="0"/>
                </a:lnTo>
                <a:close/>
                <a:moveTo>
                  <a:pt x="83152" y="44961"/>
                </a:moveTo>
                <a:lnTo>
                  <a:pt x="59267" y="44961"/>
                </a:lnTo>
                <a:cubicBezTo>
                  <a:pt x="55869" y="44961"/>
                  <a:pt x="53136" y="42228"/>
                  <a:pt x="53136" y="38830"/>
                </a:cubicBezTo>
                <a:lnTo>
                  <a:pt x="53136" y="14944"/>
                </a:lnTo>
                <a:lnTo>
                  <a:pt x="83152" y="44961"/>
                </a:ln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42" name="Text 40"/>
          <p:cNvSpPr/>
          <p:nvPr/>
        </p:nvSpPr>
        <p:spPr>
          <a:xfrm>
            <a:off x="6754064" y="2102069"/>
            <a:ext cx="803457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Loading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15830" y="2326290"/>
            <a:ext cx="2401030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CSV import &amp; validation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049699" y="1989959"/>
            <a:ext cx="2569195" cy="597922"/>
          </a:xfrm>
          <a:prstGeom prst="roundRect">
            <a:avLst>
              <a:gd name="adj" fmla="val 12500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172320" y="2130097"/>
            <a:ext cx="147145" cy="130795"/>
          </a:xfrm>
          <a:custGeom>
            <a:avLst/>
            <a:gdLst/>
            <a:ahLst/>
            <a:cxnLst/>
            <a:rect l="l" t="t" r="r" b="b"/>
            <a:pathLst>
              <a:path w="147145" h="130795">
                <a:moveTo>
                  <a:pt x="144744" y="13948"/>
                </a:moveTo>
                <a:cubicBezTo>
                  <a:pt x="147937" y="10755"/>
                  <a:pt x="147937" y="5569"/>
                  <a:pt x="144744" y="2376"/>
                </a:cubicBezTo>
                <a:cubicBezTo>
                  <a:pt x="141550" y="-817"/>
                  <a:pt x="136364" y="-817"/>
                  <a:pt x="133171" y="2376"/>
                </a:cubicBezTo>
                <a:lnTo>
                  <a:pt x="84123" y="51424"/>
                </a:lnTo>
                <a:lnTo>
                  <a:pt x="75258" y="42560"/>
                </a:lnTo>
                <a:cubicBezTo>
                  <a:pt x="74186" y="41487"/>
                  <a:pt x="72704" y="40874"/>
                  <a:pt x="71171" y="40874"/>
                </a:cubicBezTo>
                <a:cubicBezTo>
                  <a:pt x="67978" y="40874"/>
                  <a:pt x="65398" y="43454"/>
                  <a:pt x="65398" y="46647"/>
                </a:cubicBezTo>
                <a:lnTo>
                  <a:pt x="65398" y="54081"/>
                </a:lnTo>
                <a:lnTo>
                  <a:pt x="93064" y="81747"/>
                </a:lnTo>
                <a:lnTo>
                  <a:pt x="100498" y="81747"/>
                </a:lnTo>
                <a:cubicBezTo>
                  <a:pt x="103691" y="81747"/>
                  <a:pt x="106271" y="79167"/>
                  <a:pt x="106271" y="75974"/>
                </a:cubicBezTo>
                <a:cubicBezTo>
                  <a:pt x="106271" y="74441"/>
                  <a:pt x="105658" y="72959"/>
                  <a:pt x="104585" y="71886"/>
                </a:cubicBezTo>
                <a:lnTo>
                  <a:pt x="95721" y="63022"/>
                </a:lnTo>
                <a:lnTo>
                  <a:pt x="144769" y="13974"/>
                </a:lnTo>
                <a:close/>
                <a:moveTo>
                  <a:pt x="87137" y="90279"/>
                </a:moveTo>
                <a:lnTo>
                  <a:pt x="56865" y="60008"/>
                </a:lnTo>
                <a:cubicBezTo>
                  <a:pt x="45957" y="59062"/>
                  <a:pt x="35100" y="62996"/>
                  <a:pt x="27283" y="70813"/>
                </a:cubicBezTo>
                <a:lnTo>
                  <a:pt x="25239" y="72857"/>
                </a:lnTo>
                <a:cubicBezTo>
                  <a:pt x="19543" y="78554"/>
                  <a:pt x="16349" y="86269"/>
                  <a:pt x="16349" y="94316"/>
                </a:cubicBezTo>
                <a:cubicBezTo>
                  <a:pt x="16349" y="96053"/>
                  <a:pt x="18163" y="97177"/>
                  <a:pt x="19721" y="96411"/>
                </a:cubicBezTo>
                <a:lnTo>
                  <a:pt x="32775" y="89896"/>
                </a:lnTo>
                <a:cubicBezTo>
                  <a:pt x="34053" y="89258"/>
                  <a:pt x="35202" y="90944"/>
                  <a:pt x="34155" y="91914"/>
                </a:cubicBezTo>
                <a:lnTo>
                  <a:pt x="1865" y="120935"/>
                </a:lnTo>
                <a:cubicBezTo>
                  <a:pt x="690" y="122008"/>
                  <a:pt x="0" y="123540"/>
                  <a:pt x="0" y="125150"/>
                </a:cubicBezTo>
                <a:cubicBezTo>
                  <a:pt x="0" y="128266"/>
                  <a:pt x="2529" y="130795"/>
                  <a:pt x="5646" y="130795"/>
                </a:cubicBezTo>
                <a:lnTo>
                  <a:pt x="49917" y="130795"/>
                </a:lnTo>
                <a:cubicBezTo>
                  <a:pt x="59829" y="130795"/>
                  <a:pt x="69306" y="126861"/>
                  <a:pt x="76331" y="119862"/>
                </a:cubicBezTo>
                <a:cubicBezTo>
                  <a:pt x="84148" y="112045"/>
                  <a:pt x="88057" y="101188"/>
                  <a:pt x="87137" y="90279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46" name="Text 44"/>
          <p:cNvSpPr/>
          <p:nvPr/>
        </p:nvSpPr>
        <p:spPr>
          <a:xfrm>
            <a:off x="9400044" y="2102069"/>
            <a:ext cx="850170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161809" y="2326290"/>
            <a:ext cx="2401030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values &amp; duplicates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03720" y="2662621"/>
            <a:ext cx="2569195" cy="597922"/>
          </a:xfrm>
          <a:prstGeom prst="roundRect">
            <a:avLst>
              <a:gd name="adj" fmla="val 12500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526340" y="2802759"/>
            <a:ext cx="147145" cy="130795"/>
          </a:xfrm>
          <a:custGeom>
            <a:avLst/>
            <a:gdLst/>
            <a:ahLst/>
            <a:cxnLst/>
            <a:rect l="l" t="t" r="r" b="b"/>
            <a:pathLst>
              <a:path w="147145" h="130795">
                <a:moveTo>
                  <a:pt x="40874" y="0"/>
                </a:moveTo>
                <a:cubicBezTo>
                  <a:pt x="45395" y="0"/>
                  <a:pt x="49048" y="3653"/>
                  <a:pt x="49048" y="8175"/>
                </a:cubicBezTo>
                <a:lnTo>
                  <a:pt x="49048" y="16349"/>
                </a:lnTo>
                <a:lnTo>
                  <a:pt x="81747" y="16349"/>
                </a:lnTo>
                <a:cubicBezTo>
                  <a:pt x="86269" y="16349"/>
                  <a:pt x="89922" y="20003"/>
                  <a:pt x="89922" y="24524"/>
                </a:cubicBezTo>
                <a:cubicBezTo>
                  <a:pt x="89922" y="29046"/>
                  <a:pt x="86269" y="32699"/>
                  <a:pt x="81747" y="32699"/>
                </a:cubicBezTo>
                <a:lnTo>
                  <a:pt x="79295" y="32699"/>
                </a:lnTo>
                <a:lnTo>
                  <a:pt x="77149" y="38600"/>
                </a:lnTo>
                <a:cubicBezTo>
                  <a:pt x="72959" y="50147"/>
                  <a:pt x="66649" y="60697"/>
                  <a:pt x="58705" y="69766"/>
                </a:cubicBezTo>
                <a:cubicBezTo>
                  <a:pt x="62332" y="72014"/>
                  <a:pt x="66113" y="74007"/>
                  <a:pt x="70047" y="75769"/>
                </a:cubicBezTo>
                <a:lnTo>
                  <a:pt x="82922" y="81492"/>
                </a:lnTo>
                <a:lnTo>
                  <a:pt x="98812" y="45727"/>
                </a:lnTo>
                <a:cubicBezTo>
                  <a:pt x="100115" y="42764"/>
                  <a:pt x="103052" y="40874"/>
                  <a:pt x="106271" y="40874"/>
                </a:cubicBezTo>
                <a:cubicBezTo>
                  <a:pt x="109490" y="40874"/>
                  <a:pt x="112428" y="42764"/>
                  <a:pt x="113731" y="45727"/>
                </a:cubicBezTo>
                <a:lnTo>
                  <a:pt x="146430" y="119300"/>
                </a:lnTo>
                <a:cubicBezTo>
                  <a:pt x="148269" y="123438"/>
                  <a:pt x="146404" y="128266"/>
                  <a:pt x="142291" y="130080"/>
                </a:cubicBezTo>
                <a:cubicBezTo>
                  <a:pt x="138178" y="131894"/>
                  <a:pt x="133324" y="130055"/>
                  <a:pt x="131511" y="125942"/>
                </a:cubicBezTo>
                <a:lnTo>
                  <a:pt x="126401" y="114446"/>
                </a:lnTo>
                <a:lnTo>
                  <a:pt x="86167" y="114446"/>
                </a:lnTo>
                <a:lnTo>
                  <a:pt x="81057" y="125942"/>
                </a:lnTo>
                <a:cubicBezTo>
                  <a:pt x="79218" y="130080"/>
                  <a:pt x="74390" y="131919"/>
                  <a:pt x="70277" y="130080"/>
                </a:cubicBezTo>
                <a:cubicBezTo>
                  <a:pt x="66164" y="128241"/>
                  <a:pt x="64299" y="123413"/>
                  <a:pt x="66139" y="119300"/>
                </a:cubicBezTo>
                <a:lnTo>
                  <a:pt x="76306" y="96436"/>
                </a:lnTo>
                <a:lnTo>
                  <a:pt x="63431" y="90714"/>
                </a:lnTo>
                <a:cubicBezTo>
                  <a:pt x="57555" y="88108"/>
                  <a:pt x="51935" y="84991"/>
                  <a:pt x="46621" y="81415"/>
                </a:cubicBezTo>
                <a:cubicBezTo>
                  <a:pt x="41180" y="85809"/>
                  <a:pt x="35228" y="89641"/>
                  <a:pt x="28867" y="92834"/>
                </a:cubicBezTo>
                <a:lnTo>
                  <a:pt x="20003" y="97228"/>
                </a:lnTo>
                <a:cubicBezTo>
                  <a:pt x="15966" y="99246"/>
                  <a:pt x="11061" y="97611"/>
                  <a:pt x="9043" y="93575"/>
                </a:cubicBezTo>
                <a:cubicBezTo>
                  <a:pt x="7025" y="89539"/>
                  <a:pt x="8660" y="84634"/>
                  <a:pt x="12696" y="82616"/>
                </a:cubicBezTo>
                <a:lnTo>
                  <a:pt x="21510" y="78196"/>
                </a:lnTo>
                <a:cubicBezTo>
                  <a:pt x="25674" y="76101"/>
                  <a:pt x="29633" y="73675"/>
                  <a:pt x="33363" y="70967"/>
                </a:cubicBezTo>
                <a:cubicBezTo>
                  <a:pt x="29838" y="67722"/>
                  <a:pt x="26517" y="64223"/>
                  <a:pt x="23426" y="60518"/>
                </a:cubicBezTo>
                <a:lnTo>
                  <a:pt x="20846" y="57402"/>
                </a:lnTo>
                <a:cubicBezTo>
                  <a:pt x="17959" y="53928"/>
                  <a:pt x="18419" y="48767"/>
                  <a:pt x="21893" y="45881"/>
                </a:cubicBezTo>
                <a:cubicBezTo>
                  <a:pt x="25367" y="42994"/>
                  <a:pt x="30527" y="43454"/>
                  <a:pt x="33414" y="46928"/>
                </a:cubicBezTo>
                <a:lnTo>
                  <a:pt x="36020" y="50045"/>
                </a:lnTo>
                <a:cubicBezTo>
                  <a:pt x="38958" y="53595"/>
                  <a:pt x="42176" y="56891"/>
                  <a:pt x="45574" y="59931"/>
                </a:cubicBezTo>
                <a:cubicBezTo>
                  <a:pt x="52599" y="52165"/>
                  <a:pt x="58143" y="43045"/>
                  <a:pt x="61796" y="33005"/>
                </a:cubicBezTo>
                <a:lnTo>
                  <a:pt x="61923" y="32699"/>
                </a:lnTo>
                <a:lnTo>
                  <a:pt x="8200" y="32699"/>
                </a:lnTo>
                <a:cubicBezTo>
                  <a:pt x="3653" y="32699"/>
                  <a:pt x="0" y="29046"/>
                  <a:pt x="0" y="24524"/>
                </a:cubicBezTo>
                <a:cubicBezTo>
                  <a:pt x="0" y="20003"/>
                  <a:pt x="3653" y="16349"/>
                  <a:pt x="8175" y="16349"/>
                </a:cubicBezTo>
                <a:lnTo>
                  <a:pt x="32699" y="16349"/>
                </a:lnTo>
                <a:lnTo>
                  <a:pt x="32699" y="8175"/>
                </a:lnTo>
                <a:cubicBezTo>
                  <a:pt x="32699" y="3653"/>
                  <a:pt x="36352" y="0"/>
                  <a:pt x="40874" y="0"/>
                </a:cubicBezTo>
                <a:close/>
                <a:moveTo>
                  <a:pt x="106271" y="69179"/>
                </a:moveTo>
                <a:lnTo>
                  <a:pt x="93422" y="98097"/>
                </a:lnTo>
                <a:lnTo>
                  <a:pt x="119121" y="98097"/>
                </a:lnTo>
                <a:lnTo>
                  <a:pt x="106271" y="69179"/>
                </a:ln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50" name="Text 48"/>
          <p:cNvSpPr/>
          <p:nvPr/>
        </p:nvSpPr>
        <p:spPr>
          <a:xfrm>
            <a:off x="6754064" y="2774731"/>
            <a:ext cx="924910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 Processing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515830" y="2998952"/>
            <a:ext cx="2401030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Tokenization &amp; TF-IDF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049699" y="2662621"/>
            <a:ext cx="2569195" cy="597922"/>
          </a:xfrm>
          <a:prstGeom prst="roundRect">
            <a:avLst>
              <a:gd name="adj" fmla="val 12500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180494" y="2802759"/>
            <a:ext cx="130795" cy="130795"/>
          </a:xfrm>
          <a:custGeom>
            <a:avLst/>
            <a:gdLst/>
            <a:ahLst/>
            <a:cxnLst/>
            <a:rect l="l" t="t" r="r" b="b"/>
            <a:pathLst>
              <a:path w="130795" h="130795">
                <a:moveTo>
                  <a:pt x="8175" y="8175"/>
                </a:moveTo>
                <a:cubicBezTo>
                  <a:pt x="12696" y="8175"/>
                  <a:pt x="16349" y="11828"/>
                  <a:pt x="16349" y="16349"/>
                </a:cubicBezTo>
                <a:lnTo>
                  <a:pt x="16349" y="102184"/>
                </a:lnTo>
                <a:cubicBezTo>
                  <a:pt x="16349" y="104432"/>
                  <a:pt x="18189" y="106271"/>
                  <a:pt x="20437" y="106271"/>
                </a:cubicBezTo>
                <a:lnTo>
                  <a:pt x="122621" y="106271"/>
                </a:lnTo>
                <a:cubicBezTo>
                  <a:pt x="127142" y="106271"/>
                  <a:pt x="130795" y="109924"/>
                  <a:pt x="130795" y="114446"/>
                </a:cubicBezTo>
                <a:cubicBezTo>
                  <a:pt x="130795" y="118968"/>
                  <a:pt x="127142" y="122621"/>
                  <a:pt x="122621" y="122621"/>
                </a:cubicBezTo>
                <a:lnTo>
                  <a:pt x="20437" y="122621"/>
                </a:lnTo>
                <a:cubicBezTo>
                  <a:pt x="9145" y="122621"/>
                  <a:pt x="0" y="113475"/>
                  <a:pt x="0" y="102184"/>
                </a:cubicBezTo>
                <a:lnTo>
                  <a:pt x="0" y="16349"/>
                </a:lnTo>
                <a:cubicBezTo>
                  <a:pt x="0" y="11828"/>
                  <a:pt x="3653" y="8175"/>
                  <a:pt x="8175" y="8175"/>
                </a:cubicBezTo>
                <a:close/>
                <a:moveTo>
                  <a:pt x="32699" y="24524"/>
                </a:moveTo>
                <a:cubicBezTo>
                  <a:pt x="32699" y="20003"/>
                  <a:pt x="36352" y="16349"/>
                  <a:pt x="40874" y="16349"/>
                </a:cubicBezTo>
                <a:lnTo>
                  <a:pt x="89922" y="16349"/>
                </a:lnTo>
                <a:cubicBezTo>
                  <a:pt x="94443" y="16349"/>
                  <a:pt x="98097" y="20003"/>
                  <a:pt x="98097" y="24524"/>
                </a:cubicBezTo>
                <a:cubicBezTo>
                  <a:pt x="98097" y="29046"/>
                  <a:pt x="94443" y="32699"/>
                  <a:pt x="89922" y="32699"/>
                </a:cubicBezTo>
                <a:lnTo>
                  <a:pt x="40874" y="32699"/>
                </a:lnTo>
                <a:cubicBezTo>
                  <a:pt x="36352" y="32699"/>
                  <a:pt x="32699" y="29046"/>
                  <a:pt x="32699" y="24524"/>
                </a:cubicBezTo>
                <a:close/>
                <a:moveTo>
                  <a:pt x="40874" y="44961"/>
                </a:moveTo>
                <a:lnTo>
                  <a:pt x="73572" y="44961"/>
                </a:lnTo>
                <a:cubicBezTo>
                  <a:pt x="78094" y="44961"/>
                  <a:pt x="81747" y="48614"/>
                  <a:pt x="81747" y="53136"/>
                </a:cubicBezTo>
                <a:cubicBezTo>
                  <a:pt x="81747" y="57657"/>
                  <a:pt x="78094" y="61310"/>
                  <a:pt x="73572" y="61310"/>
                </a:cubicBezTo>
                <a:lnTo>
                  <a:pt x="40874" y="61310"/>
                </a:lnTo>
                <a:cubicBezTo>
                  <a:pt x="36352" y="61310"/>
                  <a:pt x="32699" y="57657"/>
                  <a:pt x="32699" y="53136"/>
                </a:cubicBezTo>
                <a:cubicBezTo>
                  <a:pt x="32699" y="48614"/>
                  <a:pt x="36352" y="44961"/>
                  <a:pt x="40874" y="44961"/>
                </a:cubicBezTo>
                <a:close/>
                <a:moveTo>
                  <a:pt x="40874" y="73572"/>
                </a:moveTo>
                <a:lnTo>
                  <a:pt x="106271" y="73572"/>
                </a:lnTo>
                <a:cubicBezTo>
                  <a:pt x="110793" y="73572"/>
                  <a:pt x="114446" y="77225"/>
                  <a:pt x="114446" y="81747"/>
                </a:cubicBezTo>
                <a:cubicBezTo>
                  <a:pt x="114446" y="86269"/>
                  <a:pt x="110793" y="89922"/>
                  <a:pt x="106271" y="89922"/>
                </a:cubicBezTo>
                <a:lnTo>
                  <a:pt x="40874" y="89922"/>
                </a:lnTo>
                <a:cubicBezTo>
                  <a:pt x="36352" y="89922"/>
                  <a:pt x="32699" y="86269"/>
                  <a:pt x="32699" y="81747"/>
                </a:cubicBezTo>
                <a:cubicBezTo>
                  <a:pt x="32699" y="77225"/>
                  <a:pt x="36352" y="73572"/>
                  <a:pt x="40874" y="73572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54" name="Text 52"/>
          <p:cNvSpPr/>
          <p:nvPr/>
        </p:nvSpPr>
        <p:spPr>
          <a:xfrm>
            <a:off x="9400044" y="2774731"/>
            <a:ext cx="1177159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161809" y="2998952"/>
            <a:ext cx="2401030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Extraction &amp; encoding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03720" y="3335283"/>
            <a:ext cx="2569195" cy="597922"/>
          </a:xfrm>
          <a:prstGeom prst="roundRect">
            <a:avLst>
              <a:gd name="adj" fmla="val 12500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518166" y="3475421"/>
            <a:ext cx="163494" cy="130795"/>
          </a:xfrm>
          <a:custGeom>
            <a:avLst/>
            <a:gdLst/>
            <a:ahLst/>
            <a:cxnLst/>
            <a:rect l="l" t="t" r="r" b="b"/>
            <a:pathLst>
              <a:path w="163494" h="130795">
                <a:moveTo>
                  <a:pt x="89922" y="0"/>
                </a:moveTo>
                <a:cubicBezTo>
                  <a:pt x="89922" y="-4522"/>
                  <a:pt x="86269" y="-8175"/>
                  <a:pt x="81747" y="-8175"/>
                </a:cubicBezTo>
                <a:cubicBezTo>
                  <a:pt x="77225" y="-8175"/>
                  <a:pt x="73572" y="-4522"/>
                  <a:pt x="73572" y="0"/>
                </a:cubicBezTo>
                <a:lnTo>
                  <a:pt x="73572" y="16349"/>
                </a:lnTo>
                <a:lnTo>
                  <a:pt x="49048" y="16349"/>
                </a:lnTo>
                <a:cubicBezTo>
                  <a:pt x="35509" y="16349"/>
                  <a:pt x="24524" y="27334"/>
                  <a:pt x="24524" y="40874"/>
                </a:cubicBezTo>
                <a:lnTo>
                  <a:pt x="24524" y="98097"/>
                </a:lnTo>
                <a:cubicBezTo>
                  <a:pt x="24524" y="111636"/>
                  <a:pt x="35509" y="122621"/>
                  <a:pt x="49048" y="122621"/>
                </a:cubicBezTo>
                <a:lnTo>
                  <a:pt x="114446" y="122621"/>
                </a:lnTo>
                <a:cubicBezTo>
                  <a:pt x="127985" y="122621"/>
                  <a:pt x="138970" y="111636"/>
                  <a:pt x="138970" y="98097"/>
                </a:cubicBezTo>
                <a:lnTo>
                  <a:pt x="138970" y="40874"/>
                </a:lnTo>
                <a:cubicBezTo>
                  <a:pt x="138970" y="27334"/>
                  <a:pt x="127985" y="16349"/>
                  <a:pt x="114446" y="16349"/>
                </a:cubicBezTo>
                <a:lnTo>
                  <a:pt x="89922" y="16349"/>
                </a:lnTo>
                <a:lnTo>
                  <a:pt x="89922" y="0"/>
                </a:lnTo>
                <a:close/>
                <a:moveTo>
                  <a:pt x="40874" y="94009"/>
                </a:moveTo>
                <a:cubicBezTo>
                  <a:pt x="40874" y="90612"/>
                  <a:pt x="43607" y="87878"/>
                  <a:pt x="47005" y="87878"/>
                </a:cubicBezTo>
                <a:lnTo>
                  <a:pt x="55179" y="87878"/>
                </a:lnTo>
                <a:cubicBezTo>
                  <a:pt x="58577" y="87878"/>
                  <a:pt x="61310" y="90612"/>
                  <a:pt x="61310" y="94009"/>
                </a:cubicBezTo>
                <a:cubicBezTo>
                  <a:pt x="61310" y="97407"/>
                  <a:pt x="58577" y="100140"/>
                  <a:pt x="55179" y="100140"/>
                </a:cubicBezTo>
                <a:lnTo>
                  <a:pt x="47005" y="100140"/>
                </a:lnTo>
                <a:cubicBezTo>
                  <a:pt x="43607" y="100140"/>
                  <a:pt x="40874" y="97407"/>
                  <a:pt x="40874" y="94009"/>
                </a:cubicBezTo>
                <a:close/>
                <a:moveTo>
                  <a:pt x="71529" y="94009"/>
                </a:moveTo>
                <a:cubicBezTo>
                  <a:pt x="71529" y="90612"/>
                  <a:pt x="74262" y="87878"/>
                  <a:pt x="77660" y="87878"/>
                </a:cubicBezTo>
                <a:lnTo>
                  <a:pt x="85834" y="87878"/>
                </a:lnTo>
                <a:cubicBezTo>
                  <a:pt x="89232" y="87878"/>
                  <a:pt x="91966" y="90612"/>
                  <a:pt x="91966" y="94009"/>
                </a:cubicBezTo>
                <a:cubicBezTo>
                  <a:pt x="91966" y="97407"/>
                  <a:pt x="89232" y="100140"/>
                  <a:pt x="85834" y="100140"/>
                </a:cubicBezTo>
                <a:lnTo>
                  <a:pt x="77660" y="100140"/>
                </a:lnTo>
                <a:cubicBezTo>
                  <a:pt x="74262" y="100140"/>
                  <a:pt x="71529" y="97407"/>
                  <a:pt x="71529" y="94009"/>
                </a:cubicBezTo>
                <a:close/>
                <a:moveTo>
                  <a:pt x="102184" y="94009"/>
                </a:moveTo>
                <a:cubicBezTo>
                  <a:pt x="102184" y="90612"/>
                  <a:pt x="104917" y="87878"/>
                  <a:pt x="108315" y="87878"/>
                </a:cubicBezTo>
                <a:lnTo>
                  <a:pt x="116490" y="87878"/>
                </a:lnTo>
                <a:cubicBezTo>
                  <a:pt x="119887" y="87878"/>
                  <a:pt x="122621" y="90612"/>
                  <a:pt x="122621" y="94009"/>
                </a:cubicBezTo>
                <a:cubicBezTo>
                  <a:pt x="122621" y="97407"/>
                  <a:pt x="119887" y="100140"/>
                  <a:pt x="116490" y="100140"/>
                </a:cubicBezTo>
                <a:lnTo>
                  <a:pt x="108315" y="100140"/>
                </a:lnTo>
                <a:cubicBezTo>
                  <a:pt x="104917" y="100140"/>
                  <a:pt x="102184" y="97407"/>
                  <a:pt x="102184" y="94009"/>
                </a:cubicBezTo>
                <a:close/>
                <a:moveTo>
                  <a:pt x="57223" y="44961"/>
                </a:moveTo>
                <a:cubicBezTo>
                  <a:pt x="63991" y="44961"/>
                  <a:pt x="69485" y="50455"/>
                  <a:pt x="69485" y="57223"/>
                </a:cubicBezTo>
                <a:cubicBezTo>
                  <a:pt x="69485" y="63991"/>
                  <a:pt x="63991" y="69485"/>
                  <a:pt x="57223" y="69485"/>
                </a:cubicBezTo>
                <a:cubicBezTo>
                  <a:pt x="50455" y="69485"/>
                  <a:pt x="44961" y="63991"/>
                  <a:pt x="44961" y="57223"/>
                </a:cubicBezTo>
                <a:cubicBezTo>
                  <a:pt x="44961" y="50455"/>
                  <a:pt x="50455" y="44961"/>
                  <a:pt x="57223" y="44961"/>
                </a:cubicBezTo>
                <a:close/>
                <a:moveTo>
                  <a:pt x="94009" y="57223"/>
                </a:moveTo>
                <a:cubicBezTo>
                  <a:pt x="94009" y="50455"/>
                  <a:pt x="99504" y="44961"/>
                  <a:pt x="106271" y="44961"/>
                </a:cubicBezTo>
                <a:cubicBezTo>
                  <a:pt x="113039" y="44961"/>
                  <a:pt x="118533" y="50455"/>
                  <a:pt x="118533" y="57223"/>
                </a:cubicBezTo>
                <a:cubicBezTo>
                  <a:pt x="118533" y="63991"/>
                  <a:pt x="113039" y="69485"/>
                  <a:pt x="106271" y="69485"/>
                </a:cubicBezTo>
                <a:cubicBezTo>
                  <a:pt x="99504" y="69485"/>
                  <a:pt x="94009" y="63991"/>
                  <a:pt x="94009" y="57223"/>
                </a:cubicBezTo>
                <a:close/>
                <a:moveTo>
                  <a:pt x="16349" y="57223"/>
                </a:moveTo>
                <a:cubicBezTo>
                  <a:pt x="16349" y="52701"/>
                  <a:pt x="12696" y="49048"/>
                  <a:pt x="8175" y="49048"/>
                </a:cubicBezTo>
                <a:cubicBezTo>
                  <a:pt x="3653" y="49048"/>
                  <a:pt x="0" y="52701"/>
                  <a:pt x="0" y="57223"/>
                </a:cubicBezTo>
                <a:lnTo>
                  <a:pt x="0" y="81747"/>
                </a:lnTo>
                <a:cubicBezTo>
                  <a:pt x="0" y="86269"/>
                  <a:pt x="3653" y="89922"/>
                  <a:pt x="8175" y="89922"/>
                </a:cubicBezTo>
                <a:cubicBezTo>
                  <a:pt x="12696" y="89922"/>
                  <a:pt x="16349" y="86269"/>
                  <a:pt x="16349" y="81747"/>
                </a:cubicBezTo>
                <a:lnTo>
                  <a:pt x="16349" y="57223"/>
                </a:lnTo>
                <a:close/>
                <a:moveTo>
                  <a:pt x="155320" y="49048"/>
                </a:moveTo>
                <a:cubicBezTo>
                  <a:pt x="150798" y="49048"/>
                  <a:pt x="147145" y="52701"/>
                  <a:pt x="147145" y="57223"/>
                </a:cubicBezTo>
                <a:lnTo>
                  <a:pt x="147145" y="81747"/>
                </a:lnTo>
                <a:cubicBezTo>
                  <a:pt x="147145" y="86269"/>
                  <a:pt x="150798" y="89922"/>
                  <a:pt x="155320" y="89922"/>
                </a:cubicBezTo>
                <a:cubicBezTo>
                  <a:pt x="159841" y="89922"/>
                  <a:pt x="163494" y="86269"/>
                  <a:pt x="163494" y="81747"/>
                </a:cubicBezTo>
                <a:lnTo>
                  <a:pt x="163494" y="57223"/>
                </a:lnTo>
                <a:cubicBezTo>
                  <a:pt x="163494" y="52701"/>
                  <a:pt x="159841" y="49048"/>
                  <a:pt x="155320" y="49048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58" name="Text 56"/>
          <p:cNvSpPr/>
          <p:nvPr/>
        </p:nvSpPr>
        <p:spPr>
          <a:xfrm>
            <a:off x="6754064" y="3447393"/>
            <a:ext cx="906225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515830" y="3671614"/>
            <a:ext cx="2401030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ML algorithms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049699" y="3335283"/>
            <a:ext cx="2569195" cy="597922"/>
          </a:xfrm>
          <a:prstGeom prst="roundRect">
            <a:avLst>
              <a:gd name="adj" fmla="val 12500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80494" y="3475421"/>
            <a:ext cx="130795" cy="130795"/>
          </a:xfrm>
          <a:custGeom>
            <a:avLst/>
            <a:gdLst/>
            <a:ahLst/>
            <a:cxnLst/>
            <a:rect l="l" t="t" r="r" b="b"/>
            <a:pathLst>
              <a:path w="130795" h="130795">
                <a:moveTo>
                  <a:pt x="16349" y="16349"/>
                </a:moveTo>
                <a:cubicBezTo>
                  <a:pt x="16349" y="11828"/>
                  <a:pt x="12696" y="8175"/>
                  <a:pt x="8175" y="8175"/>
                </a:cubicBezTo>
                <a:cubicBezTo>
                  <a:pt x="3653" y="8175"/>
                  <a:pt x="0" y="11828"/>
                  <a:pt x="0" y="16349"/>
                </a:cubicBezTo>
                <a:lnTo>
                  <a:pt x="0" y="102184"/>
                </a:lnTo>
                <a:cubicBezTo>
                  <a:pt x="0" y="113475"/>
                  <a:pt x="9145" y="122621"/>
                  <a:pt x="20437" y="122621"/>
                </a:cubicBezTo>
                <a:lnTo>
                  <a:pt x="122621" y="122621"/>
                </a:lnTo>
                <a:cubicBezTo>
                  <a:pt x="127142" y="122621"/>
                  <a:pt x="130795" y="118968"/>
                  <a:pt x="130795" y="114446"/>
                </a:cubicBezTo>
                <a:cubicBezTo>
                  <a:pt x="130795" y="109924"/>
                  <a:pt x="127142" y="106271"/>
                  <a:pt x="122621" y="106271"/>
                </a:cubicBezTo>
                <a:lnTo>
                  <a:pt x="20437" y="106271"/>
                </a:lnTo>
                <a:cubicBezTo>
                  <a:pt x="18189" y="106271"/>
                  <a:pt x="16349" y="104432"/>
                  <a:pt x="16349" y="102184"/>
                </a:cubicBezTo>
                <a:lnTo>
                  <a:pt x="16349" y="16349"/>
                </a:lnTo>
                <a:close/>
                <a:moveTo>
                  <a:pt x="120219" y="38472"/>
                </a:moveTo>
                <a:cubicBezTo>
                  <a:pt x="123413" y="35279"/>
                  <a:pt x="123413" y="30093"/>
                  <a:pt x="120219" y="26900"/>
                </a:cubicBezTo>
                <a:cubicBezTo>
                  <a:pt x="117026" y="23707"/>
                  <a:pt x="111840" y="23707"/>
                  <a:pt x="108647" y="26900"/>
                </a:cubicBezTo>
                <a:lnTo>
                  <a:pt x="81747" y="53825"/>
                </a:lnTo>
                <a:lnTo>
                  <a:pt x="67084" y="39188"/>
                </a:lnTo>
                <a:cubicBezTo>
                  <a:pt x="63890" y="35994"/>
                  <a:pt x="58705" y="35994"/>
                  <a:pt x="55511" y="39188"/>
                </a:cubicBezTo>
                <a:lnTo>
                  <a:pt x="30987" y="63712"/>
                </a:lnTo>
                <a:cubicBezTo>
                  <a:pt x="27794" y="66905"/>
                  <a:pt x="27794" y="72091"/>
                  <a:pt x="30987" y="75284"/>
                </a:cubicBezTo>
                <a:cubicBezTo>
                  <a:pt x="34181" y="78477"/>
                  <a:pt x="39366" y="78477"/>
                  <a:pt x="42560" y="75284"/>
                </a:cubicBezTo>
                <a:lnTo>
                  <a:pt x="61310" y="56533"/>
                </a:lnTo>
                <a:lnTo>
                  <a:pt x="75974" y="71197"/>
                </a:lnTo>
                <a:cubicBezTo>
                  <a:pt x="79167" y="74390"/>
                  <a:pt x="84353" y="74390"/>
                  <a:pt x="87546" y="71197"/>
                </a:cubicBezTo>
                <a:lnTo>
                  <a:pt x="120245" y="38498"/>
                </a:ln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62" name="Text 60"/>
          <p:cNvSpPr/>
          <p:nvPr/>
        </p:nvSpPr>
        <p:spPr>
          <a:xfrm>
            <a:off x="9400044" y="3447393"/>
            <a:ext cx="1037021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Evaluation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161809" y="3671614"/>
            <a:ext cx="2401030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Metrics &amp; confusion matrix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403720" y="4007945"/>
            <a:ext cx="2569195" cy="597922"/>
          </a:xfrm>
          <a:prstGeom prst="roundRect">
            <a:avLst>
              <a:gd name="adj" fmla="val 12500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6534515" y="4148083"/>
            <a:ext cx="130795" cy="130795"/>
          </a:xfrm>
          <a:custGeom>
            <a:avLst/>
            <a:gdLst/>
            <a:ahLst/>
            <a:cxnLst/>
            <a:rect l="l" t="t" r="r" b="b"/>
            <a:pathLst>
              <a:path w="130795" h="130795">
                <a:moveTo>
                  <a:pt x="128394" y="38472"/>
                </a:moveTo>
                <a:lnTo>
                  <a:pt x="103870" y="62996"/>
                </a:lnTo>
                <a:cubicBezTo>
                  <a:pt x="101520" y="65347"/>
                  <a:pt x="98020" y="66036"/>
                  <a:pt x="94954" y="64759"/>
                </a:cubicBezTo>
                <a:cubicBezTo>
                  <a:pt x="91889" y="63482"/>
                  <a:pt x="89922" y="60518"/>
                  <a:pt x="89922" y="57223"/>
                </a:cubicBezTo>
                <a:lnTo>
                  <a:pt x="89922" y="40874"/>
                </a:lnTo>
                <a:lnTo>
                  <a:pt x="8175" y="40874"/>
                </a:lnTo>
                <a:cubicBezTo>
                  <a:pt x="3653" y="40874"/>
                  <a:pt x="0" y="37220"/>
                  <a:pt x="0" y="32699"/>
                </a:cubicBezTo>
                <a:cubicBezTo>
                  <a:pt x="0" y="28177"/>
                  <a:pt x="3653" y="24524"/>
                  <a:pt x="8175" y="24524"/>
                </a:cubicBezTo>
                <a:lnTo>
                  <a:pt x="89922" y="24524"/>
                </a:lnTo>
                <a:lnTo>
                  <a:pt x="89922" y="8175"/>
                </a:lnTo>
                <a:cubicBezTo>
                  <a:pt x="89922" y="4879"/>
                  <a:pt x="91914" y="1890"/>
                  <a:pt x="94980" y="613"/>
                </a:cubicBezTo>
                <a:cubicBezTo>
                  <a:pt x="98045" y="-664"/>
                  <a:pt x="101545" y="51"/>
                  <a:pt x="103895" y="2376"/>
                </a:cubicBezTo>
                <a:lnTo>
                  <a:pt x="128420" y="26900"/>
                </a:lnTo>
                <a:cubicBezTo>
                  <a:pt x="131613" y="30093"/>
                  <a:pt x="131613" y="35279"/>
                  <a:pt x="128420" y="38472"/>
                </a:cubicBezTo>
                <a:close/>
                <a:moveTo>
                  <a:pt x="26900" y="128394"/>
                </a:moveTo>
                <a:lnTo>
                  <a:pt x="2376" y="103870"/>
                </a:lnTo>
                <a:cubicBezTo>
                  <a:pt x="-817" y="100677"/>
                  <a:pt x="-817" y="95491"/>
                  <a:pt x="2376" y="92298"/>
                </a:cubicBezTo>
                <a:lnTo>
                  <a:pt x="26900" y="67773"/>
                </a:lnTo>
                <a:cubicBezTo>
                  <a:pt x="29250" y="65423"/>
                  <a:pt x="32750" y="64734"/>
                  <a:pt x="35815" y="66011"/>
                </a:cubicBezTo>
                <a:cubicBezTo>
                  <a:pt x="38881" y="67288"/>
                  <a:pt x="40874" y="70277"/>
                  <a:pt x="40874" y="73572"/>
                </a:cubicBezTo>
                <a:lnTo>
                  <a:pt x="40874" y="89922"/>
                </a:lnTo>
                <a:lnTo>
                  <a:pt x="122621" y="89922"/>
                </a:lnTo>
                <a:cubicBezTo>
                  <a:pt x="127142" y="89922"/>
                  <a:pt x="130795" y="93575"/>
                  <a:pt x="130795" y="98097"/>
                </a:cubicBezTo>
                <a:cubicBezTo>
                  <a:pt x="130795" y="102618"/>
                  <a:pt x="127142" y="106271"/>
                  <a:pt x="122621" y="106271"/>
                </a:cubicBezTo>
                <a:lnTo>
                  <a:pt x="40874" y="106271"/>
                </a:lnTo>
                <a:lnTo>
                  <a:pt x="40874" y="122621"/>
                </a:lnTo>
                <a:cubicBezTo>
                  <a:pt x="40874" y="125916"/>
                  <a:pt x="38881" y="128905"/>
                  <a:pt x="35815" y="130182"/>
                </a:cubicBezTo>
                <a:cubicBezTo>
                  <a:pt x="32750" y="131460"/>
                  <a:pt x="29250" y="130744"/>
                  <a:pt x="26900" y="128420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66" name="Text 64"/>
          <p:cNvSpPr/>
          <p:nvPr/>
        </p:nvSpPr>
        <p:spPr>
          <a:xfrm>
            <a:off x="6754064" y="4120055"/>
            <a:ext cx="1102418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Conversion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515830" y="4344276"/>
            <a:ext cx="2401030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PKL to ONNX format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049699" y="4007945"/>
            <a:ext cx="2569195" cy="597922"/>
          </a:xfrm>
          <a:prstGeom prst="roundRect">
            <a:avLst>
              <a:gd name="adj" fmla="val 12500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172320" y="4148083"/>
            <a:ext cx="147145" cy="130795"/>
          </a:xfrm>
          <a:custGeom>
            <a:avLst/>
            <a:gdLst/>
            <a:ahLst/>
            <a:cxnLst/>
            <a:rect l="l" t="t" r="r" b="b"/>
            <a:pathLst>
              <a:path w="147145" h="130795">
                <a:moveTo>
                  <a:pt x="36786" y="122621"/>
                </a:moveTo>
                <a:cubicBezTo>
                  <a:pt x="16477" y="122621"/>
                  <a:pt x="0" y="106144"/>
                  <a:pt x="0" y="85834"/>
                </a:cubicBezTo>
                <a:cubicBezTo>
                  <a:pt x="0" y="69638"/>
                  <a:pt x="10474" y="55895"/>
                  <a:pt x="25010" y="50964"/>
                </a:cubicBezTo>
                <a:cubicBezTo>
                  <a:pt x="24677" y="48997"/>
                  <a:pt x="24524" y="47005"/>
                  <a:pt x="24524" y="44961"/>
                </a:cubicBezTo>
                <a:cubicBezTo>
                  <a:pt x="24524" y="24652"/>
                  <a:pt x="41001" y="8175"/>
                  <a:pt x="61310" y="8175"/>
                </a:cubicBezTo>
                <a:cubicBezTo>
                  <a:pt x="75463" y="8175"/>
                  <a:pt x="87750" y="16171"/>
                  <a:pt x="93907" y="27871"/>
                </a:cubicBezTo>
                <a:cubicBezTo>
                  <a:pt x="97535" y="25750"/>
                  <a:pt x="101775" y="24524"/>
                  <a:pt x="106271" y="24524"/>
                </a:cubicBezTo>
                <a:cubicBezTo>
                  <a:pt x="119811" y="24524"/>
                  <a:pt x="130795" y="35509"/>
                  <a:pt x="130795" y="49048"/>
                </a:cubicBezTo>
                <a:cubicBezTo>
                  <a:pt x="130795" y="53059"/>
                  <a:pt x="129825" y="56865"/>
                  <a:pt x="128113" y="60212"/>
                </a:cubicBezTo>
                <a:cubicBezTo>
                  <a:pt x="139353" y="65398"/>
                  <a:pt x="147145" y="76740"/>
                  <a:pt x="147145" y="89922"/>
                </a:cubicBezTo>
                <a:cubicBezTo>
                  <a:pt x="147145" y="107983"/>
                  <a:pt x="132507" y="122621"/>
                  <a:pt x="114446" y="122621"/>
                </a:cubicBezTo>
                <a:lnTo>
                  <a:pt x="36786" y="122621"/>
                </a:lnTo>
                <a:close/>
                <a:moveTo>
                  <a:pt x="77915" y="48793"/>
                </a:moveTo>
                <a:cubicBezTo>
                  <a:pt x="75514" y="46391"/>
                  <a:pt x="71631" y="46391"/>
                  <a:pt x="69255" y="48793"/>
                </a:cubicBezTo>
                <a:lnTo>
                  <a:pt x="50862" y="67186"/>
                </a:lnTo>
                <a:cubicBezTo>
                  <a:pt x="48461" y="69587"/>
                  <a:pt x="48461" y="73470"/>
                  <a:pt x="50862" y="75846"/>
                </a:cubicBezTo>
                <a:cubicBezTo>
                  <a:pt x="53263" y="78222"/>
                  <a:pt x="57146" y="78247"/>
                  <a:pt x="59522" y="75846"/>
                </a:cubicBezTo>
                <a:lnTo>
                  <a:pt x="67441" y="67927"/>
                </a:lnTo>
                <a:lnTo>
                  <a:pt x="67441" y="94009"/>
                </a:lnTo>
                <a:cubicBezTo>
                  <a:pt x="67441" y="97407"/>
                  <a:pt x="70175" y="100140"/>
                  <a:pt x="73572" y="100140"/>
                </a:cubicBezTo>
                <a:cubicBezTo>
                  <a:pt x="76970" y="100140"/>
                  <a:pt x="79703" y="97407"/>
                  <a:pt x="79703" y="94009"/>
                </a:cubicBezTo>
                <a:lnTo>
                  <a:pt x="79703" y="67927"/>
                </a:lnTo>
                <a:lnTo>
                  <a:pt x="87623" y="75846"/>
                </a:lnTo>
                <a:cubicBezTo>
                  <a:pt x="90024" y="78247"/>
                  <a:pt x="93907" y="78247"/>
                  <a:pt x="96283" y="75846"/>
                </a:cubicBezTo>
                <a:cubicBezTo>
                  <a:pt x="98659" y="73445"/>
                  <a:pt x="98684" y="69562"/>
                  <a:pt x="96283" y="67186"/>
                </a:cubicBezTo>
                <a:lnTo>
                  <a:pt x="77890" y="48793"/>
                </a:ln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70" name="Text 68"/>
          <p:cNvSpPr/>
          <p:nvPr/>
        </p:nvSpPr>
        <p:spPr>
          <a:xfrm>
            <a:off x="9400044" y="4120055"/>
            <a:ext cx="766087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161809" y="4344276"/>
            <a:ext cx="2401030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Hugging Face hosting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403720" y="4680607"/>
            <a:ext cx="2569195" cy="597922"/>
          </a:xfrm>
          <a:prstGeom prst="roundRect">
            <a:avLst>
              <a:gd name="adj" fmla="val 12500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6542690" y="4820745"/>
            <a:ext cx="114446" cy="130795"/>
          </a:xfrm>
          <a:custGeom>
            <a:avLst/>
            <a:gdLst/>
            <a:ahLst/>
            <a:cxnLst/>
            <a:rect l="l" t="t" r="r" b="b"/>
            <a:pathLst>
              <a:path w="114446" h="130795">
                <a:moveTo>
                  <a:pt x="32699" y="-8175"/>
                </a:moveTo>
                <a:cubicBezTo>
                  <a:pt x="37220" y="-8175"/>
                  <a:pt x="40874" y="-4522"/>
                  <a:pt x="40874" y="0"/>
                </a:cubicBezTo>
                <a:lnTo>
                  <a:pt x="40874" y="24524"/>
                </a:lnTo>
                <a:lnTo>
                  <a:pt x="73572" y="24524"/>
                </a:lnTo>
                <a:lnTo>
                  <a:pt x="73572" y="0"/>
                </a:lnTo>
                <a:cubicBezTo>
                  <a:pt x="73572" y="-4522"/>
                  <a:pt x="77225" y="-8175"/>
                  <a:pt x="81747" y="-8175"/>
                </a:cubicBezTo>
                <a:cubicBezTo>
                  <a:pt x="86269" y="-8175"/>
                  <a:pt x="89922" y="-4522"/>
                  <a:pt x="89922" y="0"/>
                </a:cubicBezTo>
                <a:lnTo>
                  <a:pt x="89922" y="24524"/>
                </a:lnTo>
                <a:lnTo>
                  <a:pt x="106271" y="24524"/>
                </a:lnTo>
                <a:cubicBezTo>
                  <a:pt x="110793" y="24524"/>
                  <a:pt x="114446" y="28177"/>
                  <a:pt x="114446" y="32699"/>
                </a:cubicBezTo>
                <a:cubicBezTo>
                  <a:pt x="114446" y="37220"/>
                  <a:pt x="110793" y="40874"/>
                  <a:pt x="106271" y="40874"/>
                </a:cubicBezTo>
                <a:lnTo>
                  <a:pt x="106271" y="57223"/>
                </a:lnTo>
                <a:cubicBezTo>
                  <a:pt x="106271" y="81517"/>
                  <a:pt x="88593" y="101699"/>
                  <a:pt x="65398" y="105582"/>
                </a:cubicBezTo>
                <a:lnTo>
                  <a:pt x="65398" y="122621"/>
                </a:lnTo>
                <a:cubicBezTo>
                  <a:pt x="65398" y="127142"/>
                  <a:pt x="61745" y="130795"/>
                  <a:pt x="57223" y="130795"/>
                </a:cubicBezTo>
                <a:cubicBezTo>
                  <a:pt x="52701" y="130795"/>
                  <a:pt x="49048" y="127142"/>
                  <a:pt x="49048" y="122621"/>
                </a:cubicBezTo>
                <a:lnTo>
                  <a:pt x="49048" y="105582"/>
                </a:lnTo>
                <a:cubicBezTo>
                  <a:pt x="25853" y="101699"/>
                  <a:pt x="8175" y="81517"/>
                  <a:pt x="8175" y="57223"/>
                </a:cubicBezTo>
                <a:lnTo>
                  <a:pt x="8175" y="40874"/>
                </a:lnTo>
                <a:cubicBezTo>
                  <a:pt x="3653" y="40874"/>
                  <a:pt x="0" y="37220"/>
                  <a:pt x="0" y="32699"/>
                </a:cubicBezTo>
                <a:cubicBezTo>
                  <a:pt x="0" y="28177"/>
                  <a:pt x="3653" y="24524"/>
                  <a:pt x="8175" y="24524"/>
                </a:cubicBezTo>
                <a:lnTo>
                  <a:pt x="24524" y="24524"/>
                </a:lnTo>
                <a:lnTo>
                  <a:pt x="24524" y="0"/>
                </a:lnTo>
                <a:cubicBezTo>
                  <a:pt x="24524" y="-4522"/>
                  <a:pt x="28177" y="-8175"/>
                  <a:pt x="32699" y="-8175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74" name="Text 72"/>
          <p:cNvSpPr/>
          <p:nvPr/>
        </p:nvSpPr>
        <p:spPr>
          <a:xfrm>
            <a:off x="6754064" y="4792717"/>
            <a:ext cx="1186501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Communication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515830" y="5016938"/>
            <a:ext cx="2401030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 API integration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9049699" y="4680607"/>
            <a:ext cx="2569195" cy="597922"/>
          </a:xfrm>
          <a:prstGeom prst="roundRect">
            <a:avLst>
              <a:gd name="adj" fmla="val 12500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9196844" y="4820745"/>
            <a:ext cx="98097" cy="130795"/>
          </a:xfrm>
          <a:custGeom>
            <a:avLst/>
            <a:gdLst/>
            <a:ahLst/>
            <a:cxnLst/>
            <a:rect l="l" t="t" r="r" b="b"/>
            <a:pathLst>
              <a:path w="98097" h="130795">
                <a:moveTo>
                  <a:pt x="4087" y="16349"/>
                </a:moveTo>
                <a:cubicBezTo>
                  <a:pt x="4087" y="7332"/>
                  <a:pt x="11419" y="0"/>
                  <a:pt x="20437" y="0"/>
                </a:cubicBezTo>
                <a:lnTo>
                  <a:pt x="77660" y="0"/>
                </a:lnTo>
                <a:cubicBezTo>
                  <a:pt x="86678" y="0"/>
                  <a:pt x="94009" y="7332"/>
                  <a:pt x="94009" y="16349"/>
                </a:cubicBezTo>
                <a:lnTo>
                  <a:pt x="94009" y="114446"/>
                </a:lnTo>
                <a:cubicBezTo>
                  <a:pt x="94009" y="123464"/>
                  <a:pt x="86678" y="130795"/>
                  <a:pt x="77660" y="130795"/>
                </a:cubicBezTo>
                <a:lnTo>
                  <a:pt x="20437" y="130795"/>
                </a:lnTo>
                <a:cubicBezTo>
                  <a:pt x="11419" y="130795"/>
                  <a:pt x="4087" y="123464"/>
                  <a:pt x="4087" y="114446"/>
                </a:cubicBezTo>
                <a:lnTo>
                  <a:pt x="4087" y="16349"/>
                </a:lnTo>
                <a:close/>
                <a:moveTo>
                  <a:pt x="20437" y="16349"/>
                </a:moveTo>
                <a:lnTo>
                  <a:pt x="20437" y="94009"/>
                </a:lnTo>
                <a:lnTo>
                  <a:pt x="77660" y="94009"/>
                </a:lnTo>
                <a:lnTo>
                  <a:pt x="77660" y="16349"/>
                </a:lnTo>
                <a:lnTo>
                  <a:pt x="20437" y="16349"/>
                </a:lnTo>
                <a:close/>
                <a:moveTo>
                  <a:pt x="49048" y="120577"/>
                </a:moveTo>
                <a:cubicBezTo>
                  <a:pt x="53570" y="120577"/>
                  <a:pt x="57223" y="116924"/>
                  <a:pt x="57223" y="112402"/>
                </a:cubicBezTo>
                <a:cubicBezTo>
                  <a:pt x="57223" y="107881"/>
                  <a:pt x="53570" y="104228"/>
                  <a:pt x="49048" y="104228"/>
                </a:cubicBezTo>
                <a:cubicBezTo>
                  <a:pt x="44527" y="104228"/>
                  <a:pt x="40874" y="107881"/>
                  <a:pt x="40874" y="112402"/>
                </a:cubicBezTo>
                <a:cubicBezTo>
                  <a:pt x="40874" y="116924"/>
                  <a:pt x="44527" y="120577"/>
                  <a:pt x="49048" y="120577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78" name="Text 76"/>
          <p:cNvSpPr/>
          <p:nvPr/>
        </p:nvSpPr>
        <p:spPr>
          <a:xfrm>
            <a:off x="9400044" y="4792717"/>
            <a:ext cx="1195844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Android Application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9161809" y="5016938"/>
            <a:ext cx="2401030" cy="149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 &amp; user interaction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s.moonshot.cn/kimi-ppt/html-gen/static/image-error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1A202C">
                  <a:alpha val="98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4A5568">
                  <a:alpha val="6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378744"/>
            <a:ext cx="1362075" cy="428625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 w="12700">
            <a:solidFill>
              <a:srgbClr val="E9D8FD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1497806"/>
            <a:ext cx="11309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69331"/>
            <a:ext cx="88773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Development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Training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212431"/>
            <a:ext cx="1524000" cy="381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E9D8F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381000" y="4555331"/>
            <a:ext cx="74580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A0AEC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Multi-algorithm approach with comprehensive evaluation for optimal performance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407" y="330407"/>
            <a:ext cx="11597268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spc="52" kern="0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0407" y="594732"/>
            <a:ext cx="11679870" cy="330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0407" y="1024260"/>
            <a:ext cx="792976" cy="33041"/>
          </a:xfrm>
          <a:prstGeom prst="roundRect">
            <a:avLst>
              <a:gd name="adj" fmla="val 0"/>
            </a:avLst>
          </a:prstGeom>
          <a:solidFill>
            <a:srgbClr val="E9D8FD"/>
          </a:solidFill>
          <a:ln/>
        </p:spPr>
      </p:sp>
      <p:sp>
        <p:nvSpPr>
          <p:cNvPr id="5" name="Shape 3"/>
          <p:cNvSpPr/>
          <p:nvPr/>
        </p:nvSpPr>
        <p:spPr>
          <a:xfrm>
            <a:off x="346927" y="1222504"/>
            <a:ext cx="5649951" cy="1784195"/>
          </a:xfrm>
          <a:custGeom>
            <a:avLst/>
            <a:gdLst/>
            <a:ahLst/>
            <a:cxnLst/>
            <a:rect l="l" t="t" r="r" b="b"/>
            <a:pathLst>
              <a:path w="5649951" h="1784195">
                <a:moveTo>
                  <a:pt x="0" y="0"/>
                </a:moveTo>
                <a:lnTo>
                  <a:pt x="5583809" y="0"/>
                </a:lnTo>
                <a:cubicBezTo>
                  <a:pt x="5601346" y="-34"/>
                  <a:pt x="5618176" y="6909"/>
                  <a:pt x="5630588" y="19298"/>
                </a:cubicBezTo>
                <a:cubicBezTo>
                  <a:pt x="5643001" y="31686"/>
                  <a:pt x="5649976" y="48503"/>
                  <a:pt x="5649976" y="66040"/>
                </a:cubicBezTo>
                <a:lnTo>
                  <a:pt x="5649976" y="1718056"/>
                </a:lnTo>
                <a:cubicBezTo>
                  <a:pt x="5650010" y="1735615"/>
                  <a:pt x="5643050" y="1752464"/>
                  <a:pt x="5630633" y="1764880"/>
                </a:cubicBezTo>
                <a:cubicBezTo>
                  <a:pt x="5618217" y="1777297"/>
                  <a:pt x="5601368" y="1784257"/>
                  <a:pt x="5583809" y="1784223"/>
                </a:cubicBezTo>
                <a:lnTo>
                  <a:pt x="0" y="1784223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46927" y="1222504"/>
            <a:ext cx="33041" cy="1784195"/>
          </a:xfrm>
          <a:prstGeom prst="roundRect">
            <a:avLst>
              <a:gd name="adj" fmla="val 0"/>
            </a:avLst>
          </a:prstGeom>
          <a:solidFill>
            <a:srgbClr val="E9D8FD"/>
          </a:solidFill>
          <a:ln/>
        </p:spPr>
      </p:sp>
      <p:sp>
        <p:nvSpPr>
          <p:cNvPr id="7" name="Shape 5"/>
          <p:cNvSpPr/>
          <p:nvPr/>
        </p:nvSpPr>
        <p:spPr>
          <a:xfrm>
            <a:off x="559626" y="1420748"/>
            <a:ext cx="144553" cy="165203"/>
          </a:xfrm>
          <a:custGeom>
            <a:avLst/>
            <a:gdLst/>
            <a:ahLst/>
            <a:cxnLst/>
            <a:rect l="l" t="t" r="r" b="b"/>
            <a:pathLst>
              <a:path w="144553" h="165203">
                <a:moveTo>
                  <a:pt x="144553" y="66404"/>
                </a:moveTo>
                <a:cubicBezTo>
                  <a:pt x="139777" y="69566"/>
                  <a:pt x="134292" y="72115"/>
                  <a:pt x="128581" y="74148"/>
                </a:cubicBezTo>
                <a:cubicBezTo>
                  <a:pt x="113416" y="79569"/>
                  <a:pt x="93508" y="82602"/>
                  <a:pt x="72276" y="82602"/>
                </a:cubicBezTo>
                <a:cubicBezTo>
                  <a:pt x="51045" y="82602"/>
                  <a:pt x="31105" y="79536"/>
                  <a:pt x="15972" y="74148"/>
                </a:cubicBezTo>
                <a:cubicBezTo>
                  <a:pt x="10293" y="72115"/>
                  <a:pt x="4775" y="69566"/>
                  <a:pt x="0" y="66404"/>
                </a:cubicBezTo>
                <a:lnTo>
                  <a:pt x="0" y="92927"/>
                </a:lnTo>
                <a:cubicBezTo>
                  <a:pt x="0" y="107189"/>
                  <a:pt x="32363" y="118740"/>
                  <a:pt x="72276" y="118740"/>
                </a:cubicBezTo>
                <a:cubicBezTo>
                  <a:pt x="112190" y="118740"/>
                  <a:pt x="144553" y="107189"/>
                  <a:pt x="144553" y="92927"/>
                </a:cubicBezTo>
                <a:lnTo>
                  <a:pt x="144553" y="66404"/>
                </a:lnTo>
                <a:close/>
                <a:moveTo>
                  <a:pt x="144553" y="41301"/>
                </a:moveTo>
                <a:lnTo>
                  <a:pt x="144553" y="25813"/>
                </a:lnTo>
                <a:cubicBezTo>
                  <a:pt x="144553" y="11551"/>
                  <a:pt x="112190" y="0"/>
                  <a:pt x="72276" y="0"/>
                </a:cubicBezTo>
                <a:cubicBezTo>
                  <a:pt x="32363" y="0"/>
                  <a:pt x="0" y="11551"/>
                  <a:pt x="0" y="25813"/>
                </a:cubicBezTo>
                <a:lnTo>
                  <a:pt x="0" y="41301"/>
                </a:lnTo>
                <a:cubicBezTo>
                  <a:pt x="0" y="55563"/>
                  <a:pt x="32363" y="67114"/>
                  <a:pt x="72276" y="67114"/>
                </a:cubicBezTo>
                <a:cubicBezTo>
                  <a:pt x="112190" y="67114"/>
                  <a:pt x="144553" y="55563"/>
                  <a:pt x="144553" y="41301"/>
                </a:cubicBezTo>
                <a:close/>
                <a:moveTo>
                  <a:pt x="128581" y="125774"/>
                </a:moveTo>
                <a:cubicBezTo>
                  <a:pt x="113448" y="131162"/>
                  <a:pt x="93540" y="134228"/>
                  <a:pt x="72276" y="134228"/>
                </a:cubicBezTo>
                <a:cubicBezTo>
                  <a:pt x="51013" y="134228"/>
                  <a:pt x="31105" y="131162"/>
                  <a:pt x="15972" y="125774"/>
                </a:cubicBezTo>
                <a:cubicBezTo>
                  <a:pt x="10293" y="123741"/>
                  <a:pt x="4775" y="121192"/>
                  <a:pt x="0" y="118030"/>
                </a:cubicBezTo>
                <a:lnTo>
                  <a:pt x="0" y="139390"/>
                </a:lnTo>
                <a:cubicBezTo>
                  <a:pt x="0" y="153652"/>
                  <a:pt x="32363" y="165203"/>
                  <a:pt x="72276" y="165203"/>
                </a:cubicBezTo>
                <a:cubicBezTo>
                  <a:pt x="112190" y="165203"/>
                  <a:pt x="144553" y="153652"/>
                  <a:pt x="144553" y="139390"/>
                </a:cubicBezTo>
                <a:lnTo>
                  <a:pt x="144553" y="118030"/>
                </a:lnTo>
                <a:cubicBezTo>
                  <a:pt x="139777" y="121192"/>
                  <a:pt x="134292" y="123741"/>
                  <a:pt x="128581" y="125774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8" name="Text 6"/>
          <p:cNvSpPr/>
          <p:nvPr/>
        </p:nvSpPr>
        <p:spPr>
          <a:xfrm>
            <a:off x="834276" y="1387707"/>
            <a:ext cx="1354667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Preprocessing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8650" y="1751154"/>
            <a:ext cx="107382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8098" y="1718114"/>
            <a:ext cx="2734114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Handling missing values (mean/median/mode)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8650" y="2048520"/>
            <a:ext cx="107382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8098" y="2015480"/>
            <a:ext cx="1668553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Removing duplicate records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8650" y="2345886"/>
            <a:ext cx="107382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8098" y="2312846"/>
            <a:ext cx="1742894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Normalizing numerical values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8650" y="2643252"/>
            <a:ext cx="107382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8098" y="2610211"/>
            <a:ext cx="2717593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cleaning (special characters, lowercasing)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6927" y="3138862"/>
            <a:ext cx="5649951" cy="2081561"/>
          </a:xfrm>
          <a:custGeom>
            <a:avLst/>
            <a:gdLst/>
            <a:ahLst/>
            <a:cxnLst/>
            <a:rect l="l" t="t" r="r" b="b"/>
            <a:pathLst>
              <a:path w="5649951" h="2081561">
                <a:moveTo>
                  <a:pt x="0" y="0"/>
                </a:moveTo>
                <a:lnTo>
                  <a:pt x="5583809" y="0"/>
                </a:lnTo>
                <a:cubicBezTo>
                  <a:pt x="5601346" y="-34"/>
                  <a:pt x="5618176" y="6909"/>
                  <a:pt x="5630588" y="19298"/>
                </a:cubicBezTo>
                <a:cubicBezTo>
                  <a:pt x="5643001" y="31686"/>
                  <a:pt x="5649976" y="48503"/>
                  <a:pt x="5649976" y="66040"/>
                </a:cubicBezTo>
                <a:lnTo>
                  <a:pt x="5649976" y="2015490"/>
                </a:lnTo>
                <a:cubicBezTo>
                  <a:pt x="5649976" y="2033027"/>
                  <a:pt x="5643001" y="2049844"/>
                  <a:pt x="5630588" y="2062232"/>
                </a:cubicBezTo>
                <a:cubicBezTo>
                  <a:pt x="5618176" y="2074621"/>
                  <a:pt x="5601346" y="2081564"/>
                  <a:pt x="5583809" y="2081530"/>
                </a:cubicBezTo>
                <a:lnTo>
                  <a:pt x="0" y="208153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6927" y="3138862"/>
            <a:ext cx="33041" cy="2081561"/>
          </a:xfrm>
          <a:prstGeom prst="roundRect">
            <a:avLst>
              <a:gd name="adj" fmla="val 0"/>
            </a:avLst>
          </a:prstGeom>
          <a:solidFill>
            <a:srgbClr val="A0AEC0"/>
          </a:solidFill>
          <a:ln/>
        </p:spPr>
      </p:sp>
      <p:sp>
        <p:nvSpPr>
          <p:cNvPr id="19" name="Shape 17"/>
          <p:cNvSpPr/>
          <p:nvPr/>
        </p:nvSpPr>
        <p:spPr>
          <a:xfrm>
            <a:off x="538976" y="3337106"/>
            <a:ext cx="185854" cy="165203"/>
          </a:xfrm>
          <a:custGeom>
            <a:avLst/>
            <a:gdLst/>
            <a:ahLst/>
            <a:cxnLst/>
            <a:rect l="l" t="t" r="r" b="b"/>
            <a:pathLst>
              <a:path w="185854" h="165203">
                <a:moveTo>
                  <a:pt x="51626" y="0"/>
                </a:moveTo>
                <a:cubicBezTo>
                  <a:pt x="57337" y="0"/>
                  <a:pt x="61951" y="4614"/>
                  <a:pt x="61951" y="10325"/>
                </a:cubicBezTo>
                <a:lnTo>
                  <a:pt x="61951" y="20650"/>
                </a:lnTo>
                <a:lnTo>
                  <a:pt x="103252" y="20650"/>
                </a:lnTo>
                <a:cubicBezTo>
                  <a:pt x="108963" y="20650"/>
                  <a:pt x="113577" y="25264"/>
                  <a:pt x="113577" y="30976"/>
                </a:cubicBezTo>
                <a:cubicBezTo>
                  <a:pt x="113577" y="36687"/>
                  <a:pt x="108963" y="41301"/>
                  <a:pt x="103252" y="41301"/>
                </a:cubicBezTo>
                <a:lnTo>
                  <a:pt x="100154" y="41301"/>
                </a:lnTo>
                <a:lnTo>
                  <a:pt x="97444" y="48754"/>
                </a:lnTo>
                <a:cubicBezTo>
                  <a:pt x="92152" y="63339"/>
                  <a:pt x="84183" y="76665"/>
                  <a:pt x="74148" y="88119"/>
                </a:cubicBezTo>
                <a:cubicBezTo>
                  <a:pt x="78730" y="90959"/>
                  <a:pt x="83505" y="93475"/>
                  <a:pt x="88474" y="95702"/>
                </a:cubicBezTo>
                <a:lnTo>
                  <a:pt x="104736" y="102929"/>
                </a:lnTo>
                <a:lnTo>
                  <a:pt x="124806" y="57757"/>
                </a:lnTo>
                <a:cubicBezTo>
                  <a:pt x="126451" y="54014"/>
                  <a:pt x="130162" y="51626"/>
                  <a:pt x="134228" y="51626"/>
                </a:cubicBezTo>
                <a:cubicBezTo>
                  <a:pt x="138293" y="51626"/>
                  <a:pt x="142004" y="54014"/>
                  <a:pt x="143649" y="57757"/>
                </a:cubicBezTo>
                <a:lnTo>
                  <a:pt x="184950" y="150683"/>
                </a:lnTo>
                <a:cubicBezTo>
                  <a:pt x="187273" y="155911"/>
                  <a:pt x="184918" y="162009"/>
                  <a:pt x="179723" y="164300"/>
                </a:cubicBezTo>
                <a:cubicBezTo>
                  <a:pt x="174528" y="166591"/>
                  <a:pt x="168398" y="164268"/>
                  <a:pt x="166107" y="159073"/>
                </a:cubicBezTo>
                <a:lnTo>
                  <a:pt x="159653" y="144553"/>
                </a:lnTo>
                <a:lnTo>
                  <a:pt x="108834" y="144553"/>
                </a:lnTo>
                <a:lnTo>
                  <a:pt x="102381" y="159073"/>
                </a:lnTo>
                <a:cubicBezTo>
                  <a:pt x="100058" y="164300"/>
                  <a:pt x="93959" y="166623"/>
                  <a:pt x="88764" y="164300"/>
                </a:cubicBezTo>
                <a:cubicBezTo>
                  <a:pt x="83570" y="161977"/>
                  <a:pt x="81214" y="155878"/>
                  <a:pt x="83537" y="150683"/>
                </a:cubicBezTo>
                <a:lnTo>
                  <a:pt x="96379" y="121805"/>
                </a:lnTo>
                <a:lnTo>
                  <a:pt x="80117" y="114577"/>
                </a:lnTo>
                <a:cubicBezTo>
                  <a:pt x="72696" y="111286"/>
                  <a:pt x="65597" y="107350"/>
                  <a:pt x="58886" y="102833"/>
                </a:cubicBezTo>
                <a:cubicBezTo>
                  <a:pt x="52013" y="108382"/>
                  <a:pt x="44495" y="113222"/>
                  <a:pt x="36461" y="117256"/>
                </a:cubicBezTo>
                <a:lnTo>
                  <a:pt x="25264" y="122805"/>
                </a:lnTo>
                <a:cubicBezTo>
                  <a:pt x="20166" y="125354"/>
                  <a:pt x="13971" y="123289"/>
                  <a:pt x="11422" y="118191"/>
                </a:cubicBezTo>
                <a:cubicBezTo>
                  <a:pt x="8873" y="113093"/>
                  <a:pt x="10938" y="106898"/>
                  <a:pt x="16036" y="104349"/>
                </a:cubicBezTo>
                <a:lnTo>
                  <a:pt x="27168" y="98767"/>
                </a:lnTo>
                <a:cubicBezTo>
                  <a:pt x="32428" y="96121"/>
                  <a:pt x="37429" y="93056"/>
                  <a:pt x="42140" y="89636"/>
                </a:cubicBezTo>
                <a:cubicBezTo>
                  <a:pt x="37687" y="85538"/>
                  <a:pt x="33492" y="81117"/>
                  <a:pt x="29588" y="76439"/>
                </a:cubicBezTo>
                <a:lnTo>
                  <a:pt x="26329" y="72502"/>
                </a:lnTo>
                <a:cubicBezTo>
                  <a:pt x="22683" y="68114"/>
                  <a:pt x="23264" y="61596"/>
                  <a:pt x="27652" y="57950"/>
                </a:cubicBezTo>
                <a:cubicBezTo>
                  <a:pt x="32040" y="54304"/>
                  <a:pt x="38558" y="54885"/>
                  <a:pt x="42204" y="59273"/>
                </a:cubicBezTo>
                <a:lnTo>
                  <a:pt x="45495" y="63210"/>
                </a:lnTo>
                <a:cubicBezTo>
                  <a:pt x="49206" y="67695"/>
                  <a:pt x="53272" y="71857"/>
                  <a:pt x="57563" y="75697"/>
                </a:cubicBezTo>
                <a:cubicBezTo>
                  <a:pt x="66436" y="65888"/>
                  <a:pt x="73438" y="54369"/>
                  <a:pt x="78052" y="41688"/>
                </a:cubicBezTo>
                <a:lnTo>
                  <a:pt x="78213" y="41301"/>
                </a:lnTo>
                <a:lnTo>
                  <a:pt x="10357" y="41301"/>
                </a:lnTo>
                <a:cubicBezTo>
                  <a:pt x="4614" y="41301"/>
                  <a:pt x="0" y="36687"/>
                  <a:pt x="0" y="30976"/>
                </a:cubicBezTo>
                <a:cubicBezTo>
                  <a:pt x="0" y="25264"/>
                  <a:pt x="4614" y="20650"/>
                  <a:pt x="10325" y="20650"/>
                </a:cubicBezTo>
                <a:lnTo>
                  <a:pt x="41301" y="20650"/>
                </a:lnTo>
                <a:lnTo>
                  <a:pt x="41301" y="10325"/>
                </a:lnTo>
                <a:cubicBezTo>
                  <a:pt x="41301" y="4614"/>
                  <a:pt x="45915" y="0"/>
                  <a:pt x="51626" y="0"/>
                </a:cubicBezTo>
                <a:close/>
                <a:moveTo>
                  <a:pt x="134228" y="87377"/>
                </a:moveTo>
                <a:lnTo>
                  <a:pt x="117998" y="123902"/>
                </a:lnTo>
                <a:lnTo>
                  <a:pt x="150458" y="123902"/>
                </a:lnTo>
                <a:lnTo>
                  <a:pt x="134228" y="87377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20" name="Text 18"/>
          <p:cNvSpPr/>
          <p:nvPr/>
        </p:nvSpPr>
        <p:spPr>
          <a:xfrm>
            <a:off x="834276" y="3304065"/>
            <a:ext cx="1148163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 Techniques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8650" y="3667512"/>
            <a:ext cx="107382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8098" y="3634472"/>
            <a:ext cx="784715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Tokenization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8650" y="3964878"/>
            <a:ext cx="107382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8098" y="3931837"/>
            <a:ext cx="1205984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Stop-word removal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8650" y="4262244"/>
            <a:ext cx="107382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8098" y="4229203"/>
            <a:ext cx="900358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Lemmatization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8650" y="4559610"/>
            <a:ext cx="107382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8098" y="4526569"/>
            <a:ext cx="1222504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TF-IDF vectorization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8650" y="4856976"/>
            <a:ext cx="107382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8098" y="4823935"/>
            <a:ext cx="1718114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Sentiment polarity extraction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7316" y="1226634"/>
            <a:ext cx="5658211" cy="3510569"/>
          </a:xfrm>
          <a:prstGeom prst="roundRect">
            <a:avLst>
              <a:gd name="adj" fmla="val 1882"/>
            </a:avLst>
          </a:prstGeom>
          <a:solidFill>
            <a:srgbClr val="4A5568">
              <a:alpha val="30196"/>
            </a:srgbClr>
          </a:solidFill>
          <a:ln w="12700">
            <a:solidFill>
              <a:srgbClr val="A0AEC0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66649" y="1429008"/>
            <a:ext cx="206504" cy="165203"/>
          </a:xfrm>
          <a:custGeom>
            <a:avLst/>
            <a:gdLst/>
            <a:ahLst/>
            <a:cxnLst/>
            <a:rect l="l" t="t" r="r" b="b"/>
            <a:pathLst>
              <a:path w="206504" h="165203">
                <a:moveTo>
                  <a:pt x="113577" y="0"/>
                </a:moveTo>
                <a:cubicBezTo>
                  <a:pt x="113577" y="-5711"/>
                  <a:pt x="108963" y="-10325"/>
                  <a:pt x="103252" y="-10325"/>
                </a:cubicBezTo>
                <a:cubicBezTo>
                  <a:pt x="97541" y="-10325"/>
                  <a:pt x="92927" y="-5711"/>
                  <a:pt x="92927" y="0"/>
                </a:cubicBezTo>
                <a:lnTo>
                  <a:pt x="92927" y="20650"/>
                </a:lnTo>
                <a:lnTo>
                  <a:pt x="61951" y="20650"/>
                </a:lnTo>
                <a:cubicBezTo>
                  <a:pt x="44850" y="20650"/>
                  <a:pt x="30976" y="34525"/>
                  <a:pt x="30976" y="51626"/>
                </a:cubicBezTo>
                <a:lnTo>
                  <a:pt x="30976" y="123902"/>
                </a:lnTo>
                <a:cubicBezTo>
                  <a:pt x="30976" y="141004"/>
                  <a:pt x="44850" y="154878"/>
                  <a:pt x="61951" y="154878"/>
                </a:cubicBezTo>
                <a:lnTo>
                  <a:pt x="144553" y="154878"/>
                </a:lnTo>
                <a:cubicBezTo>
                  <a:pt x="161654" y="154878"/>
                  <a:pt x="175528" y="141004"/>
                  <a:pt x="175528" y="123902"/>
                </a:cubicBezTo>
                <a:lnTo>
                  <a:pt x="175528" y="51626"/>
                </a:lnTo>
                <a:cubicBezTo>
                  <a:pt x="175528" y="34525"/>
                  <a:pt x="161654" y="20650"/>
                  <a:pt x="144553" y="20650"/>
                </a:cubicBezTo>
                <a:lnTo>
                  <a:pt x="113577" y="20650"/>
                </a:lnTo>
                <a:lnTo>
                  <a:pt x="113577" y="0"/>
                </a:lnTo>
                <a:close/>
                <a:moveTo>
                  <a:pt x="51626" y="118740"/>
                </a:moveTo>
                <a:cubicBezTo>
                  <a:pt x="51626" y="114448"/>
                  <a:pt x="55079" y="110996"/>
                  <a:pt x="59370" y="110996"/>
                </a:cubicBezTo>
                <a:lnTo>
                  <a:pt x="69695" y="110996"/>
                </a:lnTo>
                <a:cubicBezTo>
                  <a:pt x="73987" y="110996"/>
                  <a:pt x="77439" y="114448"/>
                  <a:pt x="77439" y="118740"/>
                </a:cubicBezTo>
                <a:cubicBezTo>
                  <a:pt x="77439" y="123031"/>
                  <a:pt x="73987" y="126484"/>
                  <a:pt x="69695" y="126484"/>
                </a:cubicBezTo>
                <a:lnTo>
                  <a:pt x="59370" y="126484"/>
                </a:lnTo>
                <a:cubicBezTo>
                  <a:pt x="55079" y="126484"/>
                  <a:pt x="51626" y="123031"/>
                  <a:pt x="51626" y="118740"/>
                </a:cubicBezTo>
                <a:close/>
                <a:moveTo>
                  <a:pt x="90346" y="118740"/>
                </a:moveTo>
                <a:cubicBezTo>
                  <a:pt x="90346" y="114448"/>
                  <a:pt x="93798" y="110996"/>
                  <a:pt x="98089" y="110996"/>
                </a:cubicBezTo>
                <a:lnTo>
                  <a:pt x="108415" y="110996"/>
                </a:lnTo>
                <a:cubicBezTo>
                  <a:pt x="112706" y="110996"/>
                  <a:pt x="116159" y="114448"/>
                  <a:pt x="116159" y="118740"/>
                </a:cubicBezTo>
                <a:cubicBezTo>
                  <a:pt x="116159" y="123031"/>
                  <a:pt x="112706" y="126484"/>
                  <a:pt x="108415" y="126484"/>
                </a:cubicBezTo>
                <a:lnTo>
                  <a:pt x="98089" y="126484"/>
                </a:lnTo>
                <a:cubicBezTo>
                  <a:pt x="93798" y="126484"/>
                  <a:pt x="90346" y="123031"/>
                  <a:pt x="90346" y="118740"/>
                </a:cubicBezTo>
                <a:close/>
                <a:moveTo>
                  <a:pt x="129065" y="118740"/>
                </a:moveTo>
                <a:cubicBezTo>
                  <a:pt x="129065" y="114448"/>
                  <a:pt x="132518" y="110996"/>
                  <a:pt x="136809" y="110996"/>
                </a:cubicBezTo>
                <a:lnTo>
                  <a:pt x="147134" y="110996"/>
                </a:lnTo>
                <a:cubicBezTo>
                  <a:pt x="151426" y="110996"/>
                  <a:pt x="154878" y="114448"/>
                  <a:pt x="154878" y="118740"/>
                </a:cubicBezTo>
                <a:cubicBezTo>
                  <a:pt x="154878" y="123031"/>
                  <a:pt x="151426" y="126484"/>
                  <a:pt x="147134" y="126484"/>
                </a:cubicBezTo>
                <a:lnTo>
                  <a:pt x="136809" y="126484"/>
                </a:lnTo>
                <a:cubicBezTo>
                  <a:pt x="132518" y="126484"/>
                  <a:pt x="129065" y="123031"/>
                  <a:pt x="129065" y="118740"/>
                </a:cubicBezTo>
                <a:close/>
                <a:moveTo>
                  <a:pt x="72276" y="56789"/>
                </a:moveTo>
                <a:cubicBezTo>
                  <a:pt x="80824" y="56789"/>
                  <a:pt x="87764" y="63728"/>
                  <a:pt x="87764" y="72276"/>
                </a:cubicBezTo>
                <a:cubicBezTo>
                  <a:pt x="87764" y="80824"/>
                  <a:pt x="80824" y="87764"/>
                  <a:pt x="72276" y="87764"/>
                </a:cubicBezTo>
                <a:cubicBezTo>
                  <a:pt x="63728" y="87764"/>
                  <a:pt x="56789" y="80824"/>
                  <a:pt x="56789" y="72276"/>
                </a:cubicBezTo>
                <a:cubicBezTo>
                  <a:pt x="56789" y="63728"/>
                  <a:pt x="63728" y="56789"/>
                  <a:pt x="72276" y="56789"/>
                </a:cubicBezTo>
                <a:close/>
                <a:moveTo>
                  <a:pt x="118740" y="72276"/>
                </a:moveTo>
                <a:cubicBezTo>
                  <a:pt x="118740" y="63728"/>
                  <a:pt x="125680" y="56789"/>
                  <a:pt x="134228" y="56789"/>
                </a:cubicBezTo>
                <a:cubicBezTo>
                  <a:pt x="142776" y="56789"/>
                  <a:pt x="149715" y="63728"/>
                  <a:pt x="149715" y="72276"/>
                </a:cubicBezTo>
                <a:cubicBezTo>
                  <a:pt x="149715" y="80824"/>
                  <a:pt x="142776" y="87764"/>
                  <a:pt x="134228" y="87764"/>
                </a:cubicBezTo>
                <a:cubicBezTo>
                  <a:pt x="125680" y="87764"/>
                  <a:pt x="118740" y="80824"/>
                  <a:pt x="118740" y="72276"/>
                </a:cubicBezTo>
                <a:close/>
                <a:moveTo>
                  <a:pt x="20650" y="72276"/>
                </a:moveTo>
                <a:cubicBezTo>
                  <a:pt x="20650" y="66565"/>
                  <a:pt x="16036" y="61951"/>
                  <a:pt x="10325" y="61951"/>
                </a:cubicBezTo>
                <a:cubicBezTo>
                  <a:pt x="4614" y="61951"/>
                  <a:pt x="0" y="66565"/>
                  <a:pt x="0" y="72276"/>
                </a:cubicBezTo>
                <a:lnTo>
                  <a:pt x="0" y="103252"/>
                </a:lnTo>
                <a:cubicBezTo>
                  <a:pt x="0" y="108963"/>
                  <a:pt x="4614" y="113577"/>
                  <a:pt x="10325" y="113577"/>
                </a:cubicBezTo>
                <a:cubicBezTo>
                  <a:pt x="16036" y="113577"/>
                  <a:pt x="20650" y="108963"/>
                  <a:pt x="20650" y="103252"/>
                </a:cubicBezTo>
                <a:lnTo>
                  <a:pt x="20650" y="72276"/>
                </a:lnTo>
                <a:close/>
                <a:moveTo>
                  <a:pt x="196179" y="61951"/>
                </a:moveTo>
                <a:cubicBezTo>
                  <a:pt x="190468" y="61951"/>
                  <a:pt x="185854" y="66565"/>
                  <a:pt x="185854" y="72276"/>
                </a:cubicBezTo>
                <a:lnTo>
                  <a:pt x="185854" y="103252"/>
                </a:lnTo>
                <a:cubicBezTo>
                  <a:pt x="185854" y="108963"/>
                  <a:pt x="190468" y="113577"/>
                  <a:pt x="196179" y="113577"/>
                </a:cubicBezTo>
                <a:cubicBezTo>
                  <a:pt x="201890" y="113577"/>
                  <a:pt x="206504" y="108963"/>
                  <a:pt x="206504" y="103252"/>
                </a:cubicBezTo>
                <a:lnTo>
                  <a:pt x="206504" y="72276"/>
                </a:lnTo>
                <a:cubicBezTo>
                  <a:pt x="206504" y="66565"/>
                  <a:pt x="201890" y="61951"/>
                  <a:pt x="196179" y="61951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33" name="Text 31"/>
          <p:cNvSpPr/>
          <p:nvPr/>
        </p:nvSpPr>
        <p:spPr>
          <a:xfrm>
            <a:off x="6672275" y="1395967"/>
            <a:ext cx="2040260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ML Algorithms Implemented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66649" y="1759415"/>
            <a:ext cx="2610211" cy="627772"/>
          </a:xfrm>
          <a:prstGeom prst="roundRect">
            <a:avLst>
              <a:gd name="adj" fmla="val 10526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572117" y="1858537"/>
            <a:ext cx="198244" cy="198244"/>
          </a:xfrm>
          <a:custGeom>
            <a:avLst/>
            <a:gdLst/>
            <a:ahLst/>
            <a:cxnLst/>
            <a:rect l="l" t="t" r="r" b="b"/>
            <a:pathLst>
              <a:path w="198244" h="198244">
                <a:moveTo>
                  <a:pt x="24780" y="24780"/>
                </a:moveTo>
                <a:cubicBezTo>
                  <a:pt x="24780" y="17927"/>
                  <a:pt x="19244" y="12390"/>
                  <a:pt x="12390" y="12390"/>
                </a:cubicBezTo>
                <a:cubicBezTo>
                  <a:pt x="5537" y="12390"/>
                  <a:pt x="0" y="17927"/>
                  <a:pt x="0" y="24780"/>
                </a:cubicBezTo>
                <a:lnTo>
                  <a:pt x="0" y="154878"/>
                </a:lnTo>
                <a:cubicBezTo>
                  <a:pt x="0" y="171992"/>
                  <a:pt x="13862" y="185854"/>
                  <a:pt x="30976" y="185854"/>
                </a:cubicBezTo>
                <a:lnTo>
                  <a:pt x="185854" y="185854"/>
                </a:lnTo>
                <a:cubicBezTo>
                  <a:pt x="192707" y="185854"/>
                  <a:pt x="198244" y="180317"/>
                  <a:pt x="198244" y="173463"/>
                </a:cubicBezTo>
                <a:cubicBezTo>
                  <a:pt x="198244" y="166610"/>
                  <a:pt x="192707" y="161073"/>
                  <a:pt x="185854" y="161073"/>
                </a:cubicBezTo>
                <a:lnTo>
                  <a:pt x="30976" y="161073"/>
                </a:lnTo>
                <a:cubicBezTo>
                  <a:pt x="27568" y="161073"/>
                  <a:pt x="24780" y="158285"/>
                  <a:pt x="24780" y="154878"/>
                </a:cubicBezTo>
                <a:lnTo>
                  <a:pt x="24780" y="24780"/>
                </a:lnTo>
                <a:close/>
                <a:moveTo>
                  <a:pt x="182214" y="58312"/>
                </a:moveTo>
                <a:cubicBezTo>
                  <a:pt x="187054" y="53472"/>
                  <a:pt x="187054" y="45612"/>
                  <a:pt x="182214" y="40772"/>
                </a:cubicBezTo>
                <a:cubicBezTo>
                  <a:pt x="177374" y="35932"/>
                  <a:pt x="169514" y="35932"/>
                  <a:pt x="164674" y="40772"/>
                </a:cubicBezTo>
                <a:lnTo>
                  <a:pt x="123902" y="81582"/>
                </a:lnTo>
                <a:lnTo>
                  <a:pt x="101677" y="59396"/>
                </a:lnTo>
                <a:cubicBezTo>
                  <a:pt x="96838" y="54556"/>
                  <a:pt x="88977" y="54556"/>
                  <a:pt x="84138" y="59396"/>
                </a:cubicBezTo>
                <a:lnTo>
                  <a:pt x="46967" y="96566"/>
                </a:lnTo>
                <a:cubicBezTo>
                  <a:pt x="42127" y="101406"/>
                  <a:pt x="42127" y="109266"/>
                  <a:pt x="46967" y="114106"/>
                </a:cubicBezTo>
                <a:cubicBezTo>
                  <a:pt x="51807" y="118946"/>
                  <a:pt x="59667" y="118946"/>
                  <a:pt x="64507" y="114106"/>
                </a:cubicBezTo>
                <a:lnTo>
                  <a:pt x="92927" y="85686"/>
                </a:lnTo>
                <a:lnTo>
                  <a:pt x="115152" y="107911"/>
                </a:lnTo>
                <a:cubicBezTo>
                  <a:pt x="119992" y="112751"/>
                  <a:pt x="127852" y="112751"/>
                  <a:pt x="132692" y="107911"/>
                </a:cubicBezTo>
                <a:lnTo>
                  <a:pt x="182253" y="58350"/>
                </a:ln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36" name="Text 34"/>
          <p:cNvSpPr/>
          <p:nvPr/>
        </p:nvSpPr>
        <p:spPr>
          <a:xfrm>
            <a:off x="6436861" y="2122862"/>
            <a:ext cx="2469789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75079" y="1759415"/>
            <a:ext cx="2610211" cy="627772"/>
          </a:xfrm>
          <a:prstGeom prst="roundRect">
            <a:avLst>
              <a:gd name="adj" fmla="val 10526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292937" y="1858537"/>
            <a:ext cx="173463" cy="198244"/>
          </a:xfrm>
          <a:custGeom>
            <a:avLst/>
            <a:gdLst/>
            <a:ahLst/>
            <a:cxnLst/>
            <a:rect l="l" t="t" r="r" b="b"/>
            <a:pathLst>
              <a:path w="173463" h="198244">
                <a:moveTo>
                  <a:pt x="86732" y="-12390"/>
                </a:moveTo>
                <a:cubicBezTo>
                  <a:pt x="89442" y="-12390"/>
                  <a:pt x="92036" y="-11190"/>
                  <a:pt x="93817" y="-9099"/>
                </a:cubicBezTo>
                <a:lnTo>
                  <a:pt x="146476" y="52852"/>
                </a:lnTo>
                <a:cubicBezTo>
                  <a:pt x="148838" y="55601"/>
                  <a:pt x="149341" y="59473"/>
                  <a:pt x="147831" y="62764"/>
                </a:cubicBezTo>
                <a:cubicBezTo>
                  <a:pt x="146321" y="66055"/>
                  <a:pt x="143030" y="68146"/>
                  <a:pt x="139390" y="68146"/>
                </a:cubicBezTo>
                <a:lnTo>
                  <a:pt x="129749" y="68146"/>
                </a:lnTo>
                <a:lnTo>
                  <a:pt x="158866" y="102413"/>
                </a:lnTo>
                <a:cubicBezTo>
                  <a:pt x="161228" y="105162"/>
                  <a:pt x="161731" y="109034"/>
                  <a:pt x="160221" y="112325"/>
                </a:cubicBezTo>
                <a:cubicBezTo>
                  <a:pt x="158711" y="115616"/>
                  <a:pt x="155420" y="117707"/>
                  <a:pt x="151780" y="117707"/>
                </a:cubicBezTo>
                <a:lnTo>
                  <a:pt x="136873" y="117707"/>
                </a:lnTo>
                <a:lnTo>
                  <a:pt x="171256" y="158169"/>
                </a:lnTo>
                <a:cubicBezTo>
                  <a:pt x="173618" y="160918"/>
                  <a:pt x="174122" y="164790"/>
                  <a:pt x="172612" y="168081"/>
                </a:cubicBezTo>
                <a:cubicBezTo>
                  <a:pt x="171102" y="171373"/>
                  <a:pt x="167810" y="173463"/>
                  <a:pt x="164171" y="173463"/>
                </a:cubicBezTo>
                <a:lnTo>
                  <a:pt x="99122" y="173463"/>
                </a:lnTo>
                <a:lnTo>
                  <a:pt x="99122" y="198244"/>
                </a:lnTo>
                <a:cubicBezTo>
                  <a:pt x="99122" y="205097"/>
                  <a:pt x="93585" y="210634"/>
                  <a:pt x="86732" y="210634"/>
                </a:cubicBezTo>
                <a:cubicBezTo>
                  <a:pt x="79878" y="210634"/>
                  <a:pt x="74341" y="205097"/>
                  <a:pt x="74341" y="198244"/>
                </a:cubicBezTo>
                <a:lnTo>
                  <a:pt x="74341" y="173463"/>
                </a:lnTo>
                <a:lnTo>
                  <a:pt x="9293" y="173463"/>
                </a:lnTo>
                <a:cubicBezTo>
                  <a:pt x="5653" y="173463"/>
                  <a:pt x="2362" y="171373"/>
                  <a:pt x="852" y="168081"/>
                </a:cubicBezTo>
                <a:cubicBezTo>
                  <a:pt x="-658" y="164790"/>
                  <a:pt x="-155" y="160918"/>
                  <a:pt x="2207" y="158169"/>
                </a:cubicBezTo>
                <a:lnTo>
                  <a:pt x="36590" y="117707"/>
                </a:lnTo>
                <a:lnTo>
                  <a:pt x="21683" y="117707"/>
                </a:lnTo>
                <a:cubicBezTo>
                  <a:pt x="18043" y="117707"/>
                  <a:pt x="14752" y="115616"/>
                  <a:pt x="13242" y="112325"/>
                </a:cubicBezTo>
                <a:cubicBezTo>
                  <a:pt x="11732" y="109034"/>
                  <a:pt x="12235" y="105162"/>
                  <a:pt x="14597" y="102413"/>
                </a:cubicBezTo>
                <a:lnTo>
                  <a:pt x="43714" y="68146"/>
                </a:lnTo>
                <a:lnTo>
                  <a:pt x="34073" y="68146"/>
                </a:lnTo>
                <a:cubicBezTo>
                  <a:pt x="30434" y="68146"/>
                  <a:pt x="27142" y="66055"/>
                  <a:pt x="25632" y="62764"/>
                </a:cubicBezTo>
                <a:cubicBezTo>
                  <a:pt x="24122" y="59473"/>
                  <a:pt x="24626" y="55601"/>
                  <a:pt x="26988" y="52852"/>
                </a:cubicBezTo>
                <a:lnTo>
                  <a:pt x="79646" y="-9099"/>
                </a:lnTo>
                <a:cubicBezTo>
                  <a:pt x="81427" y="-11190"/>
                  <a:pt x="84021" y="-12390"/>
                  <a:pt x="86732" y="-12390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39" name="Text 37"/>
          <p:cNvSpPr/>
          <p:nvPr/>
        </p:nvSpPr>
        <p:spPr>
          <a:xfrm>
            <a:off x="9145291" y="2122862"/>
            <a:ext cx="2469789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66649" y="2486309"/>
            <a:ext cx="2610211" cy="627772"/>
          </a:xfrm>
          <a:prstGeom prst="roundRect">
            <a:avLst>
              <a:gd name="adj" fmla="val 10526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584507" y="2585431"/>
            <a:ext cx="173463" cy="198244"/>
          </a:xfrm>
          <a:custGeom>
            <a:avLst/>
            <a:gdLst/>
            <a:ahLst/>
            <a:cxnLst/>
            <a:rect l="l" t="t" r="r" b="b"/>
            <a:pathLst>
              <a:path w="173463" h="198244">
                <a:moveTo>
                  <a:pt x="131182" y="-3833"/>
                </a:moveTo>
                <a:cubicBezTo>
                  <a:pt x="135789" y="-503"/>
                  <a:pt x="137493" y="5537"/>
                  <a:pt x="135402" y="10803"/>
                </a:cubicBezTo>
                <a:lnTo>
                  <a:pt x="105046" y="86732"/>
                </a:lnTo>
                <a:lnTo>
                  <a:pt x="161073" y="86732"/>
                </a:lnTo>
                <a:cubicBezTo>
                  <a:pt x="166300" y="86732"/>
                  <a:pt x="170947" y="89984"/>
                  <a:pt x="172728" y="94902"/>
                </a:cubicBezTo>
                <a:cubicBezTo>
                  <a:pt x="174509" y="99819"/>
                  <a:pt x="172999" y="105317"/>
                  <a:pt x="169011" y="108647"/>
                </a:cubicBezTo>
                <a:lnTo>
                  <a:pt x="57498" y="201574"/>
                </a:lnTo>
                <a:cubicBezTo>
                  <a:pt x="53123" y="205213"/>
                  <a:pt x="46889" y="205407"/>
                  <a:pt x="42282" y="202077"/>
                </a:cubicBezTo>
                <a:cubicBezTo>
                  <a:pt x="37674" y="198747"/>
                  <a:pt x="35970" y="192707"/>
                  <a:pt x="38061" y="187441"/>
                </a:cubicBezTo>
                <a:lnTo>
                  <a:pt x="68417" y="111512"/>
                </a:lnTo>
                <a:lnTo>
                  <a:pt x="12390" y="111512"/>
                </a:lnTo>
                <a:cubicBezTo>
                  <a:pt x="7163" y="111512"/>
                  <a:pt x="2517" y="108260"/>
                  <a:pt x="736" y="103342"/>
                </a:cubicBezTo>
                <a:cubicBezTo>
                  <a:pt x="-1045" y="98425"/>
                  <a:pt x="465" y="92927"/>
                  <a:pt x="4453" y="89597"/>
                </a:cubicBezTo>
                <a:lnTo>
                  <a:pt x="115965" y="-3330"/>
                </a:lnTo>
                <a:cubicBezTo>
                  <a:pt x="120340" y="-6970"/>
                  <a:pt x="126574" y="-7163"/>
                  <a:pt x="131182" y="-3833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42" name="Text 40"/>
          <p:cNvSpPr/>
          <p:nvPr/>
        </p:nvSpPr>
        <p:spPr>
          <a:xfrm>
            <a:off x="6436861" y="2849756"/>
            <a:ext cx="2469789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075079" y="2486309"/>
            <a:ext cx="2610211" cy="627772"/>
          </a:xfrm>
          <a:prstGeom prst="roundRect">
            <a:avLst>
              <a:gd name="adj" fmla="val 10526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305327" y="2585431"/>
            <a:ext cx="148683" cy="198244"/>
          </a:xfrm>
          <a:custGeom>
            <a:avLst/>
            <a:gdLst/>
            <a:ahLst/>
            <a:cxnLst/>
            <a:rect l="l" t="t" r="r" b="b"/>
            <a:pathLst>
              <a:path w="148683" h="198244">
                <a:moveTo>
                  <a:pt x="113409" y="148683"/>
                </a:moveTo>
                <a:cubicBezTo>
                  <a:pt x="116236" y="140048"/>
                  <a:pt x="121889" y="132227"/>
                  <a:pt x="128278" y="125490"/>
                </a:cubicBezTo>
                <a:cubicBezTo>
                  <a:pt x="140939" y="112170"/>
                  <a:pt x="148683" y="94166"/>
                  <a:pt x="148683" y="74341"/>
                </a:cubicBezTo>
                <a:cubicBezTo>
                  <a:pt x="148683" y="33299"/>
                  <a:pt x="115384" y="0"/>
                  <a:pt x="74341" y="0"/>
                </a:cubicBezTo>
                <a:cubicBezTo>
                  <a:pt x="33299" y="0"/>
                  <a:pt x="0" y="33299"/>
                  <a:pt x="0" y="74341"/>
                </a:cubicBezTo>
                <a:cubicBezTo>
                  <a:pt x="0" y="94166"/>
                  <a:pt x="7744" y="112170"/>
                  <a:pt x="20405" y="125490"/>
                </a:cubicBezTo>
                <a:cubicBezTo>
                  <a:pt x="26794" y="132227"/>
                  <a:pt x="32486" y="140048"/>
                  <a:pt x="35273" y="148683"/>
                </a:cubicBezTo>
                <a:lnTo>
                  <a:pt x="113371" y="148683"/>
                </a:lnTo>
                <a:close/>
                <a:moveTo>
                  <a:pt x="111512" y="167268"/>
                </a:moveTo>
                <a:lnTo>
                  <a:pt x="37171" y="167268"/>
                </a:lnTo>
                <a:lnTo>
                  <a:pt x="37171" y="173463"/>
                </a:lnTo>
                <a:cubicBezTo>
                  <a:pt x="37171" y="190577"/>
                  <a:pt x="51032" y="204439"/>
                  <a:pt x="68146" y="204439"/>
                </a:cubicBezTo>
                <a:lnTo>
                  <a:pt x="80537" y="204439"/>
                </a:lnTo>
                <a:cubicBezTo>
                  <a:pt x="97651" y="204439"/>
                  <a:pt x="111512" y="190577"/>
                  <a:pt x="111512" y="173463"/>
                </a:cubicBezTo>
                <a:lnTo>
                  <a:pt x="111512" y="167268"/>
                </a:lnTo>
                <a:close/>
                <a:moveTo>
                  <a:pt x="71244" y="43366"/>
                </a:moveTo>
                <a:cubicBezTo>
                  <a:pt x="55834" y="43366"/>
                  <a:pt x="43366" y="55834"/>
                  <a:pt x="43366" y="71244"/>
                </a:cubicBezTo>
                <a:cubicBezTo>
                  <a:pt x="43366" y="76394"/>
                  <a:pt x="39223" y="80537"/>
                  <a:pt x="34073" y="80537"/>
                </a:cubicBezTo>
                <a:cubicBezTo>
                  <a:pt x="28923" y="80537"/>
                  <a:pt x="24780" y="76394"/>
                  <a:pt x="24780" y="71244"/>
                </a:cubicBezTo>
                <a:cubicBezTo>
                  <a:pt x="24780" y="45573"/>
                  <a:pt x="45573" y="24780"/>
                  <a:pt x="71244" y="24780"/>
                </a:cubicBezTo>
                <a:cubicBezTo>
                  <a:pt x="76394" y="24780"/>
                  <a:pt x="80537" y="28923"/>
                  <a:pt x="80537" y="34073"/>
                </a:cubicBezTo>
                <a:cubicBezTo>
                  <a:pt x="80537" y="39223"/>
                  <a:pt x="76394" y="43366"/>
                  <a:pt x="71244" y="43366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45" name="Text 43"/>
          <p:cNvSpPr/>
          <p:nvPr/>
        </p:nvSpPr>
        <p:spPr>
          <a:xfrm>
            <a:off x="9145291" y="2849756"/>
            <a:ext cx="2469789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LightGBM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66649" y="3213203"/>
            <a:ext cx="2610211" cy="627772"/>
          </a:xfrm>
          <a:prstGeom prst="roundRect">
            <a:avLst>
              <a:gd name="adj" fmla="val 10526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59727" y="3312325"/>
            <a:ext cx="223024" cy="198244"/>
          </a:xfrm>
          <a:custGeom>
            <a:avLst/>
            <a:gdLst/>
            <a:ahLst/>
            <a:cxnLst/>
            <a:rect l="l" t="t" r="r" b="b"/>
            <a:pathLst>
              <a:path w="223024" h="198244">
                <a:moveTo>
                  <a:pt x="24780" y="37171"/>
                </a:moveTo>
                <a:cubicBezTo>
                  <a:pt x="45302" y="37171"/>
                  <a:pt x="61951" y="53820"/>
                  <a:pt x="61951" y="74341"/>
                </a:cubicBezTo>
                <a:lnTo>
                  <a:pt x="61951" y="107563"/>
                </a:lnTo>
                <a:cubicBezTo>
                  <a:pt x="73451" y="90255"/>
                  <a:pt x="92075" y="78059"/>
                  <a:pt x="113603" y="75038"/>
                </a:cubicBezTo>
                <a:cubicBezTo>
                  <a:pt x="123515" y="98270"/>
                  <a:pt x="146592" y="114571"/>
                  <a:pt x="173463" y="114571"/>
                </a:cubicBezTo>
                <a:cubicBezTo>
                  <a:pt x="177684" y="114571"/>
                  <a:pt x="181827" y="114145"/>
                  <a:pt x="185854" y="113371"/>
                </a:cubicBezTo>
                <a:lnTo>
                  <a:pt x="185854" y="185854"/>
                </a:lnTo>
                <a:cubicBezTo>
                  <a:pt x="185854" y="192707"/>
                  <a:pt x="180317" y="198244"/>
                  <a:pt x="173463" y="198244"/>
                </a:cubicBezTo>
                <a:cubicBezTo>
                  <a:pt x="166610" y="198244"/>
                  <a:pt x="161073" y="192707"/>
                  <a:pt x="161073" y="185854"/>
                </a:cubicBezTo>
                <a:lnTo>
                  <a:pt x="161073" y="131337"/>
                </a:lnTo>
                <a:lnTo>
                  <a:pt x="108415" y="173463"/>
                </a:lnTo>
                <a:lnTo>
                  <a:pt x="130098" y="173463"/>
                </a:lnTo>
                <a:cubicBezTo>
                  <a:pt x="136951" y="173463"/>
                  <a:pt x="142488" y="179000"/>
                  <a:pt x="142488" y="185854"/>
                </a:cubicBezTo>
                <a:cubicBezTo>
                  <a:pt x="142488" y="192707"/>
                  <a:pt x="136951" y="198244"/>
                  <a:pt x="130098" y="198244"/>
                </a:cubicBezTo>
                <a:lnTo>
                  <a:pt x="74341" y="198244"/>
                </a:lnTo>
                <a:cubicBezTo>
                  <a:pt x="53820" y="198244"/>
                  <a:pt x="37171" y="181595"/>
                  <a:pt x="37171" y="161073"/>
                </a:cubicBezTo>
                <a:lnTo>
                  <a:pt x="37171" y="74341"/>
                </a:lnTo>
                <a:cubicBezTo>
                  <a:pt x="37171" y="67914"/>
                  <a:pt x="32292" y="62648"/>
                  <a:pt x="26058" y="62029"/>
                </a:cubicBezTo>
                <a:lnTo>
                  <a:pt x="23503" y="61912"/>
                </a:lnTo>
                <a:cubicBezTo>
                  <a:pt x="17269" y="61254"/>
                  <a:pt x="12390" y="55988"/>
                  <a:pt x="12390" y="49561"/>
                </a:cubicBezTo>
                <a:cubicBezTo>
                  <a:pt x="12390" y="42708"/>
                  <a:pt x="17927" y="37171"/>
                  <a:pt x="24780" y="37171"/>
                </a:cubicBezTo>
                <a:close/>
                <a:moveTo>
                  <a:pt x="206685" y="1239"/>
                </a:moveTo>
                <a:cubicBezTo>
                  <a:pt x="210712" y="-2130"/>
                  <a:pt x="216829" y="736"/>
                  <a:pt x="216829" y="6002"/>
                </a:cubicBezTo>
                <a:lnTo>
                  <a:pt x="216829" y="49561"/>
                </a:lnTo>
                <a:cubicBezTo>
                  <a:pt x="216829" y="73528"/>
                  <a:pt x="197431" y="92927"/>
                  <a:pt x="173463" y="92927"/>
                </a:cubicBezTo>
                <a:cubicBezTo>
                  <a:pt x="149496" y="92927"/>
                  <a:pt x="130098" y="73528"/>
                  <a:pt x="130098" y="49561"/>
                </a:cubicBezTo>
                <a:lnTo>
                  <a:pt x="130098" y="6002"/>
                </a:lnTo>
                <a:cubicBezTo>
                  <a:pt x="130098" y="736"/>
                  <a:pt x="136215" y="-2130"/>
                  <a:pt x="140242" y="1239"/>
                </a:cubicBezTo>
                <a:lnTo>
                  <a:pt x="161073" y="18585"/>
                </a:lnTo>
                <a:lnTo>
                  <a:pt x="185854" y="18585"/>
                </a:lnTo>
                <a:lnTo>
                  <a:pt x="206685" y="1239"/>
                </a:lnTo>
                <a:close/>
                <a:moveTo>
                  <a:pt x="154878" y="41817"/>
                </a:moveTo>
                <a:cubicBezTo>
                  <a:pt x="150604" y="41817"/>
                  <a:pt x="147134" y="45287"/>
                  <a:pt x="147134" y="49561"/>
                </a:cubicBezTo>
                <a:cubicBezTo>
                  <a:pt x="147134" y="53835"/>
                  <a:pt x="150604" y="57305"/>
                  <a:pt x="154878" y="57305"/>
                </a:cubicBezTo>
                <a:cubicBezTo>
                  <a:pt x="159152" y="57305"/>
                  <a:pt x="162622" y="53835"/>
                  <a:pt x="162622" y="49561"/>
                </a:cubicBezTo>
                <a:cubicBezTo>
                  <a:pt x="162622" y="45287"/>
                  <a:pt x="159152" y="41817"/>
                  <a:pt x="154878" y="41817"/>
                </a:cubicBezTo>
                <a:close/>
                <a:moveTo>
                  <a:pt x="192049" y="41817"/>
                </a:moveTo>
                <a:cubicBezTo>
                  <a:pt x="187775" y="41817"/>
                  <a:pt x="184305" y="45287"/>
                  <a:pt x="184305" y="49561"/>
                </a:cubicBezTo>
                <a:cubicBezTo>
                  <a:pt x="184305" y="53835"/>
                  <a:pt x="187775" y="57305"/>
                  <a:pt x="192049" y="57305"/>
                </a:cubicBezTo>
                <a:cubicBezTo>
                  <a:pt x="196323" y="57305"/>
                  <a:pt x="199793" y="53835"/>
                  <a:pt x="199793" y="49561"/>
                </a:cubicBezTo>
                <a:cubicBezTo>
                  <a:pt x="199793" y="45287"/>
                  <a:pt x="196323" y="41817"/>
                  <a:pt x="192049" y="41817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48" name="Text 46"/>
          <p:cNvSpPr/>
          <p:nvPr/>
        </p:nvSpPr>
        <p:spPr>
          <a:xfrm>
            <a:off x="6436861" y="3576650"/>
            <a:ext cx="2469789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CatBoost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075079" y="3213203"/>
            <a:ext cx="2610211" cy="627772"/>
          </a:xfrm>
          <a:prstGeom prst="roundRect">
            <a:avLst>
              <a:gd name="adj" fmla="val 10526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0280547" y="3312325"/>
            <a:ext cx="198244" cy="198244"/>
          </a:xfrm>
          <a:custGeom>
            <a:avLst/>
            <a:gdLst/>
            <a:ahLst/>
            <a:cxnLst/>
            <a:rect l="l" t="t" r="r" b="b"/>
            <a:pathLst>
              <a:path w="198244" h="198244">
                <a:moveTo>
                  <a:pt x="25516" y="88474"/>
                </a:moveTo>
                <a:cubicBezTo>
                  <a:pt x="30666" y="52465"/>
                  <a:pt x="61680" y="24780"/>
                  <a:pt x="99122" y="24780"/>
                </a:cubicBezTo>
                <a:cubicBezTo>
                  <a:pt x="119643" y="24780"/>
                  <a:pt x="138229" y="33105"/>
                  <a:pt x="151703" y="46541"/>
                </a:cubicBezTo>
                <a:cubicBezTo>
                  <a:pt x="151780" y="46618"/>
                  <a:pt x="151858" y="46696"/>
                  <a:pt x="151935" y="46773"/>
                </a:cubicBezTo>
                <a:lnTo>
                  <a:pt x="154878" y="49561"/>
                </a:lnTo>
                <a:lnTo>
                  <a:pt x="136331" y="49561"/>
                </a:lnTo>
                <a:cubicBezTo>
                  <a:pt x="129478" y="49561"/>
                  <a:pt x="123941" y="55098"/>
                  <a:pt x="123941" y="61951"/>
                </a:cubicBezTo>
                <a:cubicBezTo>
                  <a:pt x="123941" y="68805"/>
                  <a:pt x="129478" y="74341"/>
                  <a:pt x="136331" y="74341"/>
                </a:cubicBezTo>
                <a:lnTo>
                  <a:pt x="185892" y="74341"/>
                </a:lnTo>
                <a:cubicBezTo>
                  <a:pt x="192746" y="74341"/>
                  <a:pt x="198283" y="68805"/>
                  <a:pt x="198283" y="61951"/>
                </a:cubicBezTo>
                <a:lnTo>
                  <a:pt x="198283" y="12390"/>
                </a:lnTo>
                <a:cubicBezTo>
                  <a:pt x="198283" y="5537"/>
                  <a:pt x="192746" y="0"/>
                  <a:pt x="185892" y="0"/>
                </a:cubicBezTo>
                <a:cubicBezTo>
                  <a:pt x="179039" y="0"/>
                  <a:pt x="173502" y="5537"/>
                  <a:pt x="173502" y="12390"/>
                </a:cubicBezTo>
                <a:lnTo>
                  <a:pt x="173502" y="33066"/>
                </a:lnTo>
                <a:lnTo>
                  <a:pt x="169127" y="28923"/>
                </a:lnTo>
                <a:cubicBezTo>
                  <a:pt x="151200" y="11074"/>
                  <a:pt x="126419" y="0"/>
                  <a:pt x="99122" y="0"/>
                </a:cubicBezTo>
                <a:cubicBezTo>
                  <a:pt x="49174" y="0"/>
                  <a:pt x="7860" y="36938"/>
                  <a:pt x="1007" y="84989"/>
                </a:cubicBezTo>
                <a:cubicBezTo>
                  <a:pt x="39" y="91765"/>
                  <a:pt x="4724" y="98038"/>
                  <a:pt x="11500" y="99006"/>
                </a:cubicBezTo>
                <a:cubicBezTo>
                  <a:pt x="18276" y="99974"/>
                  <a:pt x="24548" y="95250"/>
                  <a:pt x="25516" y="88513"/>
                </a:cubicBezTo>
                <a:close/>
                <a:moveTo>
                  <a:pt x="197237" y="113255"/>
                </a:moveTo>
                <a:cubicBezTo>
                  <a:pt x="198205" y="106479"/>
                  <a:pt x="193481" y="100206"/>
                  <a:pt x="186744" y="99238"/>
                </a:cubicBezTo>
                <a:cubicBezTo>
                  <a:pt x="180007" y="98270"/>
                  <a:pt x="173696" y="102994"/>
                  <a:pt x="172728" y="109731"/>
                </a:cubicBezTo>
                <a:cubicBezTo>
                  <a:pt x="167578" y="145740"/>
                  <a:pt x="136564" y="173425"/>
                  <a:pt x="99122" y="173425"/>
                </a:cubicBezTo>
                <a:cubicBezTo>
                  <a:pt x="78601" y="173425"/>
                  <a:pt x="60015" y="165100"/>
                  <a:pt x="46541" y="151664"/>
                </a:cubicBezTo>
                <a:cubicBezTo>
                  <a:pt x="46463" y="151587"/>
                  <a:pt x="46386" y="151509"/>
                  <a:pt x="46309" y="151432"/>
                </a:cubicBezTo>
                <a:lnTo>
                  <a:pt x="43366" y="148644"/>
                </a:lnTo>
                <a:lnTo>
                  <a:pt x="61912" y="148644"/>
                </a:lnTo>
                <a:cubicBezTo>
                  <a:pt x="68766" y="148644"/>
                  <a:pt x="74303" y="143107"/>
                  <a:pt x="74303" y="136254"/>
                </a:cubicBezTo>
                <a:cubicBezTo>
                  <a:pt x="74303" y="129401"/>
                  <a:pt x="68766" y="123864"/>
                  <a:pt x="61912" y="123864"/>
                </a:cubicBezTo>
                <a:lnTo>
                  <a:pt x="12390" y="123902"/>
                </a:lnTo>
                <a:cubicBezTo>
                  <a:pt x="9099" y="123902"/>
                  <a:pt x="5924" y="125219"/>
                  <a:pt x="3601" y="127581"/>
                </a:cubicBezTo>
                <a:cubicBezTo>
                  <a:pt x="1278" y="129943"/>
                  <a:pt x="-39" y="133079"/>
                  <a:pt x="0" y="136409"/>
                </a:cubicBezTo>
                <a:lnTo>
                  <a:pt x="387" y="185583"/>
                </a:lnTo>
                <a:cubicBezTo>
                  <a:pt x="426" y="192436"/>
                  <a:pt x="6040" y="197934"/>
                  <a:pt x="12894" y="197857"/>
                </a:cubicBezTo>
                <a:cubicBezTo>
                  <a:pt x="19747" y="197779"/>
                  <a:pt x="25245" y="192204"/>
                  <a:pt x="25168" y="185350"/>
                </a:cubicBezTo>
                <a:lnTo>
                  <a:pt x="25013" y="165410"/>
                </a:lnTo>
                <a:lnTo>
                  <a:pt x="29156" y="169320"/>
                </a:lnTo>
                <a:cubicBezTo>
                  <a:pt x="47083" y="187170"/>
                  <a:pt x="71825" y="198244"/>
                  <a:pt x="99122" y="198244"/>
                </a:cubicBezTo>
                <a:cubicBezTo>
                  <a:pt x="149070" y="198244"/>
                  <a:pt x="190384" y="161305"/>
                  <a:pt x="197237" y="113255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51" name="Text 49"/>
          <p:cNvSpPr/>
          <p:nvPr/>
        </p:nvSpPr>
        <p:spPr>
          <a:xfrm>
            <a:off x="9145291" y="3576650"/>
            <a:ext cx="2469789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SVM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66649" y="3940098"/>
            <a:ext cx="5319545" cy="627772"/>
          </a:xfrm>
          <a:prstGeom prst="roundRect">
            <a:avLst>
              <a:gd name="adj" fmla="val 10526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14006" y="4039220"/>
            <a:ext cx="223024" cy="198244"/>
          </a:xfrm>
          <a:custGeom>
            <a:avLst/>
            <a:gdLst/>
            <a:ahLst/>
            <a:cxnLst/>
            <a:rect l="l" t="t" r="r" b="b"/>
            <a:pathLst>
              <a:path w="223024" h="198244">
                <a:moveTo>
                  <a:pt x="96024" y="34073"/>
                </a:moveTo>
                <a:lnTo>
                  <a:pt x="127000" y="34073"/>
                </a:lnTo>
                <a:lnTo>
                  <a:pt x="127000" y="52659"/>
                </a:lnTo>
                <a:lnTo>
                  <a:pt x="96024" y="52659"/>
                </a:lnTo>
                <a:lnTo>
                  <a:pt x="96024" y="34073"/>
                </a:lnTo>
                <a:close/>
                <a:moveTo>
                  <a:pt x="92927" y="12390"/>
                </a:moveTo>
                <a:cubicBezTo>
                  <a:pt x="82666" y="12390"/>
                  <a:pt x="74341" y="20715"/>
                  <a:pt x="74341" y="30976"/>
                </a:cubicBezTo>
                <a:lnTo>
                  <a:pt x="74341" y="55756"/>
                </a:lnTo>
                <a:cubicBezTo>
                  <a:pt x="74341" y="66017"/>
                  <a:pt x="82666" y="74341"/>
                  <a:pt x="92927" y="74341"/>
                </a:cubicBezTo>
                <a:lnTo>
                  <a:pt x="99122" y="74341"/>
                </a:lnTo>
                <a:lnTo>
                  <a:pt x="99122" y="86732"/>
                </a:lnTo>
                <a:lnTo>
                  <a:pt x="12390" y="86732"/>
                </a:lnTo>
                <a:cubicBezTo>
                  <a:pt x="5537" y="86732"/>
                  <a:pt x="0" y="92269"/>
                  <a:pt x="0" y="99122"/>
                </a:cubicBezTo>
                <a:cubicBezTo>
                  <a:pt x="0" y="105975"/>
                  <a:pt x="5537" y="111512"/>
                  <a:pt x="12390" y="111512"/>
                </a:cubicBezTo>
                <a:lnTo>
                  <a:pt x="49561" y="111512"/>
                </a:lnTo>
                <a:lnTo>
                  <a:pt x="49561" y="123902"/>
                </a:lnTo>
                <a:lnTo>
                  <a:pt x="43366" y="123902"/>
                </a:lnTo>
                <a:cubicBezTo>
                  <a:pt x="33105" y="123902"/>
                  <a:pt x="24780" y="132227"/>
                  <a:pt x="24780" y="142488"/>
                </a:cubicBezTo>
                <a:lnTo>
                  <a:pt x="24780" y="167268"/>
                </a:lnTo>
                <a:cubicBezTo>
                  <a:pt x="24780" y="177529"/>
                  <a:pt x="33105" y="185854"/>
                  <a:pt x="43366" y="185854"/>
                </a:cubicBezTo>
                <a:lnTo>
                  <a:pt x="80537" y="185854"/>
                </a:lnTo>
                <a:cubicBezTo>
                  <a:pt x="90797" y="185854"/>
                  <a:pt x="99122" y="177529"/>
                  <a:pt x="99122" y="167268"/>
                </a:cubicBezTo>
                <a:lnTo>
                  <a:pt x="99122" y="142488"/>
                </a:lnTo>
                <a:cubicBezTo>
                  <a:pt x="99122" y="132227"/>
                  <a:pt x="90797" y="123902"/>
                  <a:pt x="80537" y="123902"/>
                </a:cubicBezTo>
                <a:lnTo>
                  <a:pt x="74341" y="123902"/>
                </a:lnTo>
                <a:lnTo>
                  <a:pt x="74341" y="111512"/>
                </a:lnTo>
                <a:lnTo>
                  <a:pt x="148683" y="111512"/>
                </a:lnTo>
                <a:lnTo>
                  <a:pt x="148683" y="123902"/>
                </a:lnTo>
                <a:lnTo>
                  <a:pt x="142488" y="123902"/>
                </a:lnTo>
                <a:cubicBezTo>
                  <a:pt x="132227" y="123902"/>
                  <a:pt x="123902" y="132227"/>
                  <a:pt x="123902" y="142488"/>
                </a:cubicBezTo>
                <a:lnTo>
                  <a:pt x="123902" y="167268"/>
                </a:lnTo>
                <a:cubicBezTo>
                  <a:pt x="123902" y="177529"/>
                  <a:pt x="132227" y="185854"/>
                  <a:pt x="142488" y="185854"/>
                </a:cubicBezTo>
                <a:lnTo>
                  <a:pt x="179659" y="185854"/>
                </a:lnTo>
                <a:cubicBezTo>
                  <a:pt x="189919" y="185854"/>
                  <a:pt x="198244" y="177529"/>
                  <a:pt x="198244" y="167268"/>
                </a:cubicBezTo>
                <a:lnTo>
                  <a:pt x="198244" y="142488"/>
                </a:lnTo>
                <a:cubicBezTo>
                  <a:pt x="198244" y="132227"/>
                  <a:pt x="189919" y="123902"/>
                  <a:pt x="179659" y="123902"/>
                </a:cubicBezTo>
                <a:lnTo>
                  <a:pt x="173463" y="123902"/>
                </a:lnTo>
                <a:lnTo>
                  <a:pt x="173463" y="111512"/>
                </a:lnTo>
                <a:lnTo>
                  <a:pt x="210634" y="111512"/>
                </a:lnTo>
                <a:cubicBezTo>
                  <a:pt x="217488" y="111512"/>
                  <a:pt x="223024" y="105975"/>
                  <a:pt x="223024" y="99122"/>
                </a:cubicBezTo>
                <a:cubicBezTo>
                  <a:pt x="223024" y="92269"/>
                  <a:pt x="217488" y="86732"/>
                  <a:pt x="210634" y="86732"/>
                </a:cubicBezTo>
                <a:lnTo>
                  <a:pt x="123902" y="86732"/>
                </a:lnTo>
                <a:lnTo>
                  <a:pt x="123902" y="74341"/>
                </a:lnTo>
                <a:lnTo>
                  <a:pt x="130098" y="74341"/>
                </a:lnTo>
                <a:cubicBezTo>
                  <a:pt x="140358" y="74341"/>
                  <a:pt x="148683" y="66017"/>
                  <a:pt x="148683" y="55756"/>
                </a:cubicBezTo>
                <a:lnTo>
                  <a:pt x="148683" y="30976"/>
                </a:lnTo>
                <a:cubicBezTo>
                  <a:pt x="148683" y="20715"/>
                  <a:pt x="140358" y="12390"/>
                  <a:pt x="130098" y="12390"/>
                </a:cubicBezTo>
                <a:lnTo>
                  <a:pt x="92927" y="12390"/>
                </a:lnTo>
                <a:close/>
                <a:moveTo>
                  <a:pt x="173463" y="145585"/>
                </a:moveTo>
                <a:lnTo>
                  <a:pt x="176561" y="145585"/>
                </a:lnTo>
                <a:lnTo>
                  <a:pt x="176561" y="164171"/>
                </a:lnTo>
                <a:lnTo>
                  <a:pt x="145585" y="164171"/>
                </a:lnTo>
                <a:lnTo>
                  <a:pt x="145585" y="145585"/>
                </a:lnTo>
                <a:lnTo>
                  <a:pt x="173463" y="145585"/>
                </a:lnTo>
                <a:close/>
                <a:moveTo>
                  <a:pt x="74341" y="145585"/>
                </a:moveTo>
                <a:lnTo>
                  <a:pt x="77439" y="145585"/>
                </a:lnTo>
                <a:lnTo>
                  <a:pt x="77439" y="164171"/>
                </a:lnTo>
                <a:lnTo>
                  <a:pt x="46463" y="164171"/>
                </a:lnTo>
                <a:lnTo>
                  <a:pt x="46463" y="145585"/>
                </a:lnTo>
                <a:lnTo>
                  <a:pt x="74341" y="145585"/>
                </a:ln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54" name="Text 52"/>
          <p:cNvSpPr/>
          <p:nvPr/>
        </p:nvSpPr>
        <p:spPr>
          <a:xfrm>
            <a:off x="6436861" y="4303545"/>
            <a:ext cx="5179122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Neural Networks (MLP)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97316" y="4877626"/>
            <a:ext cx="5658211" cy="1296846"/>
          </a:xfrm>
          <a:prstGeom prst="roundRect">
            <a:avLst>
              <a:gd name="adj" fmla="val 5096"/>
            </a:avLst>
          </a:prstGeom>
          <a:gradFill rotWithShape="1" flip="none">
            <a:gsLst>
              <a:gs pos="0">
                <a:srgbClr val="E9D8FD">
                  <a:alpha val="2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2700">
            <a:solidFill>
              <a:srgbClr val="E9D8FD">
                <a:alpha val="3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76975" y="5080000"/>
            <a:ext cx="185854" cy="165203"/>
          </a:xfrm>
          <a:custGeom>
            <a:avLst/>
            <a:gdLst/>
            <a:ahLst/>
            <a:cxnLst/>
            <a:rect l="l" t="t" r="r" b="b"/>
            <a:pathLst>
              <a:path w="185854" h="165203">
                <a:moveTo>
                  <a:pt x="72309" y="31331"/>
                </a:moveTo>
                <a:lnTo>
                  <a:pt x="72309" y="47335"/>
                </a:lnTo>
                <a:lnTo>
                  <a:pt x="72470" y="47496"/>
                </a:lnTo>
                <a:cubicBezTo>
                  <a:pt x="74567" y="20909"/>
                  <a:pt x="96799" y="0"/>
                  <a:pt x="123935" y="0"/>
                </a:cubicBezTo>
                <a:cubicBezTo>
                  <a:pt x="130420" y="0"/>
                  <a:pt x="136648" y="1194"/>
                  <a:pt x="142359" y="3388"/>
                </a:cubicBezTo>
                <a:cubicBezTo>
                  <a:pt x="145585" y="4614"/>
                  <a:pt x="146166" y="8712"/>
                  <a:pt x="143746" y="11164"/>
                </a:cubicBezTo>
                <a:lnTo>
                  <a:pt x="115126" y="39784"/>
                </a:lnTo>
                <a:cubicBezTo>
                  <a:pt x="114158" y="40752"/>
                  <a:pt x="113610" y="42075"/>
                  <a:pt x="113610" y="43430"/>
                </a:cubicBezTo>
                <a:lnTo>
                  <a:pt x="113610" y="56789"/>
                </a:lnTo>
                <a:cubicBezTo>
                  <a:pt x="113610" y="59628"/>
                  <a:pt x="115933" y="61951"/>
                  <a:pt x="118772" y="61951"/>
                </a:cubicBezTo>
                <a:lnTo>
                  <a:pt x="132130" y="61951"/>
                </a:lnTo>
                <a:cubicBezTo>
                  <a:pt x="133486" y="61951"/>
                  <a:pt x="134808" y="61403"/>
                  <a:pt x="135776" y="60435"/>
                </a:cubicBezTo>
                <a:lnTo>
                  <a:pt x="164397" y="31815"/>
                </a:lnTo>
                <a:cubicBezTo>
                  <a:pt x="166849" y="29362"/>
                  <a:pt x="170947" y="29975"/>
                  <a:pt x="172173" y="33202"/>
                </a:cubicBezTo>
                <a:cubicBezTo>
                  <a:pt x="174367" y="38913"/>
                  <a:pt x="175561" y="45140"/>
                  <a:pt x="175561" y="51626"/>
                </a:cubicBezTo>
                <a:cubicBezTo>
                  <a:pt x="175561" y="71179"/>
                  <a:pt x="164687" y="88216"/>
                  <a:pt x="148618" y="96960"/>
                </a:cubicBezTo>
                <a:lnTo>
                  <a:pt x="174915" y="123257"/>
                </a:lnTo>
                <a:cubicBezTo>
                  <a:pt x="180949" y="129291"/>
                  <a:pt x="180949" y="139100"/>
                  <a:pt x="174915" y="145166"/>
                </a:cubicBezTo>
                <a:lnTo>
                  <a:pt x="155523" y="164558"/>
                </a:lnTo>
                <a:cubicBezTo>
                  <a:pt x="149490" y="170592"/>
                  <a:pt x="139681" y="170592"/>
                  <a:pt x="133615" y="164558"/>
                </a:cubicBezTo>
                <a:lnTo>
                  <a:pt x="92959" y="123902"/>
                </a:lnTo>
                <a:cubicBezTo>
                  <a:pt x="84118" y="115061"/>
                  <a:pt x="82118" y="101994"/>
                  <a:pt x="86990" y="91217"/>
                </a:cubicBezTo>
                <a:lnTo>
                  <a:pt x="57724" y="61951"/>
                </a:lnTo>
                <a:lnTo>
                  <a:pt x="41720" y="61951"/>
                </a:lnTo>
                <a:cubicBezTo>
                  <a:pt x="38268" y="61951"/>
                  <a:pt x="35041" y="60241"/>
                  <a:pt x="33137" y="57369"/>
                </a:cubicBezTo>
                <a:lnTo>
                  <a:pt x="7550" y="19005"/>
                </a:lnTo>
                <a:cubicBezTo>
                  <a:pt x="6195" y="16972"/>
                  <a:pt x="6453" y="14229"/>
                  <a:pt x="8196" y="12487"/>
                </a:cubicBezTo>
                <a:lnTo>
                  <a:pt x="22845" y="-2162"/>
                </a:lnTo>
                <a:cubicBezTo>
                  <a:pt x="24587" y="-3904"/>
                  <a:pt x="27297" y="-4162"/>
                  <a:pt x="29362" y="-2807"/>
                </a:cubicBezTo>
                <a:lnTo>
                  <a:pt x="67727" y="22748"/>
                </a:lnTo>
                <a:cubicBezTo>
                  <a:pt x="70599" y="24651"/>
                  <a:pt x="72309" y="27878"/>
                  <a:pt x="72309" y="31331"/>
                </a:cubicBezTo>
                <a:close/>
                <a:moveTo>
                  <a:pt x="69566" y="95702"/>
                </a:moveTo>
                <a:cubicBezTo>
                  <a:pt x="67533" y="107640"/>
                  <a:pt x="70340" y="120256"/>
                  <a:pt x="78084" y="130356"/>
                </a:cubicBezTo>
                <a:lnTo>
                  <a:pt x="47431" y="160976"/>
                </a:lnTo>
                <a:cubicBezTo>
                  <a:pt x="38365" y="170043"/>
                  <a:pt x="23651" y="170043"/>
                  <a:pt x="14584" y="160976"/>
                </a:cubicBezTo>
                <a:cubicBezTo>
                  <a:pt x="5518" y="151910"/>
                  <a:pt x="5518" y="137196"/>
                  <a:pt x="14584" y="128129"/>
                </a:cubicBezTo>
                <a:lnTo>
                  <a:pt x="58273" y="84441"/>
                </a:lnTo>
                <a:lnTo>
                  <a:pt x="69566" y="95734"/>
                </a:ln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57" name="Text 55"/>
          <p:cNvSpPr/>
          <p:nvPr/>
        </p:nvSpPr>
        <p:spPr>
          <a:xfrm>
            <a:off x="6672275" y="5046959"/>
            <a:ext cx="1247285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 &amp; Platforms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90397" y="5402146"/>
            <a:ext cx="101187" cy="115642"/>
          </a:xfrm>
          <a:custGeom>
            <a:avLst/>
            <a:gdLst/>
            <a:ahLst/>
            <a:cxnLst/>
            <a:rect l="l" t="t" r="r" b="b"/>
            <a:pathLst>
              <a:path w="101187" h="115642">
                <a:moveTo>
                  <a:pt x="99335" y="45286"/>
                </a:moveTo>
                <a:cubicBezTo>
                  <a:pt x="97596" y="38307"/>
                  <a:pt x="94298" y="33044"/>
                  <a:pt x="87274" y="33044"/>
                </a:cubicBezTo>
                <a:lnTo>
                  <a:pt x="78217" y="33044"/>
                </a:lnTo>
                <a:lnTo>
                  <a:pt x="78217" y="43750"/>
                </a:lnTo>
                <a:cubicBezTo>
                  <a:pt x="78217" y="52062"/>
                  <a:pt x="71170" y="59063"/>
                  <a:pt x="63129" y="59063"/>
                </a:cubicBezTo>
                <a:lnTo>
                  <a:pt x="39007" y="59063"/>
                </a:lnTo>
                <a:cubicBezTo>
                  <a:pt x="32411" y="59063"/>
                  <a:pt x="26946" y="64710"/>
                  <a:pt x="26946" y="71328"/>
                </a:cubicBezTo>
                <a:lnTo>
                  <a:pt x="26946" y="94321"/>
                </a:lnTo>
                <a:cubicBezTo>
                  <a:pt x="26946" y="100871"/>
                  <a:pt x="32637" y="104710"/>
                  <a:pt x="39007" y="106585"/>
                </a:cubicBezTo>
                <a:cubicBezTo>
                  <a:pt x="46641" y="108821"/>
                  <a:pt x="53981" y="109228"/>
                  <a:pt x="63129" y="106585"/>
                </a:cubicBezTo>
                <a:cubicBezTo>
                  <a:pt x="69205" y="104823"/>
                  <a:pt x="75190" y="101277"/>
                  <a:pt x="75190" y="94321"/>
                </a:cubicBezTo>
                <a:lnTo>
                  <a:pt x="75190" y="85128"/>
                </a:lnTo>
                <a:lnTo>
                  <a:pt x="51090" y="85128"/>
                </a:lnTo>
                <a:lnTo>
                  <a:pt x="51090" y="82056"/>
                </a:lnTo>
                <a:lnTo>
                  <a:pt x="87274" y="82056"/>
                </a:lnTo>
                <a:cubicBezTo>
                  <a:pt x="94298" y="82056"/>
                  <a:pt x="96896" y="77155"/>
                  <a:pt x="99335" y="69815"/>
                </a:cubicBezTo>
                <a:cubicBezTo>
                  <a:pt x="101865" y="62248"/>
                  <a:pt x="101752" y="54975"/>
                  <a:pt x="99335" y="45286"/>
                </a:cubicBezTo>
                <a:close/>
                <a:moveTo>
                  <a:pt x="64642" y="100442"/>
                </a:moveTo>
                <a:cubicBezTo>
                  <a:pt x="62923" y="100562"/>
                  <a:pt x="61281" y="99713"/>
                  <a:pt x="60384" y="98242"/>
                </a:cubicBezTo>
                <a:cubicBezTo>
                  <a:pt x="59488" y="96770"/>
                  <a:pt x="59488" y="94921"/>
                  <a:pt x="60384" y="93449"/>
                </a:cubicBezTo>
                <a:cubicBezTo>
                  <a:pt x="61281" y="91977"/>
                  <a:pt x="62923" y="91128"/>
                  <a:pt x="64642" y="91249"/>
                </a:cubicBezTo>
                <a:cubicBezTo>
                  <a:pt x="66361" y="91128"/>
                  <a:pt x="68004" y="91977"/>
                  <a:pt x="68900" y="93449"/>
                </a:cubicBezTo>
                <a:cubicBezTo>
                  <a:pt x="69796" y="94921"/>
                  <a:pt x="69796" y="96770"/>
                  <a:pt x="68900" y="98242"/>
                </a:cubicBezTo>
                <a:cubicBezTo>
                  <a:pt x="68004" y="99713"/>
                  <a:pt x="66361" y="100562"/>
                  <a:pt x="64642" y="100442"/>
                </a:cubicBezTo>
                <a:close/>
                <a:moveTo>
                  <a:pt x="37900" y="56037"/>
                </a:moveTo>
                <a:lnTo>
                  <a:pt x="62022" y="56037"/>
                </a:lnTo>
                <a:cubicBezTo>
                  <a:pt x="68730" y="56037"/>
                  <a:pt x="74083" y="50503"/>
                  <a:pt x="74083" y="43772"/>
                </a:cubicBezTo>
                <a:lnTo>
                  <a:pt x="74083" y="20757"/>
                </a:lnTo>
                <a:cubicBezTo>
                  <a:pt x="74083" y="14207"/>
                  <a:pt x="68572" y="9306"/>
                  <a:pt x="62022" y="8199"/>
                </a:cubicBezTo>
                <a:cubicBezTo>
                  <a:pt x="53936" y="6866"/>
                  <a:pt x="45150" y="6934"/>
                  <a:pt x="37900" y="8221"/>
                </a:cubicBezTo>
                <a:cubicBezTo>
                  <a:pt x="27691" y="10028"/>
                  <a:pt x="25839" y="13800"/>
                  <a:pt x="25839" y="20779"/>
                </a:cubicBezTo>
                <a:lnTo>
                  <a:pt x="25839" y="29972"/>
                </a:lnTo>
                <a:lnTo>
                  <a:pt x="49984" y="29972"/>
                </a:lnTo>
                <a:lnTo>
                  <a:pt x="49984" y="33044"/>
                </a:lnTo>
                <a:lnTo>
                  <a:pt x="16782" y="33044"/>
                </a:lnTo>
                <a:cubicBezTo>
                  <a:pt x="9757" y="33044"/>
                  <a:pt x="3614" y="37268"/>
                  <a:pt x="1694" y="45286"/>
                </a:cubicBezTo>
                <a:cubicBezTo>
                  <a:pt x="-519" y="54478"/>
                  <a:pt x="-610" y="60215"/>
                  <a:pt x="1694" y="69815"/>
                </a:cubicBezTo>
                <a:cubicBezTo>
                  <a:pt x="3411" y="76952"/>
                  <a:pt x="7499" y="82056"/>
                  <a:pt x="14523" y="82056"/>
                </a:cubicBezTo>
                <a:lnTo>
                  <a:pt x="22812" y="82056"/>
                </a:lnTo>
                <a:lnTo>
                  <a:pt x="22812" y="71034"/>
                </a:lnTo>
                <a:cubicBezTo>
                  <a:pt x="22812" y="63061"/>
                  <a:pt x="29701" y="56037"/>
                  <a:pt x="37900" y="56037"/>
                </a:cubicBezTo>
                <a:close/>
                <a:moveTo>
                  <a:pt x="36409" y="14613"/>
                </a:moveTo>
                <a:cubicBezTo>
                  <a:pt x="38952" y="14613"/>
                  <a:pt x="41017" y="16678"/>
                  <a:pt x="41017" y="19221"/>
                </a:cubicBezTo>
                <a:cubicBezTo>
                  <a:pt x="41017" y="21764"/>
                  <a:pt x="38952" y="23829"/>
                  <a:pt x="36409" y="23829"/>
                </a:cubicBezTo>
                <a:cubicBezTo>
                  <a:pt x="33866" y="23829"/>
                  <a:pt x="31802" y="21764"/>
                  <a:pt x="31802" y="19221"/>
                </a:cubicBezTo>
                <a:cubicBezTo>
                  <a:pt x="31802" y="16678"/>
                  <a:pt x="33866" y="14613"/>
                  <a:pt x="36409" y="14613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59" name="Text 57"/>
          <p:cNvSpPr/>
          <p:nvPr/>
        </p:nvSpPr>
        <p:spPr>
          <a:xfrm>
            <a:off x="6577284" y="5377366"/>
            <a:ext cx="404748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082307" y="5402146"/>
            <a:ext cx="101187" cy="115642"/>
          </a:xfrm>
          <a:custGeom>
            <a:avLst/>
            <a:gdLst/>
            <a:ahLst/>
            <a:cxnLst/>
            <a:rect l="l" t="t" r="r" b="b"/>
            <a:pathLst>
              <a:path w="101187" h="115642">
                <a:moveTo>
                  <a:pt x="86732" y="115642"/>
                </a:moveTo>
                <a:lnTo>
                  <a:pt x="21683" y="115642"/>
                </a:lnTo>
                <a:cubicBezTo>
                  <a:pt x="9712" y="115642"/>
                  <a:pt x="0" y="105930"/>
                  <a:pt x="0" y="93959"/>
                </a:cubicBezTo>
                <a:lnTo>
                  <a:pt x="0" y="21683"/>
                </a:lnTo>
                <a:cubicBezTo>
                  <a:pt x="0" y="9712"/>
                  <a:pt x="9712" y="0"/>
                  <a:pt x="21683" y="0"/>
                </a:cubicBezTo>
                <a:lnTo>
                  <a:pt x="90346" y="0"/>
                </a:lnTo>
                <a:cubicBezTo>
                  <a:pt x="96331" y="0"/>
                  <a:pt x="101187" y="4856"/>
                  <a:pt x="101187" y="10841"/>
                </a:cubicBezTo>
                <a:lnTo>
                  <a:pt x="101187" y="75890"/>
                </a:lnTo>
                <a:cubicBezTo>
                  <a:pt x="101187" y="80611"/>
                  <a:pt x="98160" y="84631"/>
                  <a:pt x="93959" y="86122"/>
                </a:cubicBezTo>
                <a:lnTo>
                  <a:pt x="93959" y="101187"/>
                </a:lnTo>
                <a:cubicBezTo>
                  <a:pt x="97957" y="101187"/>
                  <a:pt x="101187" y="104417"/>
                  <a:pt x="101187" y="108415"/>
                </a:cubicBezTo>
                <a:cubicBezTo>
                  <a:pt x="101187" y="112412"/>
                  <a:pt x="97957" y="115642"/>
                  <a:pt x="93959" y="115642"/>
                </a:cubicBezTo>
                <a:lnTo>
                  <a:pt x="86732" y="115642"/>
                </a:lnTo>
                <a:close/>
                <a:moveTo>
                  <a:pt x="21683" y="86732"/>
                </a:moveTo>
                <a:cubicBezTo>
                  <a:pt x="17685" y="86732"/>
                  <a:pt x="14455" y="89962"/>
                  <a:pt x="14455" y="93959"/>
                </a:cubicBezTo>
                <a:cubicBezTo>
                  <a:pt x="14455" y="97957"/>
                  <a:pt x="17685" y="101187"/>
                  <a:pt x="21683" y="101187"/>
                </a:cubicBezTo>
                <a:lnTo>
                  <a:pt x="79504" y="101187"/>
                </a:lnTo>
                <a:lnTo>
                  <a:pt x="79504" y="86732"/>
                </a:lnTo>
                <a:lnTo>
                  <a:pt x="21683" y="86732"/>
                </a:lnTo>
                <a:close/>
                <a:moveTo>
                  <a:pt x="28911" y="34331"/>
                </a:moveTo>
                <a:cubicBezTo>
                  <a:pt x="28911" y="37335"/>
                  <a:pt x="31327" y="39752"/>
                  <a:pt x="34331" y="39752"/>
                </a:cubicBezTo>
                <a:lnTo>
                  <a:pt x="74083" y="39752"/>
                </a:lnTo>
                <a:cubicBezTo>
                  <a:pt x="77087" y="39752"/>
                  <a:pt x="79504" y="37335"/>
                  <a:pt x="79504" y="34331"/>
                </a:cubicBezTo>
                <a:cubicBezTo>
                  <a:pt x="79504" y="31327"/>
                  <a:pt x="77087" y="28911"/>
                  <a:pt x="74083" y="28911"/>
                </a:cubicBezTo>
                <a:lnTo>
                  <a:pt x="34331" y="28911"/>
                </a:lnTo>
                <a:cubicBezTo>
                  <a:pt x="31327" y="28911"/>
                  <a:pt x="28911" y="31327"/>
                  <a:pt x="28911" y="34331"/>
                </a:cubicBezTo>
                <a:close/>
                <a:moveTo>
                  <a:pt x="34331" y="50593"/>
                </a:moveTo>
                <a:cubicBezTo>
                  <a:pt x="31327" y="50593"/>
                  <a:pt x="28911" y="53010"/>
                  <a:pt x="28911" y="56014"/>
                </a:cubicBezTo>
                <a:cubicBezTo>
                  <a:pt x="28911" y="59018"/>
                  <a:pt x="31327" y="61435"/>
                  <a:pt x="34331" y="61435"/>
                </a:cubicBezTo>
                <a:lnTo>
                  <a:pt x="74083" y="61435"/>
                </a:lnTo>
                <a:cubicBezTo>
                  <a:pt x="77087" y="61435"/>
                  <a:pt x="79504" y="59018"/>
                  <a:pt x="79504" y="56014"/>
                </a:cubicBezTo>
                <a:cubicBezTo>
                  <a:pt x="79504" y="53010"/>
                  <a:pt x="77087" y="50593"/>
                  <a:pt x="74083" y="50593"/>
                </a:cubicBezTo>
                <a:lnTo>
                  <a:pt x="34331" y="50593"/>
                </a:ln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61" name="Text 59"/>
          <p:cNvSpPr/>
          <p:nvPr/>
        </p:nvSpPr>
        <p:spPr>
          <a:xfrm>
            <a:off x="9269193" y="5377366"/>
            <a:ext cx="941659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Jupyter Notebook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83170" y="5633431"/>
            <a:ext cx="115642" cy="115642"/>
          </a:xfrm>
          <a:custGeom>
            <a:avLst/>
            <a:gdLst/>
            <a:ahLst/>
            <a:cxnLst/>
            <a:rect l="l" t="t" r="r" b="b"/>
            <a:pathLst>
              <a:path w="115642" h="115642">
                <a:moveTo>
                  <a:pt x="50661" y="-565"/>
                </a:moveTo>
                <a:cubicBezTo>
                  <a:pt x="55133" y="-3140"/>
                  <a:pt x="60644" y="-3140"/>
                  <a:pt x="65117" y="-565"/>
                </a:cubicBezTo>
                <a:lnTo>
                  <a:pt x="104846" y="22361"/>
                </a:lnTo>
                <a:cubicBezTo>
                  <a:pt x="109318" y="24935"/>
                  <a:pt x="112074" y="29724"/>
                  <a:pt x="112074" y="34873"/>
                </a:cubicBezTo>
                <a:lnTo>
                  <a:pt x="112074" y="80724"/>
                </a:lnTo>
                <a:cubicBezTo>
                  <a:pt x="112074" y="85896"/>
                  <a:pt x="109318" y="90662"/>
                  <a:pt x="104846" y="93237"/>
                </a:cubicBezTo>
                <a:lnTo>
                  <a:pt x="65117" y="116207"/>
                </a:lnTo>
                <a:cubicBezTo>
                  <a:pt x="60644" y="118782"/>
                  <a:pt x="55133" y="118782"/>
                  <a:pt x="50661" y="116207"/>
                </a:cubicBezTo>
                <a:lnTo>
                  <a:pt x="10954" y="93282"/>
                </a:lnTo>
                <a:cubicBezTo>
                  <a:pt x="6482" y="90707"/>
                  <a:pt x="3727" y="85919"/>
                  <a:pt x="3727" y="80769"/>
                </a:cubicBezTo>
                <a:lnTo>
                  <a:pt x="3727" y="34919"/>
                </a:lnTo>
                <a:cubicBezTo>
                  <a:pt x="3727" y="29746"/>
                  <a:pt x="6482" y="24981"/>
                  <a:pt x="10954" y="22406"/>
                </a:cubicBezTo>
                <a:lnTo>
                  <a:pt x="50661" y="-565"/>
                </a:lnTo>
                <a:close/>
                <a:moveTo>
                  <a:pt x="97596" y="80746"/>
                </a:moveTo>
                <a:lnTo>
                  <a:pt x="97596" y="43230"/>
                </a:lnTo>
                <a:lnTo>
                  <a:pt x="65117" y="61977"/>
                </a:lnTo>
                <a:lnTo>
                  <a:pt x="65117" y="99493"/>
                </a:lnTo>
                <a:lnTo>
                  <a:pt x="97596" y="80746"/>
                </a:ln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63" name="Text 61"/>
          <p:cNvSpPr/>
          <p:nvPr/>
        </p:nvSpPr>
        <p:spPr>
          <a:xfrm>
            <a:off x="6577284" y="5608650"/>
            <a:ext cx="619512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075079" y="5633431"/>
            <a:ext cx="115642" cy="115642"/>
          </a:xfrm>
          <a:custGeom>
            <a:avLst/>
            <a:gdLst/>
            <a:ahLst/>
            <a:cxnLst/>
            <a:rect l="l" t="t" r="r" b="b"/>
            <a:pathLst>
              <a:path w="115642" h="115642">
                <a:moveTo>
                  <a:pt x="7228" y="7228"/>
                </a:moveTo>
                <a:cubicBezTo>
                  <a:pt x="11225" y="7228"/>
                  <a:pt x="14455" y="10457"/>
                  <a:pt x="14455" y="14455"/>
                </a:cubicBezTo>
                <a:lnTo>
                  <a:pt x="14455" y="90346"/>
                </a:lnTo>
                <a:cubicBezTo>
                  <a:pt x="14455" y="92333"/>
                  <a:pt x="16082" y="93959"/>
                  <a:pt x="18069" y="93959"/>
                </a:cubicBezTo>
                <a:lnTo>
                  <a:pt x="108415" y="93959"/>
                </a:lnTo>
                <a:cubicBezTo>
                  <a:pt x="112412" y="93959"/>
                  <a:pt x="115642" y="97189"/>
                  <a:pt x="115642" y="101187"/>
                </a:cubicBezTo>
                <a:cubicBezTo>
                  <a:pt x="115642" y="105185"/>
                  <a:pt x="112412" y="108415"/>
                  <a:pt x="108415" y="108415"/>
                </a:cubicBezTo>
                <a:lnTo>
                  <a:pt x="18069" y="108415"/>
                </a:lnTo>
                <a:cubicBezTo>
                  <a:pt x="8086" y="108415"/>
                  <a:pt x="0" y="100329"/>
                  <a:pt x="0" y="90346"/>
                </a:cubicBezTo>
                <a:lnTo>
                  <a:pt x="0" y="14455"/>
                </a:lnTo>
                <a:cubicBezTo>
                  <a:pt x="0" y="10457"/>
                  <a:pt x="3230" y="7228"/>
                  <a:pt x="7228" y="7228"/>
                </a:cubicBezTo>
                <a:close/>
                <a:moveTo>
                  <a:pt x="28911" y="21683"/>
                </a:moveTo>
                <a:cubicBezTo>
                  <a:pt x="28911" y="17685"/>
                  <a:pt x="32140" y="14455"/>
                  <a:pt x="36138" y="14455"/>
                </a:cubicBezTo>
                <a:lnTo>
                  <a:pt x="79504" y="14455"/>
                </a:lnTo>
                <a:cubicBezTo>
                  <a:pt x="83502" y="14455"/>
                  <a:pt x="86732" y="17685"/>
                  <a:pt x="86732" y="21683"/>
                </a:cubicBezTo>
                <a:cubicBezTo>
                  <a:pt x="86732" y="25681"/>
                  <a:pt x="83502" y="28911"/>
                  <a:pt x="79504" y="28911"/>
                </a:cubicBezTo>
                <a:lnTo>
                  <a:pt x="36138" y="28911"/>
                </a:lnTo>
                <a:cubicBezTo>
                  <a:pt x="32140" y="28911"/>
                  <a:pt x="28911" y="25681"/>
                  <a:pt x="28911" y="21683"/>
                </a:cubicBezTo>
                <a:close/>
                <a:moveTo>
                  <a:pt x="36138" y="39752"/>
                </a:moveTo>
                <a:lnTo>
                  <a:pt x="65049" y="39752"/>
                </a:lnTo>
                <a:cubicBezTo>
                  <a:pt x="69047" y="39752"/>
                  <a:pt x="72276" y="42982"/>
                  <a:pt x="72276" y="46980"/>
                </a:cubicBezTo>
                <a:cubicBezTo>
                  <a:pt x="72276" y="50977"/>
                  <a:pt x="69047" y="54207"/>
                  <a:pt x="65049" y="54207"/>
                </a:cubicBezTo>
                <a:lnTo>
                  <a:pt x="36138" y="54207"/>
                </a:lnTo>
                <a:cubicBezTo>
                  <a:pt x="32140" y="54207"/>
                  <a:pt x="28911" y="50977"/>
                  <a:pt x="28911" y="46980"/>
                </a:cubicBezTo>
                <a:cubicBezTo>
                  <a:pt x="28911" y="42982"/>
                  <a:pt x="32140" y="39752"/>
                  <a:pt x="36138" y="39752"/>
                </a:cubicBezTo>
                <a:close/>
                <a:moveTo>
                  <a:pt x="36138" y="65049"/>
                </a:moveTo>
                <a:lnTo>
                  <a:pt x="93959" y="65049"/>
                </a:lnTo>
                <a:cubicBezTo>
                  <a:pt x="97957" y="65049"/>
                  <a:pt x="101187" y="68279"/>
                  <a:pt x="101187" y="72276"/>
                </a:cubicBezTo>
                <a:cubicBezTo>
                  <a:pt x="101187" y="76274"/>
                  <a:pt x="97957" y="79504"/>
                  <a:pt x="93959" y="79504"/>
                </a:cubicBezTo>
                <a:lnTo>
                  <a:pt x="36138" y="79504"/>
                </a:lnTo>
                <a:cubicBezTo>
                  <a:pt x="32140" y="79504"/>
                  <a:pt x="28911" y="76274"/>
                  <a:pt x="28911" y="72276"/>
                </a:cubicBezTo>
                <a:cubicBezTo>
                  <a:pt x="28911" y="68279"/>
                  <a:pt x="32140" y="65049"/>
                  <a:pt x="36138" y="65049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65" name="Text 63"/>
          <p:cNvSpPr/>
          <p:nvPr/>
        </p:nvSpPr>
        <p:spPr>
          <a:xfrm>
            <a:off x="9269193" y="5608650"/>
            <a:ext cx="826016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pandas, numpy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75942" y="5864715"/>
            <a:ext cx="130098" cy="115642"/>
          </a:xfrm>
          <a:custGeom>
            <a:avLst/>
            <a:gdLst/>
            <a:ahLst/>
            <a:cxnLst/>
            <a:rect l="l" t="t" r="r" b="b"/>
            <a:pathLst>
              <a:path w="130098" h="115642">
                <a:moveTo>
                  <a:pt x="86732" y="32524"/>
                </a:moveTo>
                <a:cubicBezTo>
                  <a:pt x="86732" y="54478"/>
                  <a:pt x="67307" y="72276"/>
                  <a:pt x="43366" y="72276"/>
                </a:cubicBezTo>
                <a:cubicBezTo>
                  <a:pt x="37335" y="72276"/>
                  <a:pt x="31598" y="71147"/>
                  <a:pt x="26381" y="69114"/>
                </a:cubicBezTo>
                <a:lnTo>
                  <a:pt x="7950" y="78872"/>
                </a:lnTo>
                <a:cubicBezTo>
                  <a:pt x="5850" y="79978"/>
                  <a:pt x="3275" y="79594"/>
                  <a:pt x="1581" y="77923"/>
                </a:cubicBezTo>
                <a:cubicBezTo>
                  <a:pt x="-113" y="76252"/>
                  <a:pt x="-497" y="73654"/>
                  <a:pt x="632" y="71554"/>
                </a:cubicBezTo>
                <a:lnTo>
                  <a:pt x="8673" y="56376"/>
                </a:lnTo>
                <a:cubicBezTo>
                  <a:pt x="3230" y="49735"/>
                  <a:pt x="0" y="41469"/>
                  <a:pt x="0" y="32524"/>
                </a:cubicBezTo>
                <a:cubicBezTo>
                  <a:pt x="0" y="10570"/>
                  <a:pt x="19424" y="-7228"/>
                  <a:pt x="43366" y="-7228"/>
                </a:cubicBezTo>
                <a:cubicBezTo>
                  <a:pt x="67307" y="-7228"/>
                  <a:pt x="86732" y="10570"/>
                  <a:pt x="86732" y="32524"/>
                </a:cubicBezTo>
                <a:close/>
                <a:moveTo>
                  <a:pt x="86732" y="115642"/>
                </a:moveTo>
                <a:cubicBezTo>
                  <a:pt x="65478" y="115642"/>
                  <a:pt x="47793" y="101616"/>
                  <a:pt x="44089" y="83118"/>
                </a:cubicBezTo>
                <a:cubicBezTo>
                  <a:pt x="71192" y="82779"/>
                  <a:pt x="94750" y="63490"/>
                  <a:pt x="97347" y="37335"/>
                </a:cubicBezTo>
                <a:cubicBezTo>
                  <a:pt x="116162" y="41672"/>
                  <a:pt x="130098" y="57279"/>
                  <a:pt x="130098" y="75890"/>
                </a:cubicBezTo>
                <a:cubicBezTo>
                  <a:pt x="130098" y="84834"/>
                  <a:pt x="126868" y="93101"/>
                  <a:pt x="121424" y="99741"/>
                </a:cubicBezTo>
                <a:lnTo>
                  <a:pt x="129465" y="114920"/>
                </a:lnTo>
                <a:cubicBezTo>
                  <a:pt x="130572" y="117020"/>
                  <a:pt x="130188" y="119595"/>
                  <a:pt x="128517" y="121289"/>
                </a:cubicBezTo>
                <a:cubicBezTo>
                  <a:pt x="126845" y="122983"/>
                  <a:pt x="124248" y="123367"/>
                  <a:pt x="122147" y="122238"/>
                </a:cubicBezTo>
                <a:lnTo>
                  <a:pt x="103717" y="112480"/>
                </a:lnTo>
                <a:cubicBezTo>
                  <a:pt x="98499" y="114513"/>
                  <a:pt x="92762" y="115642"/>
                  <a:pt x="86732" y="115642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67" name="Text 65"/>
          <p:cNvSpPr/>
          <p:nvPr/>
        </p:nvSpPr>
        <p:spPr>
          <a:xfrm>
            <a:off x="6577284" y="5839935"/>
            <a:ext cx="710374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nltk, textblob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075079" y="5864715"/>
            <a:ext cx="115642" cy="115642"/>
          </a:xfrm>
          <a:custGeom>
            <a:avLst/>
            <a:gdLst/>
            <a:ahLst/>
            <a:cxnLst/>
            <a:rect l="l" t="t" r="r" b="b"/>
            <a:pathLst>
              <a:path w="115642" h="115642">
                <a:moveTo>
                  <a:pt x="113519" y="34015"/>
                </a:moveTo>
                <a:lnTo>
                  <a:pt x="91836" y="55698"/>
                </a:lnTo>
                <a:cubicBezTo>
                  <a:pt x="89758" y="57776"/>
                  <a:pt x="86664" y="58386"/>
                  <a:pt x="83954" y="57256"/>
                </a:cubicBezTo>
                <a:cubicBezTo>
                  <a:pt x="81243" y="56127"/>
                  <a:pt x="79504" y="53507"/>
                  <a:pt x="79504" y="50593"/>
                </a:cubicBezTo>
                <a:lnTo>
                  <a:pt x="79504" y="36138"/>
                </a:lnTo>
                <a:lnTo>
                  <a:pt x="7228" y="36138"/>
                </a:lnTo>
                <a:cubicBezTo>
                  <a:pt x="3230" y="36138"/>
                  <a:pt x="0" y="32908"/>
                  <a:pt x="0" y="28911"/>
                </a:cubicBezTo>
                <a:cubicBezTo>
                  <a:pt x="0" y="24913"/>
                  <a:pt x="3230" y="21683"/>
                  <a:pt x="7228" y="21683"/>
                </a:cubicBezTo>
                <a:lnTo>
                  <a:pt x="79504" y="21683"/>
                </a:lnTo>
                <a:lnTo>
                  <a:pt x="79504" y="7228"/>
                </a:lnTo>
                <a:cubicBezTo>
                  <a:pt x="79504" y="4314"/>
                  <a:pt x="81266" y="1671"/>
                  <a:pt x="83976" y="542"/>
                </a:cubicBezTo>
                <a:cubicBezTo>
                  <a:pt x="86687" y="-587"/>
                  <a:pt x="89781" y="45"/>
                  <a:pt x="91859" y="2101"/>
                </a:cubicBezTo>
                <a:lnTo>
                  <a:pt x="113542" y="23783"/>
                </a:lnTo>
                <a:cubicBezTo>
                  <a:pt x="116365" y="26607"/>
                  <a:pt x="116365" y="31192"/>
                  <a:pt x="113542" y="34015"/>
                </a:cubicBezTo>
                <a:close/>
                <a:moveTo>
                  <a:pt x="23783" y="113519"/>
                </a:moveTo>
                <a:lnTo>
                  <a:pt x="2101" y="91836"/>
                </a:lnTo>
                <a:cubicBezTo>
                  <a:pt x="-723" y="89013"/>
                  <a:pt x="-723" y="84428"/>
                  <a:pt x="2101" y="81605"/>
                </a:cubicBezTo>
                <a:lnTo>
                  <a:pt x="23783" y="59922"/>
                </a:lnTo>
                <a:cubicBezTo>
                  <a:pt x="25861" y="57844"/>
                  <a:pt x="28956" y="57234"/>
                  <a:pt x="31666" y="58363"/>
                </a:cubicBezTo>
                <a:cubicBezTo>
                  <a:pt x="34376" y="59493"/>
                  <a:pt x="36138" y="62135"/>
                  <a:pt x="36138" y="65049"/>
                </a:cubicBezTo>
                <a:lnTo>
                  <a:pt x="36138" y="79504"/>
                </a:lnTo>
                <a:lnTo>
                  <a:pt x="108415" y="79504"/>
                </a:lnTo>
                <a:cubicBezTo>
                  <a:pt x="112412" y="79504"/>
                  <a:pt x="115642" y="82734"/>
                  <a:pt x="115642" y="86732"/>
                </a:cubicBezTo>
                <a:cubicBezTo>
                  <a:pt x="115642" y="90729"/>
                  <a:pt x="112412" y="93959"/>
                  <a:pt x="108415" y="93959"/>
                </a:cubicBezTo>
                <a:lnTo>
                  <a:pt x="36138" y="93959"/>
                </a:lnTo>
                <a:lnTo>
                  <a:pt x="36138" y="108415"/>
                </a:lnTo>
                <a:cubicBezTo>
                  <a:pt x="36138" y="111328"/>
                  <a:pt x="34376" y="113971"/>
                  <a:pt x="31666" y="115100"/>
                </a:cubicBezTo>
                <a:cubicBezTo>
                  <a:pt x="28956" y="116230"/>
                  <a:pt x="25861" y="115597"/>
                  <a:pt x="23783" y="113542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69" name="Text 67"/>
          <p:cNvSpPr/>
          <p:nvPr/>
        </p:nvSpPr>
        <p:spPr>
          <a:xfrm>
            <a:off x="9269193" y="5839935"/>
            <a:ext cx="743415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PKL → ONNX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334537" y="6347935"/>
            <a:ext cx="11522927" cy="503870"/>
          </a:xfrm>
          <a:prstGeom prst="roundRect">
            <a:avLst>
              <a:gd name="adj" fmla="val 13115"/>
            </a:avLst>
          </a:prstGeom>
          <a:solidFill>
            <a:srgbClr val="4A5568">
              <a:alpha val="30196"/>
            </a:srgbClr>
          </a:solidFill>
          <a:ln w="12700">
            <a:solidFill>
              <a:srgbClr val="A0AEC0">
                <a:alpha val="2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91480" y="6517268"/>
            <a:ext cx="165203" cy="165203"/>
          </a:xfrm>
          <a:custGeom>
            <a:avLst/>
            <a:gdLst/>
            <a:ahLst/>
            <a:cxnLst/>
            <a:rect l="l" t="t" r="r" b="b"/>
            <a:pathLst>
              <a:path w="165203" h="165203">
                <a:moveTo>
                  <a:pt x="144553" y="82602"/>
                </a:moveTo>
                <a:cubicBezTo>
                  <a:pt x="144553" y="48410"/>
                  <a:pt x="116793" y="20650"/>
                  <a:pt x="82602" y="20650"/>
                </a:cubicBezTo>
                <a:cubicBezTo>
                  <a:pt x="48410" y="20650"/>
                  <a:pt x="20650" y="48410"/>
                  <a:pt x="20650" y="82602"/>
                </a:cubicBezTo>
                <a:cubicBezTo>
                  <a:pt x="20650" y="116793"/>
                  <a:pt x="48410" y="144553"/>
                  <a:pt x="82602" y="144553"/>
                </a:cubicBezTo>
                <a:cubicBezTo>
                  <a:pt x="116793" y="144553"/>
                  <a:pt x="144553" y="116793"/>
                  <a:pt x="144553" y="82602"/>
                </a:cubicBezTo>
                <a:close/>
                <a:moveTo>
                  <a:pt x="0" y="82602"/>
                </a:moveTo>
                <a:cubicBezTo>
                  <a:pt x="0" y="37013"/>
                  <a:pt x="37013" y="0"/>
                  <a:pt x="82602" y="0"/>
                </a:cubicBezTo>
                <a:cubicBezTo>
                  <a:pt x="128191" y="0"/>
                  <a:pt x="165203" y="37013"/>
                  <a:pt x="165203" y="82602"/>
                </a:cubicBezTo>
                <a:cubicBezTo>
                  <a:pt x="165203" y="128191"/>
                  <a:pt x="128191" y="165203"/>
                  <a:pt x="82602" y="165203"/>
                </a:cubicBezTo>
                <a:cubicBezTo>
                  <a:pt x="37013" y="165203"/>
                  <a:pt x="0" y="128191"/>
                  <a:pt x="0" y="82602"/>
                </a:cubicBezTo>
                <a:close/>
                <a:moveTo>
                  <a:pt x="82602" y="108415"/>
                </a:moveTo>
                <a:cubicBezTo>
                  <a:pt x="96848" y="108415"/>
                  <a:pt x="108415" y="96848"/>
                  <a:pt x="108415" y="82602"/>
                </a:cubicBezTo>
                <a:cubicBezTo>
                  <a:pt x="108415" y="68355"/>
                  <a:pt x="96848" y="56789"/>
                  <a:pt x="82602" y="56789"/>
                </a:cubicBezTo>
                <a:cubicBezTo>
                  <a:pt x="68355" y="56789"/>
                  <a:pt x="56789" y="68355"/>
                  <a:pt x="56789" y="82602"/>
                </a:cubicBezTo>
                <a:cubicBezTo>
                  <a:pt x="56789" y="96848"/>
                  <a:pt x="68355" y="108415"/>
                  <a:pt x="82602" y="108415"/>
                </a:cubicBezTo>
                <a:close/>
                <a:moveTo>
                  <a:pt x="82602" y="36138"/>
                </a:moveTo>
                <a:cubicBezTo>
                  <a:pt x="108245" y="36138"/>
                  <a:pt x="129065" y="56958"/>
                  <a:pt x="129065" y="82602"/>
                </a:cubicBezTo>
                <a:cubicBezTo>
                  <a:pt x="129065" y="108245"/>
                  <a:pt x="108245" y="129065"/>
                  <a:pt x="82602" y="129065"/>
                </a:cubicBezTo>
                <a:cubicBezTo>
                  <a:pt x="56958" y="129065"/>
                  <a:pt x="36138" y="108245"/>
                  <a:pt x="36138" y="82602"/>
                </a:cubicBezTo>
                <a:cubicBezTo>
                  <a:pt x="36138" y="56958"/>
                  <a:pt x="56958" y="36138"/>
                  <a:pt x="82602" y="36138"/>
                </a:cubicBezTo>
                <a:close/>
                <a:moveTo>
                  <a:pt x="72276" y="82602"/>
                </a:moveTo>
                <a:cubicBezTo>
                  <a:pt x="72276" y="76903"/>
                  <a:pt x="76903" y="72276"/>
                  <a:pt x="82602" y="72276"/>
                </a:cubicBezTo>
                <a:cubicBezTo>
                  <a:pt x="88300" y="72276"/>
                  <a:pt x="92927" y="76903"/>
                  <a:pt x="92927" y="82602"/>
                </a:cubicBezTo>
                <a:cubicBezTo>
                  <a:pt x="92927" y="88300"/>
                  <a:pt x="88300" y="92927"/>
                  <a:pt x="82602" y="92927"/>
                </a:cubicBezTo>
                <a:cubicBezTo>
                  <a:pt x="76903" y="92927"/>
                  <a:pt x="72276" y="88300"/>
                  <a:pt x="72276" y="82602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72" name="Text 70"/>
          <p:cNvSpPr/>
          <p:nvPr/>
        </p:nvSpPr>
        <p:spPr>
          <a:xfrm>
            <a:off x="776455" y="6500748"/>
            <a:ext cx="3915317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 Metrics: Accuracy, Precision, Recall, F1-Score, ROC-AUC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705562" y="6484228"/>
            <a:ext cx="1024260" cy="231285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9705562" y="6484228"/>
            <a:ext cx="1082081" cy="231285"/>
          </a:xfrm>
          <a:prstGeom prst="rect">
            <a:avLst/>
          </a:prstGeom>
          <a:noFill/>
          <a:ln/>
        </p:spPr>
        <p:txBody>
          <a:bodyPr wrap="square" lIns="99122" tIns="33041" rIns="99122" bIns="33041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Cross-validation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10794355" y="6484228"/>
            <a:ext cx="925138" cy="231285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794355" y="6484228"/>
            <a:ext cx="982959" cy="231285"/>
          </a:xfrm>
          <a:prstGeom prst="rect">
            <a:avLst/>
          </a:prstGeom>
          <a:noFill/>
          <a:ln/>
        </p:spPr>
        <p:txBody>
          <a:bodyPr wrap="square" lIns="99122" tIns="33041" rIns="99122" bIns="33041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Train-test split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s.moonshot.cn/kimi-ppt/html-gen/static/image-error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1A202C">
                  <a:alpha val="98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4A5568">
                  <a:alpha val="6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378744"/>
            <a:ext cx="1352550" cy="428625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 w="12700">
            <a:solidFill>
              <a:srgbClr val="E9D8FD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1497806"/>
            <a:ext cx="11263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69331"/>
            <a:ext cx="88773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Evaluation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212431"/>
            <a:ext cx="1524000" cy="381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E9D8F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381000" y="4555331"/>
            <a:ext cx="74580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A0AEC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Achieving &gt;95% accuracy with ensemble models and optimized deployment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851" y="365851"/>
            <a:ext cx="11533467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spc="58" kern="0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851" y="658533"/>
            <a:ext cx="11624930" cy="365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 Comparison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851" y="1134140"/>
            <a:ext cx="878044" cy="36585"/>
          </a:xfrm>
          <a:prstGeom prst="roundRect">
            <a:avLst>
              <a:gd name="adj" fmla="val 0"/>
            </a:avLst>
          </a:prstGeom>
          <a:solidFill>
            <a:srgbClr val="E9D8FD"/>
          </a:solidFill>
          <a:ln/>
        </p:spPr>
      </p:sp>
      <p:sp>
        <p:nvSpPr>
          <p:cNvPr id="5" name="Shape 3"/>
          <p:cNvSpPr/>
          <p:nvPr/>
        </p:nvSpPr>
        <p:spPr>
          <a:xfrm>
            <a:off x="370425" y="1358224"/>
            <a:ext cx="11451151" cy="3338395"/>
          </a:xfrm>
          <a:prstGeom prst="roundRect">
            <a:avLst>
              <a:gd name="adj" fmla="val 2192"/>
            </a:avLst>
          </a:prstGeom>
          <a:solidFill>
            <a:srgbClr val="4A5568">
              <a:alpha val="30196"/>
            </a:srgbClr>
          </a:solidFill>
          <a:ln w="12700">
            <a:solidFill>
              <a:srgbClr val="A0AEC0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923" y="1545722"/>
            <a:ext cx="11167616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Metrics Across All Models</a:t>
            </a:r>
            <a:endParaRPr lang="en-US" sz="1600" dirty="0"/>
          </a:p>
        </p:txBody>
      </p:sp>
      <p:pic>
        <p:nvPicPr>
          <p:cNvPr id="7" name="Image 0" descr="https://kimi-img.moonshot.cn/pub/slides/26-06-12-13:38:06-d8lpmfgl3dc67eoqi45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923" y="1948159"/>
            <a:ext cx="10591400" cy="256096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370425" y="4888690"/>
            <a:ext cx="2167670" cy="1033530"/>
          </a:xfrm>
          <a:prstGeom prst="roundRect">
            <a:avLst>
              <a:gd name="adj" fmla="val 7080"/>
            </a:avLst>
          </a:prstGeom>
          <a:gradFill rotWithShape="1" flip="none">
            <a:gsLst>
              <a:gs pos="0">
                <a:srgbClr val="E9D8FD">
                  <a:alpha val="30000"/>
                </a:srgbClr>
              </a:gs>
              <a:gs pos="100000">
                <a:srgbClr val="4A5568">
                  <a:alpha val="30000"/>
                </a:srgbClr>
              </a:gs>
            </a:gsLst>
            <a:lin ang="2700000" scaled="1"/>
          </a:gradFill>
          <a:ln w="12700">
            <a:solidFill>
              <a:srgbClr val="E9D8FD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326" y="5039604"/>
            <a:ext cx="1929866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8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2741" y="5259115"/>
            <a:ext cx="2003037" cy="329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93.5%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9326" y="5588381"/>
            <a:ext cx="1929866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8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692295" y="4888690"/>
            <a:ext cx="2167670" cy="1033530"/>
          </a:xfrm>
          <a:prstGeom prst="roundRect">
            <a:avLst>
              <a:gd name="adj" fmla="val 7080"/>
            </a:avLst>
          </a:prstGeom>
          <a:gradFill rotWithShape="1" flip="none">
            <a:gsLst>
              <a:gs pos="0">
                <a:srgbClr val="E9D8FD">
                  <a:alpha val="30000"/>
                </a:srgbClr>
              </a:gs>
              <a:gs pos="100000">
                <a:srgbClr val="4A5568">
                  <a:alpha val="30000"/>
                </a:srgbClr>
              </a:gs>
            </a:gsLst>
            <a:lin ang="2700000" scaled="1"/>
          </a:gradFill>
          <a:ln w="12700">
            <a:solidFill>
              <a:srgbClr val="E9D8FD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11197" y="5039604"/>
            <a:ext cx="1929866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8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774612" y="5259115"/>
            <a:ext cx="2003037" cy="329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96.5%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811197" y="5588381"/>
            <a:ext cx="1929866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8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14166" y="4888690"/>
            <a:ext cx="2167670" cy="1033530"/>
          </a:xfrm>
          <a:prstGeom prst="roundRect">
            <a:avLst>
              <a:gd name="adj" fmla="val 7080"/>
            </a:avLst>
          </a:prstGeom>
          <a:gradFill rotWithShape="1" flip="none">
            <a:gsLst>
              <a:gs pos="0">
                <a:srgbClr val="E9D8FD">
                  <a:alpha val="30000"/>
                </a:srgbClr>
              </a:gs>
              <a:gs pos="100000">
                <a:srgbClr val="4A5568">
                  <a:alpha val="30000"/>
                </a:srgbClr>
              </a:gs>
            </a:gsLst>
            <a:lin ang="2700000" scaled="1"/>
          </a:gradFill>
          <a:ln w="12700">
            <a:solidFill>
              <a:srgbClr val="E9D8FD">
                <a:alpha val="4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33068" y="5039604"/>
            <a:ext cx="1929866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8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096482" y="5259115"/>
            <a:ext cx="2003037" cy="329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96.5%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33068" y="5588381"/>
            <a:ext cx="1929866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8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336179" y="4888690"/>
            <a:ext cx="2167670" cy="1033530"/>
          </a:xfrm>
          <a:prstGeom prst="roundRect">
            <a:avLst>
              <a:gd name="adj" fmla="val 7080"/>
            </a:avLst>
          </a:prstGeom>
          <a:gradFill rotWithShape="1" flip="none">
            <a:gsLst>
              <a:gs pos="0">
                <a:srgbClr val="E9D8FD">
                  <a:alpha val="30000"/>
                </a:srgbClr>
              </a:gs>
              <a:gs pos="100000">
                <a:srgbClr val="4A5568">
                  <a:alpha val="30000"/>
                </a:srgbClr>
              </a:gs>
            </a:gsLst>
            <a:lin ang="2700000" scaled="1"/>
          </a:gradFill>
          <a:ln w="12700">
            <a:solidFill>
              <a:srgbClr val="E9D8FD">
                <a:alpha val="4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55081" y="5039604"/>
            <a:ext cx="1929866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8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LightGBM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418496" y="5259115"/>
            <a:ext cx="2003037" cy="329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94.9%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455081" y="5588381"/>
            <a:ext cx="1929866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8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9658050" y="4888690"/>
            <a:ext cx="2167670" cy="1033530"/>
          </a:xfrm>
          <a:prstGeom prst="roundRect">
            <a:avLst>
              <a:gd name="adj" fmla="val 7080"/>
            </a:avLst>
          </a:prstGeom>
          <a:gradFill rotWithShape="1" flip="none">
            <a:gsLst>
              <a:gs pos="0">
                <a:srgbClr val="E9D8FD">
                  <a:alpha val="30000"/>
                </a:srgbClr>
              </a:gs>
              <a:gs pos="100000">
                <a:srgbClr val="4A5568">
                  <a:alpha val="30000"/>
                </a:srgbClr>
              </a:gs>
            </a:gsLst>
            <a:lin ang="2700000" scaled="1"/>
          </a:gradFill>
          <a:ln w="12700">
            <a:solidFill>
              <a:srgbClr val="E9D8FD">
                <a:alpha val="4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776952" y="5039604"/>
            <a:ext cx="1929866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8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CatBoost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740366" y="5259115"/>
            <a:ext cx="2003037" cy="329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96.5%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776952" y="5588381"/>
            <a:ext cx="1929866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8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70425" y="6114293"/>
            <a:ext cx="11451151" cy="740849"/>
          </a:xfrm>
          <a:prstGeom prst="roundRect">
            <a:avLst>
              <a:gd name="adj" fmla="val 9877"/>
            </a:avLst>
          </a:prstGeom>
          <a:gradFill rotWithShape="1" flip="none">
            <a:gsLst>
              <a:gs pos="0">
                <a:srgbClr val="E9D8FD">
                  <a:alpha val="20000"/>
                </a:srgbClr>
              </a:gs>
              <a:gs pos="100000">
                <a:srgbClr val="4A5568">
                  <a:alpha val="20000"/>
                </a:srgbClr>
              </a:gs>
            </a:gsLst>
            <a:lin ang="0" scaled="1"/>
          </a:gradFill>
          <a:ln w="12700">
            <a:solidFill>
              <a:srgbClr val="E9D8FD">
                <a:alpha val="30196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8777" y="6374962"/>
            <a:ext cx="219511" cy="219511"/>
          </a:xfrm>
          <a:custGeom>
            <a:avLst/>
            <a:gdLst/>
            <a:ahLst/>
            <a:cxnLst/>
            <a:rect l="l" t="t" r="r" b="b"/>
            <a:pathLst>
              <a:path w="219511" h="219511">
                <a:moveTo>
                  <a:pt x="61866" y="0"/>
                </a:moveTo>
                <a:lnTo>
                  <a:pt x="157902" y="0"/>
                </a:lnTo>
                <a:cubicBezTo>
                  <a:pt x="169263" y="0"/>
                  <a:pt x="178524" y="9346"/>
                  <a:pt x="178095" y="20665"/>
                </a:cubicBezTo>
                <a:cubicBezTo>
                  <a:pt x="178010" y="22937"/>
                  <a:pt x="177924" y="25209"/>
                  <a:pt x="177795" y="27439"/>
                </a:cubicBezTo>
                <a:lnTo>
                  <a:pt x="199060" y="27439"/>
                </a:lnTo>
                <a:cubicBezTo>
                  <a:pt x="210250" y="27439"/>
                  <a:pt x="220111" y="36699"/>
                  <a:pt x="219254" y="48790"/>
                </a:cubicBezTo>
                <a:cubicBezTo>
                  <a:pt x="216038" y="93249"/>
                  <a:pt x="193315" y="117687"/>
                  <a:pt x="168663" y="130463"/>
                </a:cubicBezTo>
                <a:cubicBezTo>
                  <a:pt x="161889" y="133979"/>
                  <a:pt x="154987" y="136594"/>
                  <a:pt x="148427" y="138523"/>
                </a:cubicBezTo>
                <a:cubicBezTo>
                  <a:pt x="139767" y="150785"/>
                  <a:pt x="130763" y="157259"/>
                  <a:pt x="123603" y="160732"/>
                </a:cubicBezTo>
                <a:lnTo>
                  <a:pt x="123603" y="192072"/>
                </a:lnTo>
                <a:lnTo>
                  <a:pt x="151042" y="192072"/>
                </a:lnTo>
                <a:cubicBezTo>
                  <a:pt x="158631" y="192072"/>
                  <a:pt x="164762" y="198203"/>
                  <a:pt x="164762" y="205791"/>
                </a:cubicBezTo>
                <a:cubicBezTo>
                  <a:pt x="164762" y="213380"/>
                  <a:pt x="158631" y="219511"/>
                  <a:pt x="151042" y="219511"/>
                </a:cubicBezTo>
                <a:lnTo>
                  <a:pt x="68726" y="219511"/>
                </a:lnTo>
                <a:cubicBezTo>
                  <a:pt x="61137" y="219511"/>
                  <a:pt x="55006" y="213380"/>
                  <a:pt x="55006" y="205791"/>
                </a:cubicBezTo>
                <a:cubicBezTo>
                  <a:pt x="55006" y="198203"/>
                  <a:pt x="61137" y="192072"/>
                  <a:pt x="68726" y="192072"/>
                </a:cubicBezTo>
                <a:lnTo>
                  <a:pt x="96165" y="192072"/>
                </a:lnTo>
                <a:lnTo>
                  <a:pt x="96165" y="160732"/>
                </a:lnTo>
                <a:cubicBezTo>
                  <a:pt x="89305" y="157430"/>
                  <a:pt x="80773" y="151300"/>
                  <a:pt x="72456" y="140024"/>
                </a:cubicBezTo>
                <a:cubicBezTo>
                  <a:pt x="64567" y="137966"/>
                  <a:pt x="55992" y="134836"/>
                  <a:pt x="47632" y="130120"/>
                </a:cubicBezTo>
                <a:cubicBezTo>
                  <a:pt x="24438" y="117130"/>
                  <a:pt x="3516" y="92649"/>
                  <a:pt x="514" y="48704"/>
                </a:cubicBezTo>
                <a:cubicBezTo>
                  <a:pt x="-300" y="36657"/>
                  <a:pt x="9518" y="27396"/>
                  <a:pt x="20708" y="27396"/>
                </a:cubicBezTo>
                <a:lnTo>
                  <a:pt x="41973" y="27396"/>
                </a:lnTo>
                <a:cubicBezTo>
                  <a:pt x="41844" y="25167"/>
                  <a:pt x="41759" y="22937"/>
                  <a:pt x="41673" y="20622"/>
                </a:cubicBezTo>
                <a:cubicBezTo>
                  <a:pt x="41244" y="9261"/>
                  <a:pt x="50505" y="-43"/>
                  <a:pt x="61866" y="-43"/>
                </a:cubicBezTo>
                <a:close/>
                <a:moveTo>
                  <a:pt x="43516" y="48018"/>
                </a:moveTo>
                <a:lnTo>
                  <a:pt x="21051" y="48018"/>
                </a:lnTo>
                <a:cubicBezTo>
                  <a:pt x="23709" y="84332"/>
                  <a:pt x="40387" y="102510"/>
                  <a:pt x="57579" y="112156"/>
                </a:cubicBezTo>
                <a:cubicBezTo>
                  <a:pt x="51405" y="96165"/>
                  <a:pt x="46303" y="75285"/>
                  <a:pt x="43516" y="48018"/>
                </a:cubicBezTo>
                <a:close/>
                <a:moveTo>
                  <a:pt x="162918" y="110098"/>
                </a:moveTo>
                <a:cubicBezTo>
                  <a:pt x="180282" y="99895"/>
                  <a:pt x="195973" y="81759"/>
                  <a:pt x="198632" y="48018"/>
                </a:cubicBezTo>
                <a:lnTo>
                  <a:pt x="176209" y="48018"/>
                </a:lnTo>
                <a:cubicBezTo>
                  <a:pt x="173551" y="74128"/>
                  <a:pt x="168749" y="94407"/>
                  <a:pt x="162918" y="110098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30" name="Text 27"/>
          <p:cNvSpPr/>
          <p:nvPr/>
        </p:nvSpPr>
        <p:spPr>
          <a:xfrm>
            <a:off x="905482" y="6265206"/>
            <a:ext cx="7838368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Performing Models: </a:t>
            </a:r>
            <a:pPr>
              <a:lnSpc>
                <a:spcPct val="130000"/>
              </a:lnSpc>
            </a:pPr>
            <a:r>
              <a:rPr lang="en-US" sz="1152" b="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XGBoost, Random Forest, and CatBoost</a:t>
            </a:r>
            <a:pPr>
              <a:lnSpc>
                <a:spcPct val="130000"/>
              </a:lnSpc>
            </a:pPr>
            <a:r>
              <a:rPr lang="en-US" sz="1152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achieve &gt;96% accuracy with balanced precision and recall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05482" y="6521302"/>
            <a:ext cx="7829221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models demonstrate superior performance due to their ability to capture complex relationships in data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s.moonshot.cn/kimi-ppt/html-gen/static/image-error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1A202C">
                  <a:alpha val="98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4A5568">
                  <a:alpha val="6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378744"/>
            <a:ext cx="1362075" cy="428625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 w="12700">
            <a:solidFill>
              <a:srgbClr val="E9D8FD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1497806"/>
            <a:ext cx="11315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69331"/>
            <a:ext cx="88773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Application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212431"/>
            <a:ext cx="1524000" cy="381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E9D8F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381000" y="4555331"/>
            <a:ext cx="74580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A0AEC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From trained models to real-time predictions via cloud deployment and Android integration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ONNX Conversion &amp; Cloud Deployment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prstGeom prst="roundRect">
            <a:avLst>
              <a:gd name="adj" fmla="val 0"/>
            </a:avLst>
          </a:prstGeom>
          <a:solidFill>
            <a:srgbClr val="E9D8FD"/>
          </a:solidFill>
          <a:ln/>
        </p:spPr>
      </p:sp>
      <p:sp>
        <p:nvSpPr>
          <p:cNvPr id="5" name="Shape 3"/>
          <p:cNvSpPr/>
          <p:nvPr/>
        </p:nvSpPr>
        <p:spPr>
          <a:xfrm>
            <a:off x="333375" y="1174750"/>
            <a:ext cx="5667375" cy="3111500"/>
          </a:xfrm>
          <a:custGeom>
            <a:avLst/>
            <a:gdLst/>
            <a:ahLst/>
            <a:cxnLst/>
            <a:rect l="l" t="t" r="r" b="b"/>
            <a:pathLst>
              <a:path w="5667375" h="3111500">
                <a:moveTo>
                  <a:pt x="0" y="0"/>
                </a:moveTo>
                <a:lnTo>
                  <a:pt x="5603875" y="0"/>
                </a:lnTo>
                <a:cubicBezTo>
                  <a:pt x="5638922" y="0"/>
                  <a:pt x="5667375" y="28453"/>
                  <a:pt x="5667375" y="63500"/>
                </a:cubicBezTo>
                <a:lnTo>
                  <a:pt x="5667375" y="3048000"/>
                </a:lnTo>
                <a:cubicBezTo>
                  <a:pt x="5667375" y="3083047"/>
                  <a:pt x="5638922" y="3111500"/>
                  <a:pt x="5603875" y="3111500"/>
                </a:cubicBezTo>
                <a:lnTo>
                  <a:pt x="0" y="31115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33375" y="1174750"/>
            <a:ext cx="31750" cy="3111500"/>
          </a:xfrm>
          <a:prstGeom prst="roundRect">
            <a:avLst>
              <a:gd name="adj" fmla="val 0"/>
            </a:avLst>
          </a:prstGeom>
          <a:solidFill>
            <a:srgbClr val="E9D8FD"/>
          </a:solidFill>
          <a:ln/>
        </p:spPr>
      </p:sp>
      <p:sp>
        <p:nvSpPr>
          <p:cNvPr id="7" name="Shape 5"/>
          <p:cNvSpPr/>
          <p:nvPr/>
        </p:nvSpPr>
        <p:spPr>
          <a:xfrm>
            <a:off x="531813" y="1349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8" name="Text 6"/>
          <p:cNvSpPr/>
          <p:nvPr/>
        </p:nvSpPr>
        <p:spPr>
          <a:xfrm>
            <a:off x="841375" y="1333500"/>
            <a:ext cx="186531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PKL → ONNX Conversion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8000" y="1682750"/>
            <a:ext cx="5397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Converting trained models from PKL to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ONNX format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enables platform independence, faster inference, and reduced dependency on Python environments.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8000" y="2222500"/>
            <a:ext cx="5334000" cy="571500"/>
          </a:xfrm>
          <a:prstGeom prst="roundRect">
            <a:avLst>
              <a:gd name="adj" fmla="val 11111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19125" y="23495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12" name="Text 10"/>
          <p:cNvSpPr/>
          <p:nvPr/>
        </p:nvSpPr>
        <p:spPr>
          <a:xfrm>
            <a:off x="825500" y="2317750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Cross-Platform Compatibility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" y="254000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 work outside Python environments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8000" y="2889250"/>
            <a:ext cx="5334000" cy="571500"/>
          </a:xfrm>
          <a:prstGeom prst="roundRect">
            <a:avLst>
              <a:gd name="adj" fmla="val 11111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27063" y="30162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84038" y="-2456"/>
                </a:moveTo>
                <a:cubicBezTo>
                  <a:pt x="86990" y="-322"/>
                  <a:pt x="88081" y="3547"/>
                  <a:pt x="86742" y="6921"/>
                </a:cubicBezTo>
                <a:lnTo>
                  <a:pt x="67295" y="55563"/>
                </a:lnTo>
                <a:lnTo>
                  <a:pt x="103188" y="55563"/>
                </a:lnTo>
                <a:cubicBezTo>
                  <a:pt x="106536" y="55563"/>
                  <a:pt x="109513" y="57646"/>
                  <a:pt x="110654" y="60796"/>
                </a:cubicBezTo>
                <a:cubicBezTo>
                  <a:pt x="111795" y="63946"/>
                  <a:pt x="110827" y="67469"/>
                  <a:pt x="108272" y="69602"/>
                </a:cubicBezTo>
                <a:lnTo>
                  <a:pt x="36835" y="129133"/>
                </a:lnTo>
                <a:cubicBezTo>
                  <a:pt x="34032" y="131465"/>
                  <a:pt x="30038" y="131589"/>
                  <a:pt x="27087" y="129456"/>
                </a:cubicBezTo>
                <a:cubicBezTo>
                  <a:pt x="24135" y="127322"/>
                  <a:pt x="23044" y="123453"/>
                  <a:pt x="24383" y="120079"/>
                </a:cubicBezTo>
                <a:lnTo>
                  <a:pt x="43830" y="71438"/>
                </a:lnTo>
                <a:lnTo>
                  <a:pt x="7938" y="71438"/>
                </a:lnTo>
                <a:cubicBezTo>
                  <a:pt x="4589" y="71438"/>
                  <a:pt x="1612" y="69354"/>
                  <a:pt x="471" y="66204"/>
                </a:cubicBezTo>
                <a:cubicBezTo>
                  <a:pt x="-670" y="63054"/>
                  <a:pt x="298" y="59531"/>
                  <a:pt x="2853" y="57398"/>
                </a:cubicBezTo>
                <a:lnTo>
                  <a:pt x="74290" y="-2133"/>
                </a:lnTo>
                <a:cubicBezTo>
                  <a:pt x="77093" y="-4465"/>
                  <a:pt x="81087" y="-4589"/>
                  <a:pt x="84038" y="-2456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16" name="Text 14"/>
          <p:cNvSpPr/>
          <p:nvPr/>
        </p:nvSpPr>
        <p:spPr>
          <a:xfrm>
            <a:off x="825500" y="2984500"/>
            <a:ext cx="944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Inference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250" y="32067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 execution speed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8000" y="3556000"/>
            <a:ext cx="5334000" cy="571500"/>
          </a:xfrm>
          <a:prstGeom prst="roundRect">
            <a:avLst>
              <a:gd name="adj" fmla="val 11111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35000" y="368300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3969" y="15875"/>
                </a:moveTo>
                <a:cubicBezTo>
                  <a:pt x="3969" y="7119"/>
                  <a:pt x="11088" y="0"/>
                  <a:pt x="19844" y="0"/>
                </a:cubicBezTo>
                <a:lnTo>
                  <a:pt x="75406" y="0"/>
                </a:lnTo>
                <a:cubicBezTo>
                  <a:pt x="84162" y="0"/>
                  <a:pt x="91281" y="7119"/>
                  <a:pt x="91281" y="15875"/>
                </a:cubicBezTo>
                <a:lnTo>
                  <a:pt x="91281" y="111125"/>
                </a:lnTo>
                <a:cubicBezTo>
                  <a:pt x="91281" y="119881"/>
                  <a:pt x="84162" y="127000"/>
                  <a:pt x="75406" y="127000"/>
                </a:cubicBezTo>
                <a:lnTo>
                  <a:pt x="19844" y="127000"/>
                </a:lnTo>
                <a:cubicBezTo>
                  <a:pt x="11088" y="127000"/>
                  <a:pt x="3969" y="119881"/>
                  <a:pt x="3969" y="111125"/>
                </a:cubicBezTo>
                <a:lnTo>
                  <a:pt x="3969" y="15875"/>
                </a:lnTo>
                <a:close/>
                <a:moveTo>
                  <a:pt x="19844" y="15875"/>
                </a:moveTo>
                <a:lnTo>
                  <a:pt x="19844" y="91281"/>
                </a:lnTo>
                <a:lnTo>
                  <a:pt x="75406" y="91281"/>
                </a:lnTo>
                <a:lnTo>
                  <a:pt x="75406" y="15875"/>
                </a:lnTo>
                <a:lnTo>
                  <a:pt x="19844" y="15875"/>
                </a:lnTo>
                <a:close/>
                <a:moveTo>
                  <a:pt x="47625" y="117078"/>
                </a:moveTo>
                <a:cubicBezTo>
                  <a:pt x="52015" y="117078"/>
                  <a:pt x="55563" y="113531"/>
                  <a:pt x="55563" y="109141"/>
                </a:cubicBezTo>
                <a:cubicBezTo>
                  <a:pt x="55563" y="104750"/>
                  <a:pt x="52015" y="101203"/>
                  <a:pt x="47625" y="101203"/>
                </a:cubicBezTo>
                <a:cubicBezTo>
                  <a:pt x="43235" y="101203"/>
                  <a:pt x="39688" y="104750"/>
                  <a:pt x="39688" y="109141"/>
                </a:cubicBezTo>
                <a:cubicBezTo>
                  <a:pt x="39688" y="113531"/>
                  <a:pt x="43235" y="117078"/>
                  <a:pt x="47625" y="117078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20" name="Text 18"/>
          <p:cNvSpPr/>
          <p:nvPr/>
        </p:nvSpPr>
        <p:spPr>
          <a:xfrm>
            <a:off x="825500" y="3651250"/>
            <a:ext cx="106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Integration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3250" y="387350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 mobile and cloud deployment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1469" y="4448969"/>
            <a:ext cx="5675313" cy="1119188"/>
          </a:xfrm>
          <a:prstGeom prst="roundRect">
            <a:avLst>
              <a:gd name="adj" fmla="val 5674"/>
            </a:avLst>
          </a:prstGeom>
          <a:gradFill rotWithShape="1" flip="none">
            <a:gsLst>
              <a:gs pos="0">
                <a:srgbClr val="E9D8FD">
                  <a:alpha val="2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2700">
            <a:solidFill>
              <a:srgbClr val="E9D8FD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3953" y="4643438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24805" y="32246"/>
                </a:moveTo>
                <a:cubicBezTo>
                  <a:pt x="28912" y="32246"/>
                  <a:pt x="32246" y="28912"/>
                  <a:pt x="32246" y="24805"/>
                </a:cubicBezTo>
                <a:cubicBezTo>
                  <a:pt x="32246" y="20698"/>
                  <a:pt x="28912" y="17363"/>
                  <a:pt x="24805" y="17363"/>
                </a:cubicBezTo>
                <a:cubicBezTo>
                  <a:pt x="20698" y="17363"/>
                  <a:pt x="17363" y="20698"/>
                  <a:pt x="17363" y="24805"/>
                </a:cubicBezTo>
                <a:cubicBezTo>
                  <a:pt x="17363" y="28912"/>
                  <a:pt x="20698" y="32246"/>
                  <a:pt x="24805" y="32246"/>
                </a:cubicBezTo>
                <a:close/>
                <a:moveTo>
                  <a:pt x="49609" y="24805"/>
                </a:moveTo>
                <a:cubicBezTo>
                  <a:pt x="49609" y="34975"/>
                  <a:pt x="43501" y="43718"/>
                  <a:pt x="34727" y="47532"/>
                </a:cubicBezTo>
                <a:lnTo>
                  <a:pt x="34727" y="69453"/>
                </a:lnTo>
                <a:lnTo>
                  <a:pt x="89297" y="69453"/>
                </a:lnTo>
                <a:cubicBezTo>
                  <a:pt x="97513" y="69453"/>
                  <a:pt x="104180" y="62787"/>
                  <a:pt x="104180" y="54570"/>
                </a:cubicBezTo>
                <a:lnTo>
                  <a:pt x="104180" y="47532"/>
                </a:lnTo>
                <a:cubicBezTo>
                  <a:pt x="95405" y="43718"/>
                  <a:pt x="89297" y="34975"/>
                  <a:pt x="89297" y="24805"/>
                </a:cubicBezTo>
                <a:cubicBezTo>
                  <a:pt x="89297" y="11100"/>
                  <a:pt x="100397" y="0"/>
                  <a:pt x="114102" y="0"/>
                </a:cubicBezTo>
                <a:cubicBezTo>
                  <a:pt x="127806" y="0"/>
                  <a:pt x="138906" y="11100"/>
                  <a:pt x="138906" y="24805"/>
                </a:cubicBezTo>
                <a:cubicBezTo>
                  <a:pt x="138906" y="34975"/>
                  <a:pt x="132798" y="43718"/>
                  <a:pt x="124023" y="47532"/>
                </a:cubicBezTo>
                <a:lnTo>
                  <a:pt x="124023" y="54570"/>
                </a:lnTo>
                <a:cubicBezTo>
                  <a:pt x="124023" y="73763"/>
                  <a:pt x="108490" y="89297"/>
                  <a:pt x="89297" y="89297"/>
                </a:cubicBezTo>
                <a:lnTo>
                  <a:pt x="34727" y="89297"/>
                </a:lnTo>
                <a:lnTo>
                  <a:pt x="34727" y="111218"/>
                </a:lnTo>
                <a:cubicBezTo>
                  <a:pt x="43501" y="115032"/>
                  <a:pt x="49609" y="123775"/>
                  <a:pt x="49609" y="133945"/>
                </a:cubicBezTo>
                <a:cubicBezTo>
                  <a:pt x="49609" y="147650"/>
                  <a:pt x="38509" y="158750"/>
                  <a:pt x="24805" y="158750"/>
                </a:cubicBezTo>
                <a:cubicBezTo>
                  <a:pt x="11100" y="158750"/>
                  <a:pt x="0" y="147650"/>
                  <a:pt x="0" y="133945"/>
                </a:cubicBezTo>
                <a:cubicBezTo>
                  <a:pt x="0" y="123775"/>
                  <a:pt x="6108" y="115032"/>
                  <a:pt x="14883" y="111218"/>
                </a:cubicBezTo>
                <a:lnTo>
                  <a:pt x="14883" y="47563"/>
                </a:lnTo>
                <a:cubicBezTo>
                  <a:pt x="6108" y="43718"/>
                  <a:pt x="0" y="34975"/>
                  <a:pt x="0" y="24805"/>
                </a:cubicBezTo>
                <a:cubicBezTo>
                  <a:pt x="0" y="11100"/>
                  <a:pt x="11100" y="0"/>
                  <a:pt x="24805" y="0"/>
                </a:cubicBezTo>
                <a:cubicBezTo>
                  <a:pt x="38509" y="0"/>
                  <a:pt x="49609" y="11100"/>
                  <a:pt x="49609" y="24805"/>
                </a:cubicBezTo>
                <a:close/>
                <a:moveTo>
                  <a:pt x="121543" y="24805"/>
                </a:moveTo>
                <a:cubicBezTo>
                  <a:pt x="121543" y="20698"/>
                  <a:pt x="118209" y="17363"/>
                  <a:pt x="114102" y="17363"/>
                </a:cubicBezTo>
                <a:cubicBezTo>
                  <a:pt x="109995" y="17363"/>
                  <a:pt x="106660" y="20698"/>
                  <a:pt x="106660" y="24805"/>
                </a:cubicBezTo>
                <a:cubicBezTo>
                  <a:pt x="106660" y="28912"/>
                  <a:pt x="109995" y="32246"/>
                  <a:pt x="114102" y="32246"/>
                </a:cubicBezTo>
                <a:cubicBezTo>
                  <a:pt x="118209" y="32246"/>
                  <a:pt x="121543" y="28912"/>
                  <a:pt x="121543" y="24805"/>
                </a:cubicBezTo>
                <a:close/>
                <a:moveTo>
                  <a:pt x="24805" y="141387"/>
                </a:moveTo>
                <a:cubicBezTo>
                  <a:pt x="28912" y="141387"/>
                  <a:pt x="32246" y="138052"/>
                  <a:pt x="32246" y="133945"/>
                </a:cubicBezTo>
                <a:cubicBezTo>
                  <a:pt x="32246" y="129838"/>
                  <a:pt x="28912" y="126504"/>
                  <a:pt x="24805" y="126504"/>
                </a:cubicBezTo>
                <a:cubicBezTo>
                  <a:pt x="20698" y="126504"/>
                  <a:pt x="17363" y="129838"/>
                  <a:pt x="17363" y="133945"/>
                </a:cubicBezTo>
                <a:cubicBezTo>
                  <a:pt x="17363" y="138052"/>
                  <a:pt x="20698" y="141387"/>
                  <a:pt x="24805" y="141387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24" name="Text 22"/>
          <p:cNvSpPr/>
          <p:nvPr/>
        </p:nvSpPr>
        <p:spPr>
          <a:xfrm>
            <a:off x="777875" y="4611688"/>
            <a:ext cx="1198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8000" y="496093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9091" y="49733"/>
                </a:moveTo>
                <a:cubicBezTo>
                  <a:pt x="107181" y="42069"/>
                  <a:pt x="103560" y="36289"/>
                  <a:pt x="95845" y="36289"/>
                </a:cubicBezTo>
                <a:lnTo>
                  <a:pt x="85899" y="36289"/>
                </a:lnTo>
                <a:lnTo>
                  <a:pt x="85899" y="48047"/>
                </a:lnTo>
                <a:cubicBezTo>
                  <a:pt x="85899" y="57175"/>
                  <a:pt x="78160" y="64864"/>
                  <a:pt x="69329" y="64864"/>
                </a:cubicBezTo>
                <a:lnTo>
                  <a:pt x="42838" y="64864"/>
                </a:lnTo>
                <a:cubicBezTo>
                  <a:pt x="35595" y="64864"/>
                  <a:pt x="29592" y="71065"/>
                  <a:pt x="29592" y="78333"/>
                </a:cubicBezTo>
                <a:lnTo>
                  <a:pt x="29592" y="103584"/>
                </a:lnTo>
                <a:cubicBezTo>
                  <a:pt x="29592" y="110778"/>
                  <a:pt x="35843" y="114995"/>
                  <a:pt x="42838" y="117053"/>
                </a:cubicBezTo>
                <a:cubicBezTo>
                  <a:pt x="51222" y="119509"/>
                  <a:pt x="59283" y="119955"/>
                  <a:pt x="69329" y="117053"/>
                </a:cubicBezTo>
                <a:cubicBezTo>
                  <a:pt x="76002" y="115119"/>
                  <a:pt x="82575" y="111224"/>
                  <a:pt x="82575" y="103584"/>
                </a:cubicBezTo>
                <a:lnTo>
                  <a:pt x="82575" y="93489"/>
                </a:lnTo>
                <a:lnTo>
                  <a:pt x="56108" y="93489"/>
                </a:lnTo>
                <a:lnTo>
                  <a:pt x="56108" y="90115"/>
                </a:lnTo>
                <a:lnTo>
                  <a:pt x="95845" y="90115"/>
                </a:lnTo>
                <a:cubicBezTo>
                  <a:pt x="103560" y="90115"/>
                  <a:pt x="106412" y="84733"/>
                  <a:pt x="109091" y="76671"/>
                </a:cubicBezTo>
                <a:cubicBezTo>
                  <a:pt x="111869" y="68362"/>
                  <a:pt x="111745" y="60375"/>
                  <a:pt x="109091" y="49733"/>
                </a:cubicBezTo>
                <a:close/>
                <a:moveTo>
                  <a:pt x="70991" y="110306"/>
                </a:moveTo>
                <a:cubicBezTo>
                  <a:pt x="69103" y="110439"/>
                  <a:pt x="67299" y="109507"/>
                  <a:pt x="66315" y="107890"/>
                </a:cubicBezTo>
                <a:cubicBezTo>
                  <a:pt x="65331" y="106274"/>
                  <a:pt x="65331" y="104243"/>
                  <a:pt x="66315" y="102627"/>
                </a:cubicBezTo>
                <a:cubicBezTo>
                  <a:pt x="67299" y="101011"/>
                  <a:pt x="69103" y="100079"/>
                  <a:pt x="70991" y="100211"/>
                </a:cubicBezTo>
                <a:cubicBezTo>
                  <a:pt x="72879" y="100079"/>
                  <a:pt x="74683" y="101011"/>
                  <a:pt x="75667" y="102627"/>
                </a:cubicBezTo>
                <a:cubicBezTo>
                  <a:pt x="76651" y="104243"/>
                  <a:pt x="76651" y="106274"/>
                  <a:pt x="75667" y="107890"/>
                </a:cubicBezTo>
                <a:cubicBezTo>
                  <a:pt x="74683" y="109507"/>
                  <a:pt x="72879" y="110439"/>
                  <a:pt x="70991" y="110306"/>
                </a:cubicBezTo>
                <a:close/>
                <a:moveTo>
                  <a:pt x="41622" y="61540"/>
                </a:moveTo>
                <a:lnTo>
                  <a:pt x="68114" y="61540"/>
                </a:lnTo>
                <a:cubicBezTo>
                  <a:pt x="75481" y="61540"/>
                  <a:pt x="81359" y="55463"/>
                  <a:pt x="81359" y="48071"/>
                </a:cubicBezTo>
                <a:lnTo>
                  <a:pt x="81359" y="22796"/>
                </a:lnTo>
                <a:cubicBezTo>
                  <a:pt x="81359" y="15602"/>
                  <a:pt x="75307" y="10220"/>
                  <a:pt x="68114" y="9004"/>
                </a:cubicBezTo>
                <a:cubicBezTo>
                  <a:pt x="59234" y="7541"/>
                  <a:pt x="49585" y="7615"/>
                  <a:pt x="41622" y="9029"/>
                </a:cubicBezTo>
                <a:cubicBezTo>
                  <a:pt x="30411" y="11013"/>
                  <a:pt x="28377" y="15156"/>
                  <a:pt x="28377" y="22820"/>
                </a:cubicBezTo>
                <a:lnTo>
                  <a:pt x="28377" y="32916"/>
                </a:lnTo>
                <a:lnTo>
                  <a:pt x="54893" y="32916"/>
                </a:lnTo>
                <a:lnTo>
                  <a:pt x="54893" y="36289"/>
                </a:lnTo>
                <a:lnTo>
                  <a:pt x="18430" y="36289"/>
                </a:lnTo>
                <a:cubicBezTo>
                  <a:pt x="10716" y="36289"/>
                  <a:pt x="3969" y="40928"/>
                  <a:pt x="1860" y="49733"/>
                </a:cubicBezTo>
                <a:cubicBezTo>
                  <a:pt x="-571" y="59829"/>
                  <a:pt x="-670" y="66129"/>
                  <a:pt x="1860" y="76671"/>
                </a:cubicBezTo>
                <a:cubicBezTo>
                  <a:pt x="3746" y="84510"/>
                  <a:pt x="8235" y="90115"/>
                  <a:pt x="15949" y="90115"/>
                </a:cubicBezTo>
                <a:lnTo>
                  <a:pt x="25053" y="90115"/>
                </a:lnTo>
                <a:lnTo>
                  <a:pt x="25053" y="78011"/>
                </a:lnTo>
                <a:cubicBezTo>
                  <a:pt x="25053" y="69255"/>
                  <a:pt x="32618" y="61540"/>
                  <a:pt x="41622" y="61540"/>
                </a:cubicBezTo>
                <a:close/>
                <a:moveTo>
                  <a:pt x="39985" y="16049"/>
                </a:moveTo>
                <a:cubicBezTo>
                  <a:pt x="42778" y="16049"/>
                  <a:pt x="45045" y="18316"/>
                  <a:pt x="45045" y="21109"/>
                </a:cubicBezTo>
                <a:cubicBezTo>
                  <a:pt x="45045" y="23902"/>
                  <a:pt x="42778" y="26169"/>
                  <a:pt x="39985" y="26169"/>
                </a:cubicBezTo>
                <a:cubicBezTo>
                  <a:pt x="37192" y="26169"/>
                  <a:pt x="34925" y="23902"/>
                  <a:pt x="34925" y="21109"/>
                </a:cubicBezTo>
                <a:cubicBezTo>
                  <a:pt x="34925" y="18316"/>
                  <a:pt x="37192" y="16049"/>
                  <a:pt x="39985" y="16049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26" name="Text 24"/>
          <p:cNvSpPr/>
          <p:nvPr/>
        </p:nvSpPr>
        <p:spPr>
          <a:xfrm>
            <a:off x="706438" y="4929188"/>
            <a:ext cx="9763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+ FastAPI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22625" y="496093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55637" y="-620"/>
                </a:moveTo>
                <a:cubicBezTo>
                  <a:pt x="60548" y="-3448"/>
                  <a:pt x="66601" y="-3448"/>
                  <a:pt x="71512" y="-620"/>
                </a:cubicBezTo>
                <a:lnTo>
                  <a:pt x="115143" y="24557"/>
                </a:lnTo>
                <a:cubicBezTo>
                  <a:pt x="120055" y="27384"/>
                  <a:pt x="123081" y="32643"/>
                  <a:pt x="123081" y="38298"/>
                </a:cubicBezTo>
                <a:lnTo>
                  <a:pt x="123081" y="88652"/>
                </a:lnTo>
                <a:cubicBezTo>
                  <a:pt x="123081" y="94332"/>
                  <a:pt x="120055" y="99566"/>
                  <a:pt x="115143" y="102394"/>
                </a:cubicBezTo>
                <a:lnTo>
                  <a:pt x="71512" y="127620"/>
                </a:lnTo>
                <a:cubicBezTo>
                  <a:pt x="66601" y="130448"/>
                  <a:pt x="60548" y="130448"/>
                  <a:pt x="55637" y="127620"/>
                </a:cubicBezTo>
                <a:lnTo>
                  <a:pt x="12030" y="102443"/>
                </a:lnTo>
                <a:cubicBezTo>
                  <a:pt x="7119" y="99616"/>
                  <a:pt x="4093" y="94357"/>
                  <a:pt x="4093" y="88702"/>
                </a:cubicBezTo>
                <a:lnTo>
                  <a:pt x="4093" y="38348"/>
                </a:lnTo>
                <a:cubicBezTo>
                  <a:pt x="4093" y="32668"/>
                  <a:pt x="7119" y="27434"/>
                  <a:pt x="12030" y="24606"/>
                </a:cubicBezTo>
                <a:lnTo>
                  <a:pt x="55637" y="-620"/>
                </a:lnTo>
                <a:close/>
                <a:moveTo>
                  <a:pt x="107181" y="88677"/>
                </a:moveTo>
                <a:lnTo>
                  <a:pt x="107181" y="47476"/>
                </a:lnTo>
                <a:lnTo>
                  <a:pt x="71512" y="68064"/>
                </a:lnTo>
                <a:lnTo>
                  <a:pt x="71512" y="109265"/>
                </a:lnTo>
                <a:lnTo>
                  <a:pt x="107181" y="88677"/>
                </a:ln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4929188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ONNX Runtime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2125" y="5246688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0" y="83344"/>
                </a:moveTo>
                <a:cubicBezTo>
                  <a:pt x="0" y="103063"/>
                  <a:pt x="15999" y="119063"/>
                  <a:pt x="35719" y="119063"/>
                </a:cubicBezTo>
                <a:lnTo>
                  <a:pt x="111125" y="119063"/>
                </a:lnTo>
                <a:cubicBezTo>
                  <a:pt x="128662" y="119063"/>
                  <a:pt x="142875" y="104849"/>
                  <a:pt x="142875" y="87313"/>
                </a:cubicBezTo>
                <a:cubicBezTo>
                  <a:pt x="142875" y="74513"/>
                  <a:pt x="135310" y="63475"/>
                  <a:pt x="124396" y="58465"/>
                </a:cubicBezTo>
                <a:cubicBezTo>
                  <a:pt x="126057" y="55215"/>
                  <a:pt x="127000" y="51519"/>
                  <a:pt x="127000" y="47625"/>
                </a:cubicBezTo>
                <a:cubicBezTo>
                  <a:pt x="127000" y="34479"/>
                  <a:pt x="116334" y="23812"/>
                  <a:pt x="103188" y="23812"/>
                </a:cubicBezTo>
                <a:cubicBezTo>
                  <a:pt x="98797" y="23812"/>
                  <a:pt x="94704" y="25003"/>
                  <a:pt x="91182" y="27062"/>
                </a:cubicBezTo>
                <a:cubicBezTo>
                  <a:pt x="85204" y="15701"/>
                  <a:pt x="73273" y="7938"/>
                  <a:pt x="59531" y="7938"/>
                </a:cubicBezTo>
                <a:cubicBezTo>
                  <a:pt x="39812" y="7938"/>
                  <a:pt x="23813" y="23937"/>
                  <a:pt x="23813" y="43656"/>
                </a:cubicBezTo>
                <a:cubicBezTo>
                  <a:pt x="23813" y="45641"/>
                  <a:pt x="23986" y="47600"/>
                  <a:pt x="24284" y="49485"/>
                </a:cubicBezTo>
                <a:cubicBezTo>
                  <a:pt x="10170" y="54248"/>
                  <a:pt x="0" y="67618"/>
                  <a:pt x="0" y="83344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30" name="Text 28"/>
          <p:cNvSpPr/>
          <p:nvPr/>
        </p:nvSpPr>
        <p:spPr>
          <a:xfrm>
            <a:off x="706438" y="5214938"/>
            <a:ext cx="801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Hugging Face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30563" y="524668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31750" y="-7937"/>
                </a:moveTo>
                <a:cubicBezTo>
                  <a:pt x="36140" y="-7937"/>
                  <a:pt x="39688" y="-4390"/>
                  <a:pt x="39688" y="0"/>
                </a:cubicBezTo>
                <a:lnTo>
                  <a:pt x="39688" y="23812"/>
                </a:lnTo>
                <a:lnTo>
                  <a:pt x="71438" y="23812"/>
                </a:lnTo>
                <a:lnTo>
                  <a:pt x="71438" y="0"/>
                </a:lnTo>
                <a:cubicBezTo>
                  <a:pt x="71438" y="-4390"/>
                  <a:pt x="74985" y="-7937"/>
                  <a:pt x="79375" y="-7937"/>
                </a:cubicBezTo>
                <a:cubicBezTo>
                  <a:pt x="83765" y="-7937"/>
                  <a:pt x="87313" y="-4390"/>
                  <a:pt x="87313" y="0"/>
                </a:cubicBezTo>
                <a:lnTo>
                  <a:pt x="87313" y="23812"/>
                </a:lnTo>
                <a:lnTo>
                  <a:pt x="103188" y="23812"/>
                </a:lnTo>
                <a:cubicBezTo>
                  <a:pt x="107578" y="23812"/>
                  <a:pt x="111125" y="27360"/>
                  <a:pt x="111125" y="31750"/>
                </a:cubicBezTo>
                <a:cubicBezTo>
                  <a:pt x="111125" y="36140"/>
                  <a:pt x="107578" y="39688"/>
                  <a:pt x="103188" y="39688"/>
                </a:cubicBezTo>
                <a:lnTo>
                  <a:pt x="103188" y="55563"/>
                </a:lnTo>
                <a:cubicBezTo>
                  <a:pt x="103188" y="79152"/>
                  <a:pt x="86023" y="98747"/>
                  <a:pt x="63500" y="102518"/>
                </a:cubicBezTo>
                <a:lnTo>
                  <a:pt x="63500" y="119063"/>
                </a:lnTo>
                <a:cubicBezTo>
                  <a:pt x="63500" y="123453"/>
                  <a:pt x="59953" y="127000"/>
                  <a:pt x="55563" y="127000"/>
                </a:cubicBezTo>
                <a:cubicBezTo>
                  <a:pt x="51172" y="127000"/>
                  <a:pt x="47625" y="123453"/>
                  <a:pt x="47625" y="119063"/>
                </a:cubicBezTo>
                <a:lnTo>
                  <a:pt x="47625" y="102518"/>
                </a:lnTo>
                <a:cubicBezTo>
                  <a:pt x="25102" y="98747"/>
                  <a:pt x="7938" y="79152"/>
                  <a:pt x="7938" y="55563"/>
                </a:cubicBezTo>
                <a:lnTo>
                  <a:pt x="7938" y="39688"/>
                </a:lnTo>
                <a:cubicBezTo>
                  <a:pt x="3547" y="39688"/>
                  <a:pt x="0" y="36140"/>
                  <a:pt x="0" y="31750"/>
                </a:cubicBezTo>
                <a:cubicBezTo>
                  <a:pt x="0" y="27360"/>
                  <a:pt x="3547" y="23812"/>
                  <a:pt x="7938" y="23812"/>
                </a:cubicBezTo>
                <a:lnTo>
                  <a:pt x="23812" y="23812"/>
                </a:lnTo>
                <a:lnTo>
                  <a:pt x="23812" y="0"/>
                </a:lnTo>
                <a:cubicBezTo>
                  <a:pt x="23812" y="-4390"/>
                  <a:pt x="27360" y="-7937"/>
                  <a:pt x="31750" y="-7937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32" name="Text 30"/>
          <p:cNvSpPr/>
          <p:nvPr/>
        </p:nvSpPr>
        <p:spPr>
          <a:xfrm>
            <a:off x="3429000" y="5214938"/>
            <a:ext cx="55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 API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07125" y="1174750"/>
            <a:ext cx="5667375" cy="3111500"/>
          </a:xfrm>
          <a:custGeom>
            <a:avLst/>
            <a:gdLst/>
            <a:ahLst/>
            <a:cxnLst/>
            <a:rect l="l" t="t" r="r" b="b"/>
            <a:pathLst>
              <a:path w="5667375" h="3111500">
                <a:moveTo>
                  <a:pt x="0" y="0"/>
                </a:moveTo>
                <a:lnTo>
                  <a:pt x="5603875" y="0"/>
                </a:lnTo>
                <a:cubicBezTo>
                  <a:pt x="5638922" y="0"/>
                  <a:pt x="5667375" y="28453"/>
                  <a:pt x="5667375" y="63500"/>
                </a:cubicBezTo>
                <a:lnTo>
                  <a:pt x="5667375" y="3048000"/>
                </a:lnTo>
                <a:cubicBezTo>
                  <a:pt x="5667375" y="3083047"/>
                  <a:pt x="5638922" y="3111500"/>
                  <a:pt x="5603875" y="3111500"/>
                </a:cubicBezTo>
                <a:lnTo>
                  <a:pt x="0" y="31115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207125" y="1174750"/>
            <a:ext cx="31750" cy="3111500"/>
          </a:xfrm>
          <a:prstGeom prst="roundRect">
            <a:avLst>
              <a:gd name="adj" fmla="val 0"/>
            </a:avLst>
          </a:prstGeom>
          <a:solidFill>
            <a:srgbClr val="A0AEC0"/>
          </a:solidFill>
          <a:ln/>
        </p:spPr>
      </p:sp>
      <p:sp>
        <p:nvSpPr>
          <p:cNvPr id="35" name="Shape 33"/>
          <p:cNvSpPr/>
          <p:nvPr/>
        </p:nvSpPr>
        <p:spPr>
          <a:xfrm>
            <a:off x="6393656" y="13493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53578" y="178594"/>
                </a:moveTo>
                <a:cubicBezTo>
                  <a:pt x="23999" y="178594"/>
                  <a:pt x="0" y="154595"/>
                  <a:pt x="0" y="125016"/>
                </a:cubicBezTo>
                <a:cubicBezTo>
                  <a:pt x="0" y="101426"/>
                  <a:pt x="15255" y="81409"/>
                  <a:pt x="36426" y="74228"/>
                </a:cubicBezTo>
                <a:cubicBezTo>
                  <a:pt x="35942" y="71363"/>
                  <a:pt x="35719" y="68461"/>
                  <a:pt x="35719" y="65484"/>
                </a:cubicBezTo>
                <a:cubicBezTo>
                  <a:pt x="35719" y="35905"/>
                  <a:pt x="59717" y="11906"/>
                  <a:pt x="89297" y="11906"/>
                </a:cubicBezTo>
                <a:cubicBezTo>
                  <a:pt x="109910" y="11906"/>
                  <a:pt x="127806" y="23552"/>
                  <a:pt x="136773" y="40593"/>
                </a:cubicBezTo>
                <a:cubicBezTo>
                  <a:pt x="142056" y="37505"/>
                  <a:pt x="148233" y="35719"/>
                  <a:pt x="154781" y="35719"/>
                </a:cubicBezTo>
                <a:cubicBezTo>
                  <a:pt x="174501" y="35719"/>
                  <a:pt x="190500" y="51718"/>
                  <a:pt x="190500" y="71438"/>
                </a:cubicBezTo>
                <a:cubicBezTo>
                  <a:pt x="190500" y="77279"/>
                  <a:pt x="189086" y="82823"/>
                  <a:pt x="186593" y="87697"/>
                </a:cubicBezTo>
                <a:cubicBezTo>
                  <a:pt x="202964" y="95250"/>
                  <a:pt x="214313" y="111770"/>
                  <a:pt x="214313" y="130969"/>
                </a:cubicBezTo>
                <a:cubicBezTo>
                  <a:pt x="214313" y="157274"/>
                  <a:pt x="192993" y="178594"/>
                  <a:pt x="166688" y="178594"/>
                </a:cubicBezTo>
                <a:lnTo>
                  <a:pt x="53578" y="178594"/>
                </a:lnTo>
                <a:close/>
                <a:moveTo>
                  <a:pt x="113481" y="71065"/>
                </a:moveTo>
                <a:cubicBezTo>
                  <a:pt x="109984" y="67568"/>
                  <a:pt x="104329" y="67568"/>
                  <a:pt x="100868" y="71065"/>
                </a:cubicBezTo>
                <a:lnTo>
                  <a:pt x="74079" y="97854"/>
                </a:lnTo>
                <a:cubicBezTo>
                  <a:pt x="70582" y="101352"/>
                  <a:pt x="70582" y="107007"/>
                  <a:pt x="74079" y="110468"/>
                </a:cubicBezTo>
                <a:cubicBezTo>
                  <a:pt x="77577" y="113928"/>
                  <a:pt x="83232" y="113965"/>
                  <a:pt x="86692" y="110468"/>
                </a:cubicBezTo>
                <a:lnTo>
                  <a:pt x="98227" y="98933"/>
                </a:lnTo>
                <a:lnTo>
                  <a:pt x="98227" y="136922"/>
                </a:lnTo>
                <a:cubicBezTo>
                  <a:pt x="98227" y="141870"/>
                  <a:pt x="102208" y="145852"/>
                  <a:pt x="107156" y="145852"/>
                </a:cubicBezTo>
                <a:cubicBezTo>
                  <a:pt x="112105" y="145852"/>
                  <a:pt x="116086" y="141870"/>
                  <a:pt x="116086" y="136922"/>
                </a:cubicBezTo>
                <a:lnTo>
                  <a:pt x="116086" y="98933"/>
                </a:lnTo>
                <a:lnTo>
                  <a:pt x="127620" y="110468"/>
                </a:lnTo>
                <a:cubicBezTo>
                  <a:pt x="131118" y="113965"/>
                  <a:pt x="136773" y="113965"/>
                  <a:pt x="140233" y="110468"/>
                </a:cubicBezTo>
                <a:cubicBezTo>
                  <a:pt x="143694" y="106970"/>
                  <a:pt x="143731" y="101315"/>
                  <a:pt x="140233" y="97854"/>
                </a:cubicBezTo>
                <a:lnTo>
                  <a:pt x="113444" y="71065"/>
                </a:ln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36" name="Text 34"/>
          <p:cNvSpPr/>
          <p:nvPr/>
        </p:nvSpPr>
        <p:spPr>
          <a:xfrm>
            <a:off x="6715125" y="1333500"/>
            <a:ext cx="1944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Hugging Face Deployment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81750" y="1682750"/>
            <a:ext cx="5397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ONNX models are deployed on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Hugging Face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providing scalable cloud infrastructure and API-based access for real-time predictions.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81750" y="2222500"/>
            <a:ext cx="5334000" cy="571500"/>
          </a:xfrm>
          <a:prstGeom prst="roundRect">
            <a:avLst>
              <a:gd name="adj" fmla="val 11111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500813" y="234950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5875" y="7938"/>
                </a:moveTo>
                <a:cubicBezTo>
                  <a:pt x="7119" y="7938"/>
                  <a:pt x="0" y="15056"/>
                  <a:pt x="0" y="23812"/>
                </a:cubicBezTo>
                <a:lnTo>
                  <a:pt x="0" y="39688"/>
                </a:lnTo>
                <a:cubicBezTo>
                  <a:pt x="0" y="48444"/>
                  <a:pt x="7119" y="55563"/>
                  <a:pt x="15875" y="55563"/>
                </a:cubicBezTo>
                <a:lnTo>
                  <a:pt x="95250" y="55563"/>
                </a:lnTo>
                <a:cubicBezTo>
                  <a:pt x="104006" y="55563"/>
                  <a:pt x="111125" y="48444"/>
                  <a:pt x="111125" y="39688"/>
                </a:cubicBezTo>
                <a:lnTo>
                  <a:pt x="111125" y="23812"/>
                </a:lnTo>
                <a:cubicBezTo>
                  <a:pt x="111125" y="15056"/>
                  <a:pt x="104006" y="7938"/>
                  <a:pt x="95250" y="7938"/>
                </a:cubicBezTo>
                <a:lnTo>
                  <a:pt x="15875" y="7938"/>
                </a:lnTo>
                <a:close/>
                <a:moveTo>
                  <a:pt x="69453" y="25797"/>
                </a:moveTo>
                <a:cubicBezTo>
                  <a:pt x="72739" y="25797"/>
                  <a:pt x="75406" y="28464"/>
                  <a:pt x="75406" y="31750"/>
                </a:cubicBezTo>
                <a:cubicBezTo>
                  <a:pt x="75406" y="35036"/>
                  <a:pt x="72739" y="37703"/>
                  <a:pt x="69453" y="37703"/>
                </a:cubicBezTo>
                <a:cubicBezTo>
                  <a:pt x="66168" y="37703"/>
                  <a:pt x="63500" y="35036"/>
                  <a:pt x="63500" y="31750"/>
                </a:cubicBezTo>
                <a:cubicBezTo>
                  <a:pt x="63500" y="28464"/>
                  <a:pt x="66168" y="25797"/>
                  <a:pt x="69453" y="25797"/>
                </a:cubicBezTo>
                <a:close/>
                <a:moveTo>
                  <a:pt x="83344" y="31750"/>
                </a:moveTo>
                <a:cubicBezTo>
                  <a:pt x="83344" y="28464"/>
                  <a:pt x="86011" y="25797"/>
                  <a:pt x="89297" y="25797"/>
                </a:cubicBezTo>
                <a:cubicBezTo>
                  <a:pt x="92582" y="25797"/>
                  <a:pt x="95250" y="28464"/>
                  <a:pt x="95250" y="31750"/>
                </a:cubicBezTo>
                <a:cubicBezTo>
                  <a:pt x="95250" y="35036"/>
                  <a:pt x="92582" y="37703"/>
                  <a:pt x="89297" y="37703"/>
                </a:cubicBezTo>
                <a:cubicBezTo>
                  <a:pt x="86011" y="37703"/>
                  <a:pt x="83344" y="35036"/>
                  <a:pt x="83344" y="31750"/>
                </a:cubicBezTo>
                <a:close/>
                <a:moveTo>
                  <a:pt x="15875" y="71438"/>
                </a:moveTo>
                <a:cubicBezTo>
                  <a:pt x="7119" y="71438"/>
                  <a:pt x="0" y="78556"/>
                  <a:pt x="0" y="87313"/>
                </a:cubicBezTo>
                <a:lnTo>
                  <a:pt x="0" y="103188"/>
                </a:lnTo>
                <a:cubicBezTo>
                  <a:pt x="0" y="111944"/>
                  <a:pt x="7119" y="119063"/>
                  <a:pt x="15875" y="119063"/>
                </a:cubicBezTo>
                <a:lnTo>
                  <a:pt x="95250" y="119063"/>
                </a:lnTo>
                <a:cubicBezTo>
                  <a:pt x="104006" y="119063"/>
                  <a:pt x="111125" y="111944"/>
                  <a:pt x="111125" y="103188"/>
                </a:cubicBezTo>
                <a:lnTo>
                  <a:pt x="111125" y="87313"/>
                </a:lnTo>
                <a:cubicBezTo>
                  <a:pt x="111125" y="78556"/>
                  <a:pt x="104006" y="71438"/>
                  <a:pt x="95250" y="71438"/>
                </a:cubicBezTo>
                <a:lnTo>
                  <a:pt x="15875" y="71438"/>
                </a:lnTo>
                <a:close/>
                <a:moveTo>
                  <a:pt x="69453" y="89297"/>
                </a:moveTo>
                <a:cubicBezTo>
                  <a:pt x="72739" y="89297"/>
                  <a:pt x="75406" y="91964"/>
                  <a:pt x="75406" y="95250"/>
                </a:cubicBezTo>
                <a:cubicBezTo>
                  <a:pt x="75406" y="98536"/>
                  <a:pt x="72739" y="101203"/>
                  <a:pt x="69453" y="101203"/>
                </a:cubicBezTo>
                <a:cubicBezTo>
                  <a:pt x="66168" y="101203"/>
                  <a:pt x="63500" y="98536"/>
                  <a:pt x="63500" y="95250"/>
                </a:cubicBezTo>
                <a:cubicBezTo>
                  <a:pt x="63500" y="91964"/>
                  <a:pt x="66168" y="89297"/>
                  <a:pt x="69453" y="89297"/>
                </a:cubicBezTo>
                <a:close/>
                <a:moveTo>
                  <a:pt x="83344" y="95250"/>
                </a:moveTo>
                <a:cubicBezTo>
                  <a:pt x="83344" y="91964"/>
                  <a:pt x="86011" y="89297"/>
                  <a:pt x="89297" y="89297"/>
                </a:cubicBezTo>
                <a:cubicBezTo>
                  <a:pt x="92582" y="89297"/>
                  <a:pt x="95250" y="91964"/>
                  <a:pt x="95250" y="95250"/>
                </a:cubicBezTo>
                <a:cubicBezTo>
                  <a:pt x="95250" y="98536"/>
                  <a:pt x="92582" y="101203"/>
                  <a:pt x="89297" y="101203"/>
                </a:cubicBezTo>
                <a:cubicBezTo>
                  <a:pt x="86011" y="101203"/>
                  <a:pt x="83344" y="98536"/>
                  <a:pt x="83344" y="95250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40" name="Text 38"/>
          <p:cNvSpPr/>
          <p:nvPr/>
        </p:nvSpPr>
        <p:spPr>
          <a:xfrm>
            <a:off x="6699250" y="2317750"/>
            <a:ext cx="84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Hosting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77000" y="254000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 hosted on scalable infrastructure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81750" y="2889250"/>
            <a:ext cx="5334000" cy="571500"/>
          </a:xfrm>
          <a:prstGeom prst="roundRect">
            <a:avLst>
              <a:gd name="adj" fmla="val 11111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84938" y="301625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04056" y="23812"/>
                </a:moveTo>
                <a:cubicBezTo>
                  <a:pt x="99938" y="23812"/>
                  <a:pt x="95945" y="24929"/>
                  <a:pt x="92447" y="26963"/>
                </a:cubicBezTo>
                <a:cubicBezTo>
                  <a:pt x="88528" y="22994"/>
                  <a:pt x="83964" y="19670"/>
                  <a:pt x="78929" y="17165"/>
                </a:cubicBezTo>
                <a:cubicBezTo>
                  <a:pt x="85923" y="11212"/>
                  <a:pt x="94828" y="7938"/>
                  <a:pt x="104056" y="7938"/>
                </a:cubicBezTo>
                <a:cubicBezTo>
                  <a:pt x="125487" y="7938"/>
                  <a:pt x="142875" y="25301"/>
                  <a:pt x="142875" y="46757"/>
                </a:cubicBezTo>
                <a:cubicBezTo>
                  <a:pt x="142875" y="57051"/>
                  <a:pt x="138782" y="66923"/>
                  <a:pt x="131514" y="74191"/>
                </a:cubicBezTo>
                <a:lnTo>
                  <a:pt x="113878" y="91827"/>
                </a:lnTo>
                <a:cubicBezTo>
                  <a:pt x="106611" y="99095"/>
                  <a:pt x="96738" y="103188"/>
                  <a:pt x="86444" y="103188"/>
                </a:cubicBezTo>
                <a:cubicBezTo>
                  <a:pt x="65013" y="103188"/>
                  <a:pt x="47625" y="85824"/>
                  <a:pt x="47625" y="64368"/>
                </a:cubicBezTo>
                <a:cubicBezTo>
                  <a:pt x="47625" y="63996"/>
                  <a:pt x="47625" y="63624"/>
                  <a:pt x="47650" y="63252"/>
                </a:cubicBezTo>
                <a:cubicBezTo>
                  <a:pt x="47774" y="58862"/>
                  <a:pt x="51420" y="55414"/>
                  <a:pt x="55811" y="55538"/>
                </a:cubicBezTo>
                <a:cubicBezTo>
                  <a:pt x="60201" y="55662"/>
                  <a:pt x="63649" y="59308"/>
                  <a:pt x="63525" y="63698"/>
                </a:cubicBezTo>
                <a:cubicBezTo>
                  <a:pt x="63525" y="63922"/>
                  <a:pt x="63525" y="64145"/>
                  <a:pt x="63525" y="64343"/>
                </a:cubicBezTo>
                <a:cubicBezTo>
                  <a:pt x="63525" y="77019"/>
                  <a:pt x="73794" y="87288"/>
                  <a:pt x="86469" y="87288"/>
                </a:cubicBezTo>
                <a:cubicBezTo>
                  <a:pt x="92546" y="87288"/>
                  <a:pt x="98375" y="84882"/>
                  <a:pt x="102691" y="80566"/>
                </a:cubicBezTo>
                <a:lnTo>
                  <a:pt x="120328" y="62929"/>
                </a:lnTo>
                <a:cubicBezTo>
                  <a:pt x="124619" y="58638"/>
                  <a:pt x="127050" y="52784"/>
                  <a:pt x="127050" y="46707"/>
                </a:cubicBezTo>
                <a:cubicBezTo>
                  <a:pt x="127050" y="34032"/>
                  <a:pt x="116780" y="23763"/>
                  <a:pt x="104105" y="23763"/>
                </a:cubicBezTo>
                <a:close/>
                <a:moveTo>
                  <a:pt x="68263" y="42987"/>
                </a:moveTo>
                <a:cubicBezTo>
                  <a:pt x="67791" y="42788"/>
                  <a:pt x="67320" y="42515"/>
                  <a:pt x="66898" y="42218"/>
                </a:cubicBezTo>
                <a:cubicBezTo>
                  <a:pt x="63773" y="40605"/>
                  <a:pt x="60201" y="39688"/>
                  <a:pt x="56455" y="39688"/>
                </a:cubicBezTo>
                <a:cubicBezTo>
                  <a:pt x="50378" y="39688"/>
                  <a:pt x="44549" y="42094"/>
                  <a:pt x="40233" y="46410"/>
                </a:cubicBezTo>
                <a:lnTo>
                  <a:pt x="22597" y="64046"/>
                </a:lnTo>
                <a:cubicBezTo>
                  <a:pt x="18306" y="68337"/>
                  <a:pt x="15875" y="74191"/>
                  <a:pt x="15875" y="80268"/>
                </a:cubicBezTo>
                <a:cubicBezTo>
                  <a:pt x="15875" y="92943"/>
                  <a:pt x="26144" y="103212"/>
                  <a:pt x="38819" y="103212"/>
                </a:cubicBezTo>
                <a:cubicBezTo>
                  <a:pt x="42912" y="103212"/>
                  <a:pt x="46906" y="102121"/>
                  <a:pt x="50403" y="100087"/>
                </a:cubicBezTo>
                <a:cubicBezTo>
                  <a:pt x="54322" y="104056"/>
                  <a:pt x="58886" y="107379"/>
                  <a:pt x="63946" y="109885"/>
                </a:cubicBezTo>
                <a:cubicBezTo>
                  <a:pt x="56952" y="115813"/>
                  <a:pt x="48071" y="119112"/>
                  <a:pt x="38819" y="119112"/>
                </a:cubicBezTo>
                <a:cubicBezTo>
                  <a:pt x="17388" y="119112"/>
                  <a:pt x="0" y="101749"/>
                  <a:pt x="0" y="80293"/>
                </a:cubicBezTo>
                <a:cubicBezTo>
                  <a:pt x="0" y="69999"/>
                  <a:pt x="4093" y="60127"/>
                  <a:pt x="11361" y="52859"/>
                </a:cubicBezTo>
                <a:lnTo>
                  <a:pt x="28997" y="35223"/>
                </a:lnTo>
                <a:cubicBezTo>
                  <a:pt x="36264" y="27955"/>
                  <a:pt x="46137" y="23862"/>
                  <a:pt x="56431" y="23862"/>
                </a:cubicBezTo>
                <a:cubicBezTo>
                  <a:pt x="77912" y="23862"/>
                  <a:pt x="95250" y="41374"/>
                  <a:pt x="95250" y="62781"/>
                </a:cubicBezTo>
                <a:cubicBezTo>
                  <a:pt x="95250" y="63103"/>
                  <a:pt x="95250" y="63426"/>
                  <a:pt x="95250" y="63748"/>
                </a:cubicBezTo>
                <a:cubicBezTo>
                  <a:pt x="95151" y="68138"/>
                  <a:pt x="91504" y="71586"/>
                  <a:pt x="87114" y="71487"/>
                </a:cubicBezTo>
                <a:cubicBezTo>
                  <a:pt x="82724" y="71388"/>
                  <a:pt x="79276" y="67742"/>
                  <a:pt x="79375" y="63351"/>
                </a:cubicBezTo>
                <a:cubicBezTo>
                  <a:pt x="79375" y="63153"/>
                  <a:pt x="79375" y="62979"/>
                  <a:pt x="79375" y="62781"/>
                </a:cubicBezTo>
                <a:cubicBezTo>
                  <a:pt x="79375" y="54421"/>
                  <a:pt x="74910" y="47079"/>
                  <a:pt x="68263" y="43036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44" name="Text 42"/>
          <p:cNvSpPr/>
          <p:nvPr/>
        </p:nvSpPr>
        <p:spPr>
          <a:xfrm>
            <a:off x="6699250" y="2984500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Endpoints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77000" y="320675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access to all prediction models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81750" y="3556000"/>
            <a:ext cx="5334000" cy="571500"/>
          </a:xfrm>
          <a:prstGeom prst="roundRect">
            <a:avLst>
              <a:gd name="adj" fmla="val 11111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92875" y="36830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4641" y="0"/>
                  <a:pt x="65782" y="248"/>
                  <a:pt x="66824" y="719"/>
                </a:cubicBezTo>
                <a:lnTo>
                  <a:pt x="113556" y="20538"/>
                </a:lnTo>
                <a:cubicBezTo>
                  <a:pt x="119013" y="22845"/>
                  <a:pt x="123081" y="28228"/>
                  <a:pt x="123056" y="34727"/>
                </a:cubicBezTo>
                <a:cubicBezTo>
                  <a:pt x="122932" y="59333"/>
                  <a:pt x="112812" y="104353"/>
                  <a:pt x="70073" y="124817"/>
                </a:cubicBezTo>
                <a:cubicBezTo>
                  <a:pt x="65931" y="126802"/>
                  <a:pt x="61119" y="126802"/>
                  <a:pt x="56976" y="124817"/>
                </a:cubicBezTo>
                <a:cubicBezTo>
                  <a:pt x="14213" y="104353"/>
                  <a:pt x="4118" y="59333"/>
                  <a:pt x="3994" y="34727"/>
                </a:cubicBezTo>
                <a:cubicBezTo>
                  <a:pt x="3969" y="28228"/>
                  <a:pt x="8037" y="22845"/>
                  <a:pt x="13494" y="20538"/>
                </a:cubicBezTo>
                <a:lnTo>
                  <a:pt x="60201" y="719"/>
                </a:lnTo>
                <a:cubicBezTo>
                  <a:pt x="61243" y="248"/>
                  <a:pt x="62359" y="0"/>
                  <a:pt x="63500" y="0"/>
                </a:cubicBezTo>
                <a:close/>
                <a:moveTo>
                  <a:pt x="63500" y="16570"/>
                </a:moveTo>
                <a:lnTo>
                  <a:pt x="63500" y="110356"/>
                </a:lnTo>
                <a:cubicBezTo>
                  <a:pt x="97730" y="93787"/>
                  <a:pt x="106933" y="57076"/>
                  <a:pt x="107156" y="35099"/>
                </a:cubicBezTo>
                <a:lnTo>
                  <a:pt x="63500" y="16594"/>
                </a:lnTo>
                <a:lnTo>
                  <a:pt x="63500" y="16594"/>
                </a:ln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48" name="Text 46"/>
          <p:cNvSpPr/>
          <p:nvPr/>
        </p:nvSpPr>
        <p:spPr>
          <a:xfrm>
            <a:off x="6699250" y="3651250"/>
            <a:ext cx="944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Availability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77000" y="3873500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Reliable and consistent service uptime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95219" y="4448969"/>
            <a:ext cx="5675313" cy="2643188"/>
          </a:xfrm>
          <a:prstGeom prst="roundRect">
            <a:avLst>
              <a:gd name="adj" fmla="val 2402"/>
            </a:avLst>
          </a:prstGeom>
          <a:solidFill>
            <a:srgbClr val="4A5568">
              <a:alpha val="30196"/>
            </a:srgbClr>
          </a:solidFill>
          <a:ln w="12700">
            <a:solidFill>
              <a:srgbClr val="A0AEC0">
                <a:alpha val="2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81750" y="46275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52" name="Text 50"/>
          <p:cNvSpPr/>
          <p:nvPr/>
        </p:nvSpPr>
        <p:spPr>
          <a:xfrm>
            <a:off x="6691313" y="4611688"/>
            <a:ext cx="103981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Workflow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57938" y="4960938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467202" y="5008563"/>
            <a:ext cx="8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707188" y="4992688"/>
            <a:ext cx="251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Android app sends user input via HTTP POST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985250" y="531018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57" name="Shape 55"/>
          <p:cNvSpPr/>
          <p:nvPr/>
        </p:nvSpPr>
        <p:spPr>
          <a:xfrm>
            <a:off x="6357938" y="5532438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456536" y="5580063"/>
            <a:ext cx="111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707188" y="5564188"/>
            <a:ext cx="269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preprocesses text and runs ONNX inference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985250" y="588168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61" name="Shape 59"/>
          <p:cNvSpPr/>
          <p:nvPr/>
        </p:nvSpPr>
        <p:spPr>
          <a:xfrm>
            <a:off x="6357938" y="6103938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455172" y="6151563"/>
            <a:ext cx="11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707188" y="6135688"/>
            <a:ext cx="246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 result returned as JSON response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985250" y="645318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42019" y="124668"/>
                </a:moveTo>
                <a:cubicBezTo>
                  <a:pt x="45120" y="127769"/>
                  <a:pt x="50155" y="127769"/>
                  <a:pt x="53256" y="124668"/>
                </a:cubicBezTo>
                <a:lnTo>
                  <a:pt x="92943" y="84981"/>
                </a:lnTo>
                <a:cubicBezTo>
                  <a:pt x="96044" y="81880"/>
                  <a:pt x="96044" y="76845"/>
                  <a:pt x="92943" y="73744"/>
                </a:cubicBezTo>
                <a:cubicBezTo>
                  <a:pt x="89843" y="70644"/>
                  <a:pt x="84807" y="70644"/>
                  <a:pt x="81707" y="73744"/>
                </a:cubicBezTo>
                <a:lnTo>
                  <a:pt x="55563" y="99888"/>
                </a:lnTo>
                <a:lnTo>
                  <a:pt x="55563" y="7938"/>
                </a:lnTo>
                <a:cubicBezTo>
                  <a:pt x="55563" y="3547"/>
                  <a:pt x="52015" y="0"/>
                  <a:pt x="47625" y="0"/>
                </a:cubicBezTo>
                <a:cubicBezTo>
                  <a:pt x="43235" y="0"/>
                  <a:pt x="39688" y="3547"/>
                  <a:pt x="39688" y="7938"/>
                </a:cubicBezTo>
                <a:lnTo>
                  <a:pt x="39688" y="99888"/>
                </a:lnTo>
                <a:lnTo>
                  <a:pt x="13543" y="73744"/>
                </a:lnTo>
                <a:cubicBezTo>
                  <a:pt x="10443" y="70644"/>
                  <a:pt x="5407" y="70644"/>
                  <a:pt x="2307" y="73744"/>
                </a:cubicBezTo>
                <a:cubicBezTo>
                  <a:pt x="-794" y="76845"/>
                  <a:pt x="-794" y="81880"/>
                  <a:pt x="2307" y="84981"/>
                </a:cubicBezTo>
                <a:lnTo>
                  <a:pt x="41994" y="124668"/>
                </a:ln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65" name="Shape 63"/>
          <p:cNvSpPr/>
          <p:nvPr/>
        </p:nvSpPr>
        <p:spPr>
          <a:xfrm>
            <a:off x="6357938" y="6675438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6456660" y="6723063"/>
            <a:ext cx="111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707188" y="6707188"/>
            <a:ext cx="250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 displays disorder with confidence score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s.moonshot.cn/kimi-ppt/html-gen/static/image-error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1A202C">
                  <a:alpha val="98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4A5568">
                  <a:alpha val="6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1378744"/>
            <a:ext cx="1362075" cy="428625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 w="12700">
            <a:solidFill>
              <a:srgbClr val="E9D8FD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925" y="1497806"/>
            <a:ext cx="11337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68" kern="0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69331"/>
            <a:ext cx="88773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212431"/>
            <a:ext cx="1524000" cy="381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E9D8F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381000" y="4555331"/>
            <a:ext cx="74580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A0AEC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Summary of achievements, state-of-the-art comparison, and future research directions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Future Directions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prstGeom prst="roundRect">
            <a:avLst>
              <a:gd name="adj" fmla="val 0"/>
            </a:avLst>
          </a:prstGeom>
          <a:solidFill>
            <a:srgbClr val="E9D8FD"/>
          </a:solidFill>
          <a:ln/>
        </p:spPr>
      </p:sp>
      <p:sp>
        <p:nvSpPr>
          <p:cNvPr id="5" name="Shape 3"/>
          <p:cNvSpPr/>
          <p:nvPr/>
        </p:nvSpPr>
        <p:spPr>
          <a:xfrm>
            <a:off x="333375" y="1174750"/>
            <a:ext cx="5667375" cy="3111500"/>
          </a:xfrm>
          <a:custGeom>
            <a:avLst/>
            <a:gdLst/>
            <a:ahLst/>
            <a:cxnLst/>
            <a:rect l="l" t="t" r="r" b="b"/>
            <a:pathLst>
              <a:path w="5667375" h="3111500">
                <a:moveTo>
                  <a:pt x="0" y="0"/>
                </a:moveTo>
                <a:lnTo>
                  <a:pt x="5603875" y="0"/>
                </a:lnTo>
                <a:cubicBezTo>
                  <a:pt x="5638922" y="0"/>
                  <a:pt x="5667375" y="28453"/>
                  <a:pt x="5667375" y="63500"/>
                </a:cubicBezTo>
                <a:lnTo>
                  <a:pt x="5667375" y="3048000"/>
                </a:lnTo>
                <a:cubicBezTo>
                  <a:pt x="5667375" y="3083047"/>
                  <a:pt x="5638922" y="3111500"/>
                  <a:pt x="5603875" y="3111500"/>
                </a:cubicBezTo>
                <a:lnTo>
                  <a:pt x="0" y="3111500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33375" y="1174750"/>
            <a:ext cx="31750" cy="3111500"/>
          </a:xfrm>
          <a:prstGeom prst="roundRect">
            <a:avLst>
              <a:gd name="adj" fmla="val 0"/>
            </a:avLst>
          </a:prstGeom>
          <a:solidFill>
            <a:srgbClr val="E9D8FD"/>
          </a:solidFill>
          <a:ln/>
        </p:spPr>
      </p:sp>
      <p:sp>
        <p:nvSpPr>
          <p:cNvPr id="7" name="Shape 5"/>
          <p:cNvSpPr/>
          <p:nvPr/>
        </p:nvSpPr>
        <p:spPr>
          <a:xfrm>
            <a:off x="531813" y="1349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8" name="Text 6"/>
          <p:cNvSpPr/>
          <p:nvPr/>
        </p:nvSpPr>
        <p:spPr>
          <a:xfrm>
            <a:off x="841375" y="1333500"/>
            <a:ext cx="1381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1682750"/>
            <a:ext cx="5334000" cy="539750"/>
          </a:xfrm>
          <a:prstGeom prst="roundRect">
            <a:avLst>
              <a:gd name="adj" fmla="val 11765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19125" y="1809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29766" y="13891"/>
                </a:moveTo>
                <a:cubicBezTo>
                  <a:pt x="29766" y="6226"/>
                  <a:pt x="35992" y="0"/>
                  <a:pt x="43656" y="0"/>
                </a:cubicBezTo>
                <a:lnTo>
                  <a:pt x="49609" y="0"/>
                </a:lnTo>
                <a:cubicBezTo>
                  <a:pt x="54000" y="0"/>
                  <a:pt x="57547" y="3547"/>
                  <a:pt x="57547" y="7938"/>
                </a:cubicBezTo>
                <a:lnTo>
                  <a:pt x="57547" y="119063"/>
                </a:lnTo>
                <a:cubicBezTo>
                  <a:pt x="57547" y="123453"/>
                  <a:pt x="54000" y="127000"/>
                  <a:pt x="49609" y="127000"/>
                </a:cubicBezTo>
                <a:lnTo>
                  <a:pt x="41672" y="127000"/>
                </a:lnTo>
                <a:cubicBezTo>
                  <a:pt x="34280" y="127000"/>
                  <a:pt x="28054" y="121940"/>
                  <a:pt x="26293" y="115094"/>
                </a:cubicBezTo>
                <a:cubicBezTo>
                  <a:pt x="26119" y="115094"/>
                  <a:pt x="25971" y="115094"/>
                  <a:pt x="25797" y="115094"/>
                </a:cubicBezTo>
                <a:cubicBezTo>
                  <a:pt x="14833" y="115094"/>
                  <a:pt x="5953" y="106214"/>
                  <a:pt x="5953" y="95250"/>
                </a:cubicBezTo>
                <a:cubicBezTo>
                  <a:pt x="5953" y="90785"/>
                  <a:pt x="7441" y="86668"/>
                  <a:pt x="9922" y="83344"/>
                </a:cubicBezTo>
                <a:cubicBezTo>
                  <a:pt x="5110" y="79722"/>
                  <a:pt x="1984" y="73968"/>
                  <a:pt x="1984" y="67469"/>
                </a:cubicBezTo>
                <a:cubicBezTo>
                  <a:pt x="1984" y="59804"/>
                  <a:pt x="6350" y="53132"/>
                  <a:pt x="12700" y="49833"/>
                </a:cubicBezTo>
                <a:cubicBezTo>
                  <a:pt x="10939" y="46856"/>
                  <a:pt x="9922" y="43383"/>
                  <a:pt x="9922" y="39688"/>
                </a:cubicBezTo>
                <a:cubicBezTo>
                  <a:pt x="9922" y="28724"/>
                  <a:pt x="18802" y="19844"/>
                  <a:pt x="29766" y="19844"/>
                </a:cubicBezTo>
                <a:lnTo>
                  <a:pt x="29766" y="13891"/>
                </a:lnTo>
                <a:close/>
                <a:moveTo>
                  <a:pt x="97234" y="13891"/>
                </a:moveTo>
                <a:lnTo>
                  <a:pt x="97234" y="19844"/>
                </a:lnTo>
                <a:cubicBezTo>
                  <a:pt x="108198" y="19844"/>
                  <a:pt x="117078" y="28724"/>
                  <a:pt x="117078" y="39688"/>
                </a:cubicBezTo>
                <a:cubicBezTo>
                  <a:pt x="117078" y="43408"/>
                  <a:pt x="116061" y="46881"/>
                  <a:pt x="114300" y="49833"/>
                </a:cubicBezTo>
                <a:cubicBezTo>
                  <a:pt x="120675" y="53132"/>
                  <a:pt x="125016" y="59779"/>
                  <a:pt x="125016" y="67469"/>
                </a:cubicBezTo>
                <a:cubicBezTo>
                  <a:pt x="125016" y="73968"/>
                  <a:pt x="121890" y="79722"/>
                  <a:pt x="117078" y="83344"/>
                </a:cubicBezTo>
                <a:cubicBezTo>
                  <a:pt x="119559" y="86668"/>
                  <a:pt x="121047" y="90785"/>
                  <a:pt x="121047" y="95250"/>
                </a:cubicBezTo>
                <a:cubicBezTo>
                  <a:pt x="121047" y="106214"/>
                  <a:pt x="112167" y="115094"/>
                  <a:pt x="101203" y="115094"/>
                </a:cubicBezTo>
                <a:cubicBezTo>
                  <a:pt x="101029" y="115094"/>
                  <a:pt x="100881" y="115094"/>
                  <a:pt x="100707" y="115094"/>
                </a:cubicBezTo>
                <a:cubicBezTo>
                  <a:pt x="98946" y="121940"/>
                  <a:pt x="92720" y="127000"/>
                  <a:pt x="85328" y="127000"/>
                </a:cubicBezTo>
                <a:lnTo>
                  <a:pt x="77391" y="127000"/>
                </a:lnTo>
                <a:cubicBezTo>
                  <a:pt x="73000" y="127000"/>
                  <a:pt x="69453" y="123453"/>
                  <a:pt x="69453" y="119063"/>
                </a:cubicBezTo>
                <a:lnTo>
                  <a:pt x="69453" y="7938"/>
                </a:lnTo>
                <a:cubicBezTo>
                  <a:pt x="69453" y="3547"/>
                  <a:pt x="73000" y="0"/>
                  <a:pt x="77391" y="0"/>
                </a:cubicBezTo>
                <a:lnTo>
                  <a:pt x="83344" y="0"/>
                </a:lnTo>
                <a:cubicBezTo>
                  <a:pt x="91008" y="0"/>
                  <a:pt x="97234" y="6226"/>
                  <a:pt x="97234" y="13891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11" name="Text 9"/>
          <p:cNvSpPr/>
          <p:nvPr/>
        </p:nvSpPr>
        <p:spPr>
          <a:xfrm>
            <a:off x="857250" y="1778000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End-to-End System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7250" y="1968500"/>
            <a:ext cx="261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data processing to real-time mobile predictions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8000" y="2317750"/>
            <a:ext cx="5334000" cy="539750"/>
          </a:xfrm>
          <a:prstGeom prst="roundRect">
            <a:avLst>
              <a:gd name="adj" fmla="val 11765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19125" y="2444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5793" y="0"/>
                </a:moveTo>
                <a:lnTo>
                  <a:pt x="91356" y="0"/>
                </a:lnTo>
                <a:cubicBezTo>
                  <a:pt x="97929" y="0"/>
                  <a:pt x="103287" y="5407"/>
                  <a:pt x="103039" y="11956"/>
                </a:cubicBezTo>
                <a:cubicBezTo>
                  <a:pt x="102989" y="13271"/>
                  <a:pt x="102939" y="14585"/>
                  <a:pt x="102865" y="15875"/>
                </a:cubicBezTo>
                <a:lnTo>
                  <a:pt x="115168" y="15875"/>
                </a:lnTo>
                <a:cubicBezTo>
                  <a:pt x="121642" y="15875"/>
                  <a:pt x="127347" y="21233"/>
                  <a:pt x="126851" y="28228"/>
                </a:cubicBezTo>
                <a:cubicBezTo>
                  <a:pt x="124991" y="53950"/>
                  <a:pt x="111844" y="68089"/>
                  <a:pt x="97582" y="75481"/>
                </a:cubicBezTo>
                <a:cubicBezTo>
                  <a:pt x="93663" y="77515"/>
                  <a:pt x="89669" y="79028"/>
                  <a:pt x="85874" y="80144"/>
                </a:cubicBezTo>
                <a:cubicBezTo>
                  <a:pt x="80863" y="87238"/>
                  <a:pt x="75654" y="90984"/>
                  <a:pt x="71512" y="92993"/>
                </a:cubicBezTo>
                <a:lnTo>
                  <a:pt x="71512" y="111125"/>
                </a:lnTo>
                <a:lnTo>
                  <a:pt x="87387" y="111125"/>
                </a:lnTo>
                <a:cubicBezTo>
                  <a:pt x="91777" y="111125"/>
                  <a:pt x="95324" y="114672"/>
                  <a:pt x="95324" y="119063"/>
                </a:cubicBezTo>
                <a:cubicBezTo>
                  <a:pt x="95324" y="123453"/>
                  <a:pt x="91777" y="127000"/>
                  <a:pt x="87387" y="127000"/>
                </a:cubicBezTo>
                <a:lnTo>
                  <a:pt x="39762" y="127000"/>
                </a:lnTo>
                <a:cubicBezTo>
                  <a:pt x="35371" y="127000"/>
                  <a:pt x="31824" y="123453"/>
                  <a:pt x="31824" y="119063"/>
                </a:cubicBezTo>
                <a:cubicBezTo>
                  <a:pt x="31824" y="114672"/>
                  <a:pt x="35371" y="111125"/>
                  <a:pt x="39762" y="111125"/>
                </a:cubicBezTo>
                <a:lnTo>
                  <a:pt x="55637" y="111125"/>
                </a:lnTo>
                <a:lnTo>
                  <a:pt x="55637" y="92993"/>
                </a:lnTo>
                <a:cubicBezTo>
                  <a:pt x="51668" y="91083"/>
                  <a:pt x="46732" y="87536"/>
                  <a:pt x="41920" y="81012"/>
                </a:cubicBezTo>
                <a:cubicBezTo>
                  <a:pt x="37356" y="79821"/>
                  <a:pt x="32395" y="78011"/>
                  <a:pt x="27558" y="75282"/>
                </a:cubicBezTo>
                <a:cubicBezTo>
                  <a:pt x="14139" y="67766"/>
                  <a:pt x="2034" y="53603"/>
                  <a:pt x="298" y="28178"/>
                </a:cubicBezTo>
                <a:cubicBezTo>
                  <a:pt x="-174" y="21208"/>
                  <a:pt x="5507" y="15850"/>
                  <a:pt x="11981" y="15850"/>
                </a:cubicBezTo>
                <a:lnTo>
                  <a:pt x="24284" y="15850"/>
                </a:lnTo>
                <a:cubicBezTo>
                  <a:pt x="24209" y="14560"/>
                  <a:pt x="24160" y="13271"/>
                  <a:pt x="24110" y="11931"/>
                </a:cubicBezTo>
                <a:cubicBezTo>
                  <a:pt x="23862" y="5358"/>
                  <a:pt x="29220" y="-25"/>
                  <a:pt x="35793" y="-25"/>
                </a:cubicBezTo>
                <a:close/>
                <a:moveTo>
                  <a:pt x="25177" y="27781"/>
                </a:moveTo>
                <a:lnTo>
                  <a:pt x="12179" y="27781"/>
                </a:lnTo>
                <a:cubicBezTo>
                  <a:pt x="13717" y="48791"/>
                  <a:pt x="23366" y="59308"/>
                  <a:pt x="33313" y="64889"/>
                </a:cubicBezTo>
                <a:cubicBezTo>
                  <a:pt x="29741" y="55637"/>
                  <a:pt x="26789" y="43557"/>
                  <a:pt x="25177" y="27781"/>
                </a:cubicBezTo>
                <a:close/>
                <a:moveTo>
                  <a:pt x="94258" y="63698"/>
                </a:moveTo>
                <a:cubicBezTo>
                  <a:pt x="104304" y="57795"/>
                  <a:pt x="113382" y="47303"/>
                  <a:pt x="114920" y="27781"/>
                </a:cubicBezTo>
                <a:lnTo>
                  <a:pt x="101947" y="27781"/>
                </a:lnTo>
                <a:cubicBezTo>
                  <a:pt x="100409" y="42887"/>
                  <a:pt x="97631" y="54620"/>
                  <a:pt x="94258" y="63698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15" name="Text 13"/>
          <p:cNvSpPr/>
          <p:nvPr/>
        </p:nvSpPr>
        <p:spPr>
          <a:xfrm>
            <a:off x="857250" y="2413000"/>
            <a:ext cx="189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Performance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7250" y="2603500"/>
            <a:ext cx="1889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&gt;96% accuracy with ensemble models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8000" y="2952750"/>
            <a:ext cx="5334000" cy="539750"/>
          </a:xfrm>
          <a:prstGeom prst="roundRect">
            <a:avLst>
              <a:gd name="adj" fmla="val 11765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11188" y="307975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0" y="83344"/>
                </a:moveTo>
                <a:cubicBezTo>
                  <a:pt x="0" y="103063"/>
                  <a:pt x="15999" y="119063"/>
                  <a:pt x="35719" y="119063"/>
                </a:cubicBezTo>
                <a:lnTo>
                  <a:pt x="111125" y="119063"/>
                </a:lnTo>
                <a:cubicBezTo>
                  <a:pt x="128662" y="119063"/>
                  <a:pt x="142875" y="104849"/>
                  <a:pt x="142875" y="87313"/>
                </a:cubicBezTo>
                <a:cubicBezTo>
                  <a:pt x="142875" y="74513"/>
                  <a:pt x="135310" y="63475"/>
                  <a:pt x="124396" y="58465"/>
                </a:cubicBezTo>
                <a:cubicBezTo>
                  <a:pt x="126057" y="55215"/>
                  <a:pt x="127000" y="51519"/>
                  <a:pt x="127000" y="47625"/>
                </a:cubicBezTo>
                <a:cubicBezTo>
                  <a:pt x="127000" y="34479"/>
                  <a:pt x="116334" y="23812"/>
                  <a:pt x="103188" y="23812"/>
                </a:cubicBezTo>
                <a:cubicBezTo>
                  <a:pt x="98797" y="23812"/>
                  <a:pt x="94704" y="25003"/>
                  <a:pt x="91182" y="27062"/>
                </a:cubicBezTo>
                <a:cubicBezTo>
                  <a:pt x="85204" y="15701"/>
                  <a:pt x="73273" y="7938"/>
                  <a:pt x="59531" y="7938"/>
                </a:cubicBezTo>
                <a:cubicBezTo>
                  <a:pt x="39812" y="7938"/>
                  <a:pt x="23813" y="23937"/>
                  <a:pt x="23813" y="43656"/>
                </a:cubicBezTo>
                <a:cubicBezTo>
                  <a:pt x="23813" y="45641"/>
                  <a:pt x="23986" y="47600"/>
                  <a:pt x="24284" y="49485"/>
                </a:cubicBezTo>
                <a:cubicBezTo>
                  <a:pt x="10170" y="54248"/>
                  <a:pt x="0" y="67618"/>
                  <a:pt x="0" y="83344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19" name="Text 17"/>
          <p:cNvSpPr/>
          <p:nvPr/>
        </p:nvSpPr>
        <p:spPr>
          <a:xfrm>
            <a:off x="857250" y="30480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Deployment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7250" y="3238500"/>
            <a:ext cx="2087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ONNX + Hugging Face cloud infrastructure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8000" y="3587750"/>
            <a:ext cx="5334000" cy="539750"/>
          </a:xfrm>
          <a:prstGeom prst="roundRect">
            <a:avLst>
              <a:gd name="adj" fmla="val 11765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35000" y="371475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3969" y="15875"/>
                </a:moveTo>
                <a:cubicBezTo>
                  <a:pt x="3969" y="7119"/>
                  <a:pt x="11088" y="0"/>
                  <a:pt x="19844" y="0"/>
                </a:cubicBezTo>
                <a:lnTo>
                  <a:pt x="75406" y="0"/>
                </a:lnTo>
                <a:cubicBezTo>
                  <a:pt x="84162" y="0"/>
                  <a:pt x="91281" y="7119"/>
                  <a:pt x="91281" y="15875"/>
                </a:cubicBezTo>
                <a:lnTo>
                  <a:pt x="91281" y="111125"/>
                </a:lnTo>
                <a:cubicBezTo>
                  <a:pt x="91281" y="119881"/>
                  <a:pt x="84162" y="127000"/>
                  <a:pt x="75406" y="127000"/>
                </a:cubicBezTo>
                <a:lnTo>
                  <a:pt x="19844" y="127000"/>
                </a:lnTo>
                <a:cubicBezTo>
                  <a:pt x="11088" y="127000"/>
                  <a:pt x="3969" y="119881"/>
                  <a:pt x="3969" y="111125"/>
                </a:cubicBezTo>
                <a:lnTo>
                  <a:pt x="3969" y="15875"/>
                </a:lnTo>
                <a:close/>
                <a:moveTo>
                  <a:pt x="19844" y="15875"/>
                </a:moveTo>
                <a:lnTo>
                  <a:pt x="19844" y="91281"/>
                </a:lnTo>
                <a:lnTo>
                  <a:pt x="75406" y="91281"/>
                </a:lnTo>
                <a:lnTo>
                  <a:pt x="75406" y="15875"/>
                </a:lnTo>
                <a:lnTo>
                  <a:pt x="19844" y="15875"/>
                </a:lnTo>
                <a:close/>
                <a:moveTo>
                  <a:pt x="47625" y="117078"/>
                </a:moveTo>
                <a:cubicBezTo>
                  <a:pt x="52015" y="117078"/>
                  <a:pt x="55563" y="113531"/>
                  <a:pt x="55563" y="109141"/>
                </a:cubicBezTo>
                <a:cubicBezTo>
                  <a:pt x="55563" y="104750"/>
                  <a:pt x="52015" y="101203"/>
                  <a:pt x="47625" y="101203"/>
                </a:cubicBezTo>
                <a:cubicBezTo>
                  <a:pt x="43235" y="101203"/>
                  <a:pt x="39688" y="104750"/>
                  <a:pt x="39688" y="109141"/>
                </a:cubicBezTo>
                <a:cubicBezTo>
                  <a:pt x="39688" y="113531"/>
                  <a:pt x="43235" y="117078"/>
                  <a:pt x="47625" y="117078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23" name="Text 21"/>
          <p:cNvSpPr/>
          <p:nvPr/>
        </p:nvSpPr>
        <p:spPr>
          <a:xfrm>
            <a:off x="857250" y="3683000"/>
            <a:ext cx="1674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Accessibility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7250" y="3873500"/>
            <a:ext cx="1666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User-friendly Android application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1469" y="4448969"/>
            <a:ext cx="5675313" cy="2484438"/>
          </a:xfrm>
          <a:prstGeom prst="roundRect">
            <a:avLst>
              <a:gd name="adj" fmla="val 2556"/>
            </a:avLst>
          </a:prstGeom>
          <a:gradFill rotWithShape="1" flip="none">
            <a:gsLst>
              <a:gs pos="0">
                <a:srgbClr val="E9D8FD">
                  <a:alpha val="2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2700">
            <a:solidFill>
              <a:srgbClr val="E9D8FD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187" y="4643438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19062" y="9922"/>
                </a:moveTo>
                <a:lnTo>
                  <a:pt x="158750" y="9922"/>
                </a:lnTo>
                <a:cubicBezTo>
                  <a:pt x="164238" y="9922"/>
                  <a:pt x="168672" y="14356"/>
                  <a:pt x="168672" y="19844"/>
                </a:cubicBezTo>
                <a:cubicBezTo>
                  <a:pt x="168672" y="25332"/>
                  <a:pt x="164238" y="29766"/>
                  <a:pt x="158750" y="29766"/>
                </a:cubicBezTo>
                <a:lnTo>
                  <a:pt x="123527" y="29766"/>
                </a:lnTo>
                <a:cubicBezTo>
                  <a:pt x="121915" y="37765"/>
                  <a:pt x="116427" y="44369"/>
                  <a:pt x="109141" y="47532"/>
                </a:cubicBezTo>
                <a:lnTo>
                  <a:pt x="109141" y="138906"/>
                </a:lnTo>
                <a:lnTo>
                  <a:pt x="158750" y="138906"/>
                </a:lnTo>
                <a:cubicBezTo>
                  <a:pt x="164238" y="138906"/>
                  <a:pt x="168672" y="143340"/>
                  <a:pt x="168672" y="148828"/>
                </a:cubicBezTo>
                <a:cubicBezTo>
                  <a:pt x="168672" y="154316"/>
                  <a:pt x="164238" y="158750"/>
                  <a:pt x="158750" y="158750"/>
                </a:cubicBezTo>
                <a:lnTo>
                  <a:pt x="39688" y="158750"/>
                </a:lnTo>
                <a:cubicBezTo>
                  <a:pt x="34199" y="158750"/>
                  <a:pt x="29766" y="154316"/>
                  <a:pt x="29766" y="148828"/>
                </a:cubicBezTo>
                <a:cubicBezTo>
                  <a:pt x="29766" y="143340"/>
                  <a:pt x="34199" y="138906"/>
                  <a:pt x="39688" y="138906"/>
                </a:cubicBezTo>
                <a:lnTo>
                  <a:pt x="89297" y="138906"/>
                </a:lnTo>
                <a:lnTo>
                  <a:pt x="89297" y="47532"/>
                </a:lnTo>
                <a:cubicBezTo>
                  <a:pt x="82010" y="44338"/>
                  <a:pt x="76522" y="37734"/>
                  <a:pt x="74910" y="29766"/>
                </a:cubicBezTo>
                <a:lnTo>
                  <a:pt x="39688" y="29766"/>
                </a:lnTo>
                <a:cubicBezTo>
                  <a:pt x="34199" y="29766"/>
                  <a:pt x="29766" y="25332"/>
                  <a:pt x="29766" y="19844"/>
                </a:cubicBezTo>
                <a:cubicBezTo>
                  <a:pt x="29766" y="14356"/>
                  <a:pt x="34199" y="9922"/>
                  <a:pt x="39688" y="9922"/>
                </a:cubicBezTo>
                <a:lnTo>
                  <a:pt x="79375" y="9922"/>
                </a:lnTo>
                <a:cubicBezTo>
                  <a:pt x="83902" y="3907"/>
                  <a:pt x="91095" y="0"/>
                  <a:pt x="99219" y="0"/>
                </a:cubicBezTo>
                <a:cubicBezTo>
                  <a:pt x="107342" y="0"/>
                  <a:pt x="114536" y="3907"/>
                  <a:pt x="119062" y="9922"/>
                </a:cubicBezTo>
                <a:close/>
                <a:moveTo>
                  <a:pt x="136302" y="99219"/>
                </a:moveTo>
                <a:lnTo>
                  <a:pt x="181198" y="99219"/>
                </a:lnTo>
                <a:lnTo>
                  <a:pt x="158750" y="60709"/>
                </a:lnTo>
                <a:lnTo>
                  <a:pt x="136302" y="99219"/>
                </a:lnTo>
                <a:close/>
                <a:moveTo>
                  <a:pt x="158750" y="128984"/>
                </a:moveTo>
                <a:cubicBezTo>
                  <a:pt x="139247" y="128984"/>
                  <a:pt x="123031" y="118442"/>
                  <a:pt x="119683" y="104521"/>
                </a:cubicBezTo>
                <a:cubicBezTo>
                  <a:pt x="118876" y="101110"/>
                  <a:pt x="119993" y="97606"/>
                  <a:pt x="121760" y="94568"/>
                </a:cubicBezTo>
                <a:lnTo>
                  <a:pt x="151278" y="43966"/>
                </a:lnTo>
                <a:cubicBezTo>
                  <a:pt x="152828" y="41300"/>
                  <a:pt x="155680" y="39688"/>
                  <a:pt x="158750" y="39688"/>
                </a:cubicBezTo>
                <a:cubicBezTo>
                  <a:pt x="161820" y="39688"/>
                  <a:pt x="164672" y="41331"/>
                  <a:pt x="166222" y="43966"/>
                </a:cubicBezTo>
                <a:lnTo>
                  <a:pt x="195740" y="94568"/>
                </a:lnTo>
                <a:cubicBezTo>
                  <a:pt x="197507" y="97606"/>
                  <a:pt x="198624" y="101110"/>
                  <a:pt x="197817" y="104521"/>
                </a:cubicBezTo>
                <a:cubicBezTo>
                  <a:pt x="194469" y="118411"/>
                  <a:pt x="178253" y="128984"/>
                  <a:pt x="158750" y="128984"/>
                </a:cubicBezTo>
                <a:close/>
                <a:moveTo>
                  <a:pt x="39315" y="60709"/>
                </a:moveTo>
                <a:lnTo>
                  <a:pt x="16867" y="99219"/>
                </a:lnTo>
                <a:lnTo>
                  <a:pt x="61795" y="99219"/>
                </a:lnTo>
                <a:lnTo>
                  <a:pt x="39315" y="60709"/>
                </a:lnTo>
                <a:close/>
                <a:moveTo>
                  <a:pt x="279" y="104521"/>
                </a:moveTo>
                <a:cubicBezTo>
                  <a:pt x="-527" y="101110"/>
                  <a:pt x="589" y="97606"/>
                  <a:pt x="2356" y="94568"/>
                </a:cubicBezTo>
                <a:lnTo>
                  <a:pt x="31874" y="43966"/>
                </a:lnTo>
                <a:cubicBezTo>
                  <a:pt x="33424" y="41300"/>
                  <a:pt x="36277" y="39688"/>
                  <a:pt x="39346" y="39688"/>
                </a:cubicBezTo>
                <a:cubicBezTo>
                  <a:pt x="42416" y="39688"/>
                  <a:pt x="45269" y="41331"/>
                  <a:pt x="46819" y="43966"/>
                </a:cubicBezTo>
                <a:lnTo>
                  <a:pt x="76336" y="94568"/>
                </a:lnTo>
                <a:cubicBezTo>
                  <a:pt x="78104" y="97606"/>
                  <a:pt x="79220" y="101110"/>
                  <a:pt x="78414" y="104521"/>
                </a:cubicBezTo>
                <a:cubicBezTo>
                  <a:pt x="75065" y="118411"/>
                  <a:pt x="58849" y="128984"/>
                  <a:pt x="39346" y="128984"/>
                </a:cubicBezTo>
                <a:cubicBezTo>
                  <a:pt x="19844" y="128984"/>
                  <a:pt x="3628" y="118442"/>
                  <a:pt x="279" y="104521"/>
                </a:cubicBezTo>
                <a:close/>
              </a:path>
            </a:pathLst>
          </a:custGeom>
          <a:solidFill>
            <a:srgbClr val="E9D8FD"/>
          </a:solidFill>
          <a:ln/>
        </p:spPr>
      </p:sp>
      <p:sp>
        <p:nvSpPr>
          <p:cNvPr id="27" name="Text 25"/>
          <p:cNvSpPr/>
          <p:nvPr/>
        </p:nvSpPr>
        <p:spPr>
          <a:xfrm>
            <a:off x="777875" y="4611688"/>
            <a:ext cx="2246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 with Existing Systems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4187" y="4929188"/>
            <a:ext cx="5349875" cy="412750"/>
          </a:xfrm>
          <a:prstGeom prst="roundRect">
            <a:avLst>
              <a:gd name="adj" fmla="val 15385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79438" y="5040313"/>
            <a:ext cx="1500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Multi-condition Prediction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66122" y="5024438"/>
            <a:ext cx="373063" cy="222250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366122" y="5024438"/>
            <a:ext cx="42862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4187" y="5405438"/>
            <a:ext cx="5349875" cy="412750"/>
          </a:xfrm>
          <a:prstGeom prst="roundRect">
            <a:avLst>
              <a:gd name="adj" fmla="val 15385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79438" y="5516563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Prediction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366122" y="5500688"/>
            <a:ext cx="373063" cy="222250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366122" y="5500688"/>
            <a:ext cx="42862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84187" y="5881688"/>
            <a:ext cx="5349875" cy="412750"/>
          </a:xfrm>
          <a:prstGeom prst="roundRect">
            <a:avLst>
              <a:gd name="adj" fmla="val 15385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79438" y="5992813"/>
            <a:ext cx="106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Integration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366122" y="5976938"/>
            <a:ext cx="373063" cy="222250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366122" y="5976938"/>
            <a:ext cx="42862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84187" y="6357938"/>
            <a:ext cx="5349875" cy="412750"/>
          </a:xfrm>
          <a:prstGeom prst="roundRect">
            <a:avLst>
              <a:gd name="adj" fmla="val 15385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79438" y="6469063"/>
            <a:ext cx="131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Simplified Deployment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366122" y="6453188"/>
            <a:ext cx="373063" cy="222250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366122" y="6453188"/>
            <a:ext cx="42862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07125" y="1174750"/>
            <a:ext cx="5667375" cy="5762625"/>
          </a:xfrm>
          <a:custGeom>
            <a:avLst/>
            <a:gdLst/>
            <a:ahLst/>
            <a:cxnLst/>
            <a:rect l="l" t="t" r="r" b="b"/>
            <a:pathLst>
              <a:path w="5667375" h="5762625">
                <a:moveTo>
                  <a:pt x="0" y="0"/>
                </a:moveTo>
                <a:lnTo>
                  <a:pt x="5603875" y="0"/>
                </a:lnTo>
                <a:cubicBezTo>
                  <a:pt x="5638922" y="0"/>
                  <a:pt x="5667375" y="28453"/>
                  <a:pt x="5667375" y="63500"/>
                </a:cubicBezTo>
                <a:lnTo>
                  <a:pt x="5667375" y="5699125"/>
                </a:lnTo>
                <a:cubicBezTo>
                  <a:pt x="5667375" y="5734172"/>
                  <a:pt x="5638922" y="5762625"/>
                  <a:pt x="5603875" y="5762625"/>
                </a:cubicBezTo>
                <a:lnTo>
                  <a:pt x="0" y="5762625"/>
                </a:lnTo>
                <a:lnTo>
                  <a:pt x="0" y="0"/>
                </a:ln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207125" y="1174750"/>
            <a:ext cx="31750" cy="5762625"/>
          </a:xfrm>
          <a:prstGeom prst="roundRect">
            <a:avLst>
              <a:gd name="adj" fmla="val 0"/>
            </a:avLst>
          </a:prstGeom>
          <a:solidFill>
            <a:srgbClr val="A0AEC0"/>
          </a:solidFill>
          <a:ln/>
        </p:spPr>
      </p:sp>
      <p:sp>
        <p:nvSpPr>
          <p:cNvPr id="46" name="Shape 44"/>
          <p:cNvSpPr/>
          <p:nvPr/>
        </p:nvSpPr>
        <p:spPr>
          <a:xfrm>
            <a:off x="6405563" y="1349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47" name="Text 45"/>
          <p:cNvSpPr/>
          <p:nvPr/>
        </p:nvSpPr>
        <p:spPr>
          <a:xfrm>
            <a:off x="6715125" y="1333500"/>
            <a:ext cx="1285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Directions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81750" y="1682750"/>
            <a:ext cx="5334000" cy="539750"/>
          </a:xfrm>
          <a:prstGeom prst="roundRect">
            <a:avLst>
              <a:gd name="adj" fmla="val 11765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77000" y="177800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586265" y="1825625"/>
            <a:ext cx="8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26250" y="1778000"/>
            <a:ext cx="283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Deep Learning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26250" y="1968500"/>
            <a:ext cx="282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of BERT, RoBERTa, or GPT-based architectures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81750" y="2317750"/>
            <a:ext cx="5334000" cy="539750"/>
          </a:xfrm>
          <a:prstGeom prst="roundRect">
            <a:avLst>
              <a:gd name="adj" fmla="val 11765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477000" y="241300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575599" y="2460625"/>
            <a:ext cx="111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26250" y="2413000"/>
            <a:ext cx="2389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Data Integration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826250" y="2603500"/>
            <a:ext cx="2381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social media APIs for continuous monitoring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81750" y="2952750"/>
            <a:ext cx="5334000" cy="539750"/>
          </a:xfrm>
          <a:prstGeom prst="roundRect">
            <a:avLst>
              <a:gd name="adj" fmla="val 11765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477000" y="304800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6574234" y="3095625"/>
            <a:ext cx="11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826250" y="3048000"/>
            <a:ext cx="248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Personalization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826250" y="3238500"/>
            <a:ext cx="2476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 based on individual user behavior patterns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81750" y="3587750"/>
            <a:ext cx="5334000" cy="539750"/>
          </a:xfrm>
          <a:prstGeom prst="roundRect">
            <a:avLst>
              <a:gd name="adj" fmla="val 11765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6477000" y="368300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6575723" y="3730625"/>
            <a:ext cx="111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826250" y="3683000"/>
            <a:ext cx="2674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Explainable AI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826250" y="3873500"/>
            <a:ext cx="2667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and LIME integration for prediction transparency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81750" y="4222750"/>
            <a:ext cx="5334000" cy="539750"/>
          </a:xfrm>
          <a:prstGeom prst="roundRect">
            <a:avLst>
              <a:gd name="adj" fmla="val 11765"/>
            </a:avLst>
          </a:prstGeom>
          <a:solidFill>
            <a:srgbClr val="1A202C">
              <a:alpha val="50196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6477000" y="4318000"/>
            <a:ext cx="254000" cy="254000"/>
          </a:xfrm>
          <a:prstGeom prst="roundRect">
            <a:avLst>
              <a:gd name="adj" fmla="val 50000"/>
            </a:avLst>
          </a:prstGeom>
          <a:solidFill>
            <a:srgbClr val="E9D8FD">
              <a:alpha val="2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6573986" y="4365625"/>
            <a:ext cx="11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9D8F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826250" y="4318000"/>
            <a:ext cx="2817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Clinical Integration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826250" y="4508500"/>
            <a:ext cx="2809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Healthcare system integration for professional monitoring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s.moonshot.cn/kimi-ppt/html-gen/static/image-error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85000"/>
                </a:srgbClr>
              </a:gs>
              <a:gs pos="100000">
                <a:srgbClr val="4A5568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38800" y="816769"/>
            <a:ext cx="914400" cy="381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00000">
                  <a:alpha val="0"/>
                </a:srgbClr>
              </a:gs>
              <a:gs pos="50000">
                <a:srgbClr val="E9D8F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4627811" y="1159669"/>
            <a:ext cx="2933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699248" y="1959769"/>
            <a:ext cx="2790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E9D8F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638800" y="2607469"/>
            <a:ext cx="914400" cy="381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000000">
                  <a:alpha val="0"/>
                </a:srgbClr>
              </a:gs>
              <a:gs pos="50000">
                <a:srgbClr val="E9D8F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Shape 5"/>
          <p:cNvSpPr/>
          <p:nvPr/>
        </p:nvSpPr>
        <p:spPr>
          <a:xfrm>
            <a:off x="2443163" y="2955131"/>
            <a:ext cx="7305675" cy="3086100"/>
          </a:xfrm>
          <a:prstGeom prst="roundRect">
            <a:avLst>
              <a:gd name="adj" fmla="val 2469"/>
            </a:avLst>
          </a:prstGeom>
          <a:solidFill>
            <a:srgbClr val="4A5568">
              <a:alpha val="30196"/>
            </a:srgbClr>
          </a:solidFill>
          <a:ln w="12700">
            <a:solidFill>
              <a:srgbClr val="A0AEC0">
                <a:alpha val="2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05100" y="3264694"/>
            <a:ext cx="67818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demonstrates the successful transformation of machine learning models into a fully deployed, real-time application for predictive mental health monitoring, bridging the gap between research and practical implementation.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52725" y="4426744"/>
            <a:ext cx="6686550" cy="9525"/>
          </a:xfrm>
          <a:prstGeom prst="roundRect">
            <a:avLst>
              <a:gd name="adj" fmla="val 0"/>
            </a:avLst>
          </a:prstGeom>
          <a:solidFill>
            <a:srgbClr val="4A5568">
              <a:alpha val="50196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719388" y="4660106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spc="53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By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709863" y="4926806"/>
            <a:ext cx="2162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Deepak Singh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709863" y="5193506"/>
            <a:ext cx="2162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Mohd. Zishan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709863" y="5460206"/>
            <a:ext cx="2162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Saif Hussain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024438" y="4660106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spc="53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014913" y="4926806"/>
            <a:ext cx="2162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Mr. Anshuman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19675" y="5193506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Assistant Professor II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329488" y="4660106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spc="53" kern="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319963" y="4926806"/>
            <a:ext cx="2162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Galgotias University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324725" y="5193506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Greater Noida, India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Mental Health Monitoring using Social Media Data</dc:title>
  <dc:subject>Predictive Mental Health Monitoring using Social Media Data</dc:subject>
  <dc:creator>Kimi</dc:creator>
  <cp:lastModifiedBy>Kimi</cp:lastModifiedBy>
  <cp:revision>1</cp:revision>
  <dcterms:created xsi:type="dcterms:W3CDTF">2026-06-12T05:39:20Z</dcterms:created>
  <dcterms:modified xsi:type="dcterms:W3CDTF">2026-06-12T05:39:20Z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{"Label":"Predictive Mental Health Monitoring using Social Media Data","ContentProducer":"001191110108MACG2KBH8F10000","ProduceID":"19eba537-b602-8647-8000-000096b0b656","ReservedCode1":"","ContentPropagator":"001191110108MACG2KBH8F20000","PropagateID":"19eba537-b602-8647-8000-000096b0b656","ReservedCode2":""}</vt:lpwstr>
  </property>
</Properties>
</file>